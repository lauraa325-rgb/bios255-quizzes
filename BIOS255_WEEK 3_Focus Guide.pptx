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iXc1Frm3ovA1yRygXsy37Bfm3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B7A5E2-534D-4BFB-AD03-7BC572EC6A8A}">
  <a:tblStyle styleId="{03B7A5E2-534D-4BFB-AD03-7BC572EC6A8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3246120"/>
            <a:ext cx="8778240" cy="502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9436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9D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9DAA"/>
                </a:solidFill>
                <a:latin typeface="Calibri"/>
                <a:ea typeface="Calibri"/>
                <a:cs typeface="Calibri"/>
                <a:sym typeface="Calibri"/>
              </a:rPr>
              <a:t>BIOS 255  ·  Focus Guide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94360" y="1097280"/>
            <a:ext cx="8321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Blood Vessels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Hemodynamics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94360" y="466344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677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Blood Vessel Structure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The three tunics, vessel types, and what makes each unique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Three Tunics — Every Layer, Every Function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3 &amp;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82880" y="987552"/>
            <a:ext cx="4206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82880" y="987552"/>
            <a:ext cx="4206240" cy="402336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274320" y="987552"/>
            <a:ext cx="4023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Tunica Intima (innermost)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74320" y="1444752"/>
            <a:ext cx="40233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Single layer of endothelial cells — direct contact with blood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Minimizes friction; regulates vessel permeability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EXAMPLE: matched to → 'smooth endothelial lining that minimizes friction'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Also called vascular endothelium / tunica interna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754880" y="987552"/>
            <a:ext cx="4206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754880" y="987552"/>
            <a:ext cx="4206240" cy="402336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4846320" y="987552"/>
            <a:ext cx="4023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Tunica Media (middle)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846320" y="1444752"/>
            <a:ext cx="40233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Smooth muscle cells — regulates vessel diameter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Vasoconstriction = narrowing → ↑ resistance → ↑ pressure → ↓ 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Vasodilation = widening → ↓ resistance → ↓ pressure → ↑ 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EXAMPLE: 'Which layer contains smooth muscle responsible for regulating vessel diameter?' → Tunica media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Thickest layer in ARTERIES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Tunica Externa &amp; Vessel Wall Comparisons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5 &amp; 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Tunica Externa (outermost / adventitia): collagen &amp; elastic fibers; anchors vessel to surrounding tissue; nourishes outer wall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EXAMPLE: matched to → 'protective outer layer that stabilizes vessel and nourishes outer wall regions'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Thickest layer in VEINS is the tunica externa (opposite of arteries)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In arteries: tunica media is the dominant, thickest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Memory trick — I·M·E: Intima → Media → Externa (inside to outside)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All three layers present in arteries and veins; capillaries have ONLY a single endothelial layer (no media, no externa)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Elastic vs. Muscular Arteries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7–9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82880" y="987552"/>
            <a:ext cx="4206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82880" y="987552"/>
            <a:ext cx="4206240" cy="402336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74320" y="987552"/>
            <a:ext cx="4023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Elastic (Conducting) Arteries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74320" y="1444752"/>
            <a:ext cx="40233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Largest — closest to heart (aorta, pulmonary trunk)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Tunica media: rich in elastic fibers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Nickname: pressure reservoirs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Expand during systole; recoil during diastole → keeps blood moving between beats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Why diastolic BP exists: elastic recoil maintains pressure when heart is relaxing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754880" y="987552"/>
            <a:ext cx="4206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754880" y="987552"/>
            <a:ext cx="4206240" cy="402336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846320" y="987552"/>
            <a:ext cx="4023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Muscular (Distributing) Arteries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846320" y="1444752"/>
            <a:ext cx="40233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Medium-sized, more distal (brachial, femoral)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Tunica media: rich in smooth muscle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Nickname: distributing arteries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Active vasoconstriction / vasodilation → directs blood where needed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Tunica externa is thicker than tunica media in these vessels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EXAMPLE: 'Which type has thickest tunica media?' → Arteries (elastic/muscular)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Arterioles — The Resistance Vessels (High-Yield)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Most abundant microscopic vessels; regulate blood flow into capillaries AND blood pressure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PRIMARY site of blood pressure regulation in the body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PRIMARY target of blood pressure medications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Tunica media: 2 layers of smooth muscle in circular orientation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Metarteriole: connects arteriole → capillary beds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Precapillary sphincter: ring of smooth muscle at capillary entrance; opens/closes to control flow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Sphincters open → blood flows through capillary bed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Sphincters closed → blood diverted through thoroughfare channel or AV shunt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In shock: arterioles vasoconstrict → shunt blood to brain &amp; heart → patient appears pale and cold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Capillary Types — Three You Must Know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14, 17–19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All capillaries: single-cell endothelial layer only; no tunica media or externa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Continuous capillaries — most common; tight junctions; small molecules only (O₂, CO₂, glucose); muscle, skin, lungs, CNS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Blood-Brain Barrier: most restrictive continuous type; supported by astrocytes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Fenestrated capillaries — pores (fenestrations) through endothelial cells; faster exchange; kidneys, small intestine, endocrine glands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Sinusoidal capillaries — most permeable; discontinuous basement membrane; wide irregular lumen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ONLY type that allows passage of LARGE molecules: proteins, hormones, blood cells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Found in liver, spleen, bone marrow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TIP: 'large molecules such as proteins and blood cells' → always Sinusoidal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Veins vs. Arteries — Key Structural Differences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3, 21 &amp; 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82880" y="987552"/>
            <a:ext cx="4206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182880" y="987552"/>
            <a:ext cx="4206240" cy="402336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274320" y="987552"/>
            <a:ext cx="4023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274320" y="1444752"/>
            <a:ext cx="40233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Carry blood TOWARD the heart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Thinner walls, wider lumen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Tunica externa = thickest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Semilunar valves (folds of tunica intima) prevent backflow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Highly distensible — venules can expand up to 360%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Largest blood reservoir at rest (systemic veins &amp; venules)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Three categories: superficial, deep, anastomotic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754880" y="987552"/>
            <a:ext cx="4206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4754880" y="987552"/>
            <a:ext cx="4206240" cy="402336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4846320" y="987552"/>
            <a:ext cx="4023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846320" y="1444752"/>
            <a:ext cx="40233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Carry blood AWAY from the heart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Thicker walls, narrower lumen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Tunica media = thickest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NO valves — arterial pressure is sufficient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Less distensible; withstand higher pressure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Elastic (conducting) and muscular (distributing) subtypes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EXAMPLE: arteries = Away; veins = toWard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Venules &amp; Special Venous Structures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20, 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Venules: smallest veins; collect blood from capillaries; semilunar valves; most distensible vessels in the body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Postcapillary venule: smallest; receives blood directly from capillaries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Muscular venule: slightly larger; 1–2 layers of smooth muscle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Venous sinuses: thin endothelial lining only; no smooth muscle; surrounded by connective tissue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Dural venous sinuses: drain deoxygenated blood from brain → heart (supported by dura mater)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Coronary sinus: drains myocardium → right atrium; located on posterior surface of heart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Varicose veins: failed/leaky valves → blood pools → vein distends and twists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Most common in legs, esophagus, anal canal (hemorrhoids = varicose veins of anal canal)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Major Arteries &amp; Veins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Named vessels, pathways, and clinical landmarks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Aortic Arch Branches — Know the Asymmetry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 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Aortic arch gives rise to exactly 3 branches (in order):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1. Brachiocephalic trunk (RIGHT side only) → splits into right common carotid + right subclavian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2. Left common carotid artery → directly off arch → left side of head &amp; neck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3. Left subclavian artery → directly off arch → left upper limb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EXAMPLE: 'Which arteries branch directly from the brachiocephalic trunk?' → Right subclavian + right common carotid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Left side is served by two separate direct branches; right side is served by one trunk that splits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Aortic arch continues as descending (thoracic → abdominal) aorta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Arteries of the Head &amp; Neck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 51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Common carotid artery divides into two branches: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External carotid → face, scalp, external cranial structures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Internal carotid → through temporal bone into cranial cavity; supplies 80% of cerebrum &amp; orbits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EXAMPLE: 'Which major artery supplies blood to the head and neck?' → Common carotid artery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Circle of Willis: carotid arteries + vertebral arteries form a ring at base of brain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Provides redundant blood supply — if one vessel is blocked, others can reroute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Coronary arteries: supply oxygenated blood directly to heart muscle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EXAM</a:t>
            </a:r>
            <a:r>
              <a:rPr lang="en-US" sz="1250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PLE</a:t>
            </a: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: 'Which artery supplies oxygenated blood directly to the heart muscle?' → Coronary arteries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2" title="Screenshot 2026-03-24 at 9.42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338" y="3259350"/>
            <a:ext cx="2154600" cy="174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Venous Return — Head, Neck &amp; Chest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52–53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Internal jugular vein: drains blood from inside skull (brain, dural venous sinuses); runs deep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External jugular vein: drains superficial face and scalp; visible in neck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Clinical: elevated/distended external jugular vein = sign of right heart failure (elevated JVP)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Both jugulars → subclavian veins → brachiocephalic veins → superior vena cava → right atrium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EXAM</a:t>
            </a:r>
            <a:r>
              <a:rPr lang="en-US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PLE</a:t>
            </a: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: venous flow sequence → subclavian v. + internal jugular v. → brachiocephalic v. → SVC → right atrium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Azygos vein: runs up right side of vertebral column; connects SVC and IVC; critical collateral pathway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Coronary sinus: drains myocardium → empties directly into right atrium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Upper Limb Vessels — Arteries &amp; Key Veins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56–57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Arterial path: subclavian → axillary → brachial → (at elbow) radial + ulnar → palmar arches → digital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Radial artery = wrist pulse; brachial artery = BP cuff auscultation site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Deep venous return mirrors arteries: radial/ulnar → brachial → axillary → subclavian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Superficial veins (HIGH YIELD — all three likely on exam):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Cephalic vein: lateral forearm/arm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Basilic vein: medial forearm/arm; drains hand and forearm </a:t>
            </a:r>
            <a:endParaRPr sz="1250">
              <a:solidFill>
                <a:srgbClr val="3A5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Median cubital vein: antecubital fossa; connects cephalic and basilic; preferred site for blood draws and IV placement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NOTE: cephalic, basilic, and median cubital are all SUPERFICIAL veins of the upper limb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4" title="Screenshot 2026-03-24 at 9.43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525" y="3080975"/>
            <a:ext cx="2535175" cy="20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 Limb Vessels — Arteries &amp; Deep/Superficial Veins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58–59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Arterial path: common iliac → external iliac → femoral → popliteal → anterior tibial + posterior tibial + fibular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Anterior tibial → dorsalis pedis (top of foot); posterior tibial → plantar arteries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Dorsalis pedis pulse: assessed in diabetics to evaluate peripheral circulation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Deep veins of the leg (travel with arteries): popliteal, femoral, tibial, fibular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EXAM</a:t>
            </a:r>
            <a:r>
              <a:rPr lang="en-US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PLE</a:t>
            </a: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: 'Classified as a deep vein of the leg?' → Femoral vein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Cephalic, basilic, and median cubital are all upper limb veins — NOT deep leg veins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Superficial veins: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Great saphenous vein: longest vein in body; medial, foot to groin; used in CABG grafts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Dorsal venous arch → great saphenous → femoral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Abdominal Aorta &amp; Portal Circulation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54–55 &amp; 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Unpaired branches (midline — digestive organs):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Celiac trunk → stomach (left gastric a.), liver (common hepatic a.), spleen (splenic a.)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Superior mesenteric artery (SMA) → small intestine + proximal large intestine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Inferior mesenteric artery (IMA) → distal large intestine + rectum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Paired branches: renal arteries (kidneys), gonadal arteries (testicular/ovarian)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Terminates at L4 → common iliac arteries → external iliac (leg) + internal iliac (pelvis/glutes/reproductive)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Hepatic portal vein: drains GI tract → liver first (detoxification before general circulation)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Fed by: superior mesenteric v. + inferior mesenteric v. + splenic v.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Hemodynamics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Blood pressure, flow, resistance, and venous return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Blood Pressure Definitions &amp; the MAP Formula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 34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Systolic BP (SP): peak arterial pressure during ventricular systole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Aorta = highest-pressure vessel in the entire body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Diastolic BP (DP): arterial pressure during ventricular relaxation (heart at rest between beats)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EXAMPLE: 'What does diastolic represent?' → pressure in arteries when heart is AT REST between beats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Pulse Pressure = SP − DP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Mean Arterial Pressure (MAP) = DP + 1/3 (SP − DP)   ← EXAM FORMULA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EXAMPLE: 'Which formula correctly calculates MAP?' → MAP = DP + 1/3(SP − DP)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Normal MAP: 70–100 mmHg; MAP &lt; 60 mmHg = shock / inadequate organ perfusion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Determined by cardiac output, blood volume, and vessel compliance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Flow, Resistance &amp; Cardiac Output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32–33 &amp; 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Flow (Q) = ΔP / R  →  flow is proportional to pressure difference; inversely proportional to resistance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Three factors that determine vascular resistance: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Vessel radius: most powerful factor (resistance ∝ 1/r⁴ — halving radius = 16× resistance increase)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Blood viscosity: thicker blood = more resistance (polycythemia, dehydration)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Vessel length: longer vessel = more resistance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Stroke Volume (SV): volume of blood ejected per single heartbeat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EXAMPLE: 'What does SV measure?' → blood ejected per beat (NOT per minute; that is cardiac output)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Cardiac Output (CO) = HR × SV (blood pumped per minute)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Blood flow velocity is inversely related to cross-sectional area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Aorta ~40 cm/sec → capillaries ~0.1 cm/sec (slow speed at capillaries enables exchange)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Capillary Exchange &amp; Starling's Law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27–31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Primary exchange mechanism: diffusion (down concentration gradient)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Bulk flow = large-scale fluid movement driven by pressure vs. osmotic forces: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Filtration (fluid OUT of capillary): occurs at arterial end where hydrostatic pressure &gt; osmotic pressure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Reabsorption (fluid INTO capillary): occurs at venous end where osmotic pressure &gt; hydrostatic pressure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Blood colloid osmotic pressure (BCOP / oncotic pressure): pull created by plasma proteins (mainly albumin)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Starling's Law: direction of bulk flow depends on whichever force wins at each point along the capillary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Not all fluid is reabsorbed → excess collected by lymphatics (relevant to edema)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Edema: caused by (1) high capillary hydrostatic pressure OR (2) low plasma proteins (liver disease, malnutrition, burns, kidney disease)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Venous Return — Two Assist Pumps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36–38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Venous pressure is very low: ~16 mmHg at venules → 0 mmHg at right atrium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Skeletal Muscle Pump: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Muscle contractions compress veins → pushes blood toward heart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Semilunar valves prevent backflow; veins refill during muscle relaxation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Clinical: early post-op ambulation activates this pump and prevents DVT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Respiratory Pump: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Diaphragm descends on inhalation → thoracic pressure drops → blood drawn into great veins and right atrium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Each breath creates a gentle vacuum assist for venous return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Both pumps increase venous return → increase preload → increase stroke volume (Frank-Starling)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Blood Pressure Control — Neural Mechanisms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12 &amp; 42–44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Three cardiovascular control centers in medulla oblongata: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Cardioacceleratory center: speeds heart rate (sympathetic)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Cardioinhibitory center: slows heart rate (parasympathetic, via vagus nerve)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Vasomotor center: controls vasoconstriction (note: NOT vasodilation — that is local control)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Baroreceptors: in carotid sinuses + aortic arch; detect vessel wall stretch = pressure change; fast reflex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Carotid sinus reflex → regulates blood pressure to brain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Aortic reflex → regulates systemic blood pressure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Carotid bodies (chemoreceptors): small clusters near carotid sinus; monitor O₂, CO₂, pH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EXAMPLE: 'Physiological role of carotid bodies?' → monitoring oxygen (and CO₂/pH) levels in arterial blood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Aortic bodies: same function, located in aortic 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Blood Pressure Control — Hormonal Mechanisms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46–48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RAAS (Renin-Angiotensin-Aldosterone System): long-term BP regulation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Kidney senses low BP → releases renin → angiotensinogen → Angiotensin I → Angiotensin 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Angiotensin II: vasoconstriction (quick BP rise) + aldosterone release → kidney retains water → ↑ blood volume → ↑ BP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Target of ACE inhibitors and ARBs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Epinephrine &amp; Norepinephrine (adrenal medulla, sympathetic): ↑ HR, ↑ contractility, vasoconstriction → ↑ BP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ADH (Antidiuretic Hormone / Vasopressin): low BP or dehydration → vasoconstriction + kidney water reabsorption → ↑ BP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ANP (Atrial Natriuretic Peptide): high BP → atria stretch → ANP released → promotes sodium/water loss + inhibits RAAS → ↓ BP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ANP is the body's built-in pressure-relief valve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Velocity of Blood Flow &amp; Venous Reservoirs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Slides 40 &amp; 49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Blood velocity is inversely related to total cross-sectional area of all vessels at that level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Fastest: aorta (~40 cm/sec); slowest: capillaries (~0.1 cm/sec) — slowness enables exchange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Velocity increases again from capillaries → venules → veins → heart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Full circulation time at rest ≈ 1 minute (right atrium → pulmonary circulation → systemic → back)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Venous reservoirs: systemic veins &amp; venules hold the LARGEST portion of blood at 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At rest: up to 90% of skeletal muscle capillaries are vasoconstricted; blood redirected to digestive tract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During exercise: skeletal muscle and coronary capillaries dilate; digestive organ flow decreases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Vasomotion: rhythmic fluctuation of vessel diameter (independent of heart rate) redistributes perfusion continuously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680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Correlations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Pathology and exam-tested conditions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Vascular Pathology — Definitions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 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Aneurysm: localized bulging/weakness in vessel wall — like a bubble in a tire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NOT a clot, NOT a constriction, NOT a pressure spike — it is a structural weakening with outward bulge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EXAMPLE: 'Which best describes an aneurysm?' → localized bulging from vessel wall weakness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Atherosclerosis: fatty plaque (atheroma) builds up inside vessel wall → narrows and hardens lumen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Root cause of most heart attacks and strokes; 'athero' = paste/gruel, 'sclerosis' = hardening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Arteriosclerosis: stiffening/loss of elasticity from degradation of elastic tissue in vessel wall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Not the same as atherosclerosis — arteriosclerosis is about stiffness, not plaque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Varicose veins: failed venous valves → blood pools → vein distends, twists, leaks fluid into tissue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Edema: interstitial fluid accumulation (not a vessel disease per se, but results from vessel dysfunction)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0" y="868680"/>
            <a:ext cx="64008" cy="427482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182880" y="73152"/>
            <a:ext cx="758952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Circulatory Shock, TIA, CVA &amp; Coronary Disease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"/>
          <p:cNvSpPr/>
          <p:nvPr/>
        </p:nvSpPr>
        <p:spPr>
          <a:xfrm>
            <a:off x="7818120" y="1280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Lecture Slide 39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201168" y="932688"/>
            <a:ext cx="87325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101600" spcFirstLastPara="1" rIns="76200" wrap="square" tIns="762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TIA (Transient Ischemic Attack): temporary brain ischemia; symptoms resolve &lt; 24 hours; major stroke warning 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CVA / Stroke: prolonged brain ischemia → permanent tissue damage; caused by vessel blockage OR rupture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Circulatory Shock: inadequate blood flow to meet tissue perfusion demands; three types: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Cardiogenic: heart cannot generate sufficient cardiac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Hypovolemic: loss of blood/fluid volume (hemorrhage, dehydration)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3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Obstructive/neurogenic: pulmonary embolism; loss of sympathetic tone → widespread vasodilation → venous pooling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Coronary Artery Disease: obstruction of coronary arteries → ischemia to heart muscle itself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3A506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Coronary arteries are the vessels that supply oxygenated blood directly to the myocardium (EXAM Q)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21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Peripheral Artery Disease: ischemia to limbs from arterial blockage; dorsalis pedis pulse assessed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8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REFERENCE — High-Yield Facts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p28"/>
          <p:cNvGraphicFramePr/>
          <p:nvPr/>
        </p:nvGraphicFramePr>
        <p:xfrm>
          <a:off x="27432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{03B7A5E2-534D-4BFB-AD03-7BC572EC6A8A}</a:tableStyleId>
              </a:tblPr>
              <a:tblGrid>
                <a:gridCol w="2743200"/>
                <a:gridCol w="5852150"/>
              </a:tblGrid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Tunica media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Smooth muscle; controls diameter; thickest layer in ARTERIES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Tunica externa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Thickest layer in VEINS; collagen/elastic; anchors vessel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Tunica intima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Endothelial lining; minimizes friction; regulates permeability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Highest-pressure vessel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Aorta (during systole)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 formula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 + 1/3(SP − DP)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Diastolic BP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Pressure in arteries when heart is AT REST between beats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Stroke Volume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Blood ejected per single BEAT (not per minute)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Large-molecule capillary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Sinusoidal capillaries (proteins, blood cells)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Brachiocephalic trunk →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 subclavian + right common carotid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Head/neck artery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Common carotid (external + internal branches)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Preferred venipuncture vein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cubital (antecubital fossa)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 vein of leg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Femoral vein (also: popliteal, tibial)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Aneurysm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Localized bulge from vessel wall weakness (NOT a clot)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Carotid bodies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Chemoreceptors — monitor O₂, CO₂, pH in arterial blood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1520"/>
                    </a:solidFill>
                  </a:tcPr>
                </a:tc>
              </a:tr>
            </a:tbl>
          </a:graphicData>
        </a:graphic>
      </p:graphicFrame>
      <p:sp>
        <p:nvSpPr>
          <p:cNvPr id="335" name="Google Shape;335;p28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6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677"/>
                </a:solidFill>
                <a:latin typeface="Calibri"/>
                <a:ea typeface="Calibri"/>
                <a:cs typeface="Calibri"/>
                <a:sym typeface="Calibri"/>
              </a:rPr>
              <a:t>BIOS 255  ·  Blood Vessels &amp; Hemodynamics  ·  Laura Bates, DC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2026-03-20T16:51:20Z</dcterms:created>
  <dc:creator>PptxGenJS</dc:creator>
</cp:coreProperties>
</file>