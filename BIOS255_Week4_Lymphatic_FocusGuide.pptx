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TanSj1ct5EH2R9wLutzdnWARM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3B4088-E7B8-4ADC-B839-461E0CD8E07B}">
  <a:tblStyle styleId="{763B4088-E7B8-4ADC-B839-461E0CD8E07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4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9AA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9AA5"/>
                </a:solidFill>
                <a:latin typeface="Calibri"/>
                <a:ea typeface="Calibri"/>
                <a:cs typeface="Calibri"/>
                <a:sym typeface="Calibri"/>
              </a:rPr>
              <a:t>BIOS 255 — Week </a:t>
            </a:r>
            <a:r>
              <a:rPr lang="en-US" sz="1300">
                <a:solidFill>
                  <a:srgbClr val="1A9AA5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1051560"/>
            <a:ext cx="8412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Lymphatic System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21488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Focus Guide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2834640"/>
            <a:ext cx="5029200" cy="32004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365760" y="297180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FC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ABFC9"/>
                </a:solidFill>
                <a:latin typeface="Calibri"/>
                <a:ea typeface="Calibri"/>
                <a:cs typeface="Calibri"/>
                <a:sym typeface="Calibri"/>
              </a:rPr>
              <a:t>Use it to focus your study — not to replace reading the lecture.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F8A"/>
                </a:solidFill>
                <a:latin typeface="Calibri"/>
                <a:ea typeface="Calibri"/>
                <a:cs typeface="Calibri"/>
                <a:sym typeface="Calibri"/>
              </a:rPr>
              <a:t>Laura Bates, DC  ·  BIOS 255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680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8E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CE8EC"/>
                </a:solidFill>
                <a:latin typeface="Calibri"/>
                <a:ea typeface="Calibri"/>
                <a:cs typeface="Calibri"/>
                <a:sym typeface="Calibri"/>
              </a:rPr>
              <a:t>Lymphatic System — Overview &amp; Functions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320040" y="73152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Functions of the Lymphatic System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7315200" y="164592"/>
            <a:ext cx="1600200" cy="502920"/>
          </a:xfrm>
          <a:prstGeom prst="roundRect">
            <a:avLst>
              <a:gd fmla="val 10909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7315200" y="16459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B4E"/>
                </a:solidFill>
                <a:latin typeface="Calibri"/>
                <a:ea typeface="Calibri"/>
                <a:cs typeface="Calibri"/>
                <a:sym typeface="Calibri"/>
              </a:rPr>
              <a:t>Lecture Slides 3 &amp; 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228600" y="1051560"/>
            <a:ext cx="416052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228600" y="1051560"/>
            <a:ext cx="4160520" cy="347472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320040" y="105156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Core Functions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365760" y="1463040"/>
            <a:ext cx="388620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Fluid Recovery — absorb excess interstitial fluid; 85% returns via blood capillaries, 15% via lymphatics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Immunity — immune surveillance at lymph nodes, tonsils, and spleen; filter pathogens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Lipid Absorption — lacteals in small intestine absorb dietary fats (chyle)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754880" y="1051560"/>
            <a:ext cx="416052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754880" y="1051560"/>
            <a:ext cx="4160520" cy="34747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4846320" y="105156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Lymph?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846320" y="1463040"/>
            <a:ext cx="397764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Filtered extracellular fluid — mostly water + electrolytes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Normal lymph: clear to pale yellow; intestinal lymph (chyle): milky white; infected lymph: cloudy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Contains fewer plasma proteins than blood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May carry lymphocytes, pathogens, cancer cells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NOT pumped by the heart — low-pressure system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F8A"/>
                </a:solidFill>
                <a:latin typeface="Calibri"/>
                <a:ea typeface="Calibri"/>
                <a:cs typeface="Calibri"/>
                <a:sym typeface="Calibri"/>
              </a:rPr>
              <a:t>Exam focus: know all three functions; know how lymph composition differs from plasma; know chyle vs. normal lymph color.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68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8E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CE8EC"/>
                </a:solidFill>
                <a:latin typeface="Calibri"/>
                <a:ea typeface="Calibri"/>
                <a:cs typeface="Calibri"/>
                <a:sym typeface="Calibri"/>
              </a:rPr>
              <a:t>Lymphatic Vessels, Flow &amp; Transport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320040" y="73152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Lymphatic Vessels — Structure &amp; Characteristics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315200" y="164592"/>
            <a:ext cx="1600200" cy="502920"/>
          </a:xfrm>
          <a:prstGeom prst="roundRect">
            <a:avLst>
              <a:gd fmla="val 10909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7315200" y="16459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B4E"/>
                </a:solidFill>
                <a:latin typeface="Calibri"/>
                <a:ea typeface="Calibri"/>
                <a:cs typeface="Calibri"/>
                <a:sym typeface="Calibri"/>
              </a:rPr>
              <a:t>Lecture Slides 5 &amp;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28600" y="1051560"/>
            <a:ext cx="868680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228600" y="1051560"/>
            <a:ext cx="109728" cy="356616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57200" y="1143000"/>
            <a:ext cx="832104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101600" wrap="square" tIns="1016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Closed/blind-ended capillaries — fluid enters but CANNOT flow backward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Overlapping endothelial cells act as one-way flaps; open when interstitial pressure is HIGH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NOT found in: cartilage, cornea, bone, bone marrow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Like veins: low pressure, valves prevent backflow, skeletal muscle pump, respiratory pump assist movement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Unique feature: large gaps between endothelial cells allow bacteria and immune cells to enter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If blocked → fluid accumulates → EDEMA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F8A"/>
                </a:solidFill>
                <a:latin typeface="Calibri"/>
                <a:ea typeface="Calibri"/>
                <a:cs typeface="Calibri"/>
                <a:sym typeface="Calibri"/>
              </a:rPr>
              <a:t>Key distinction: lymphatic capillaries are blind-ended (unlike blood capillaries). Valves prevent backflow — same concept as veins.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320040" y="73152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Lymphatic Flow Pathway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7315200" y="164592"/>
            <a:ext cx="1600200" cy="502920"/>
          </a:xfrm>
          <a:prstGeom prst="roundRect">
            <a:avLst>
              <a:gd fmla="val 10909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7315200" y="16459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B4E"/>
                </a:solidFill>
                <a:latin typeface="Calibri"/>
                <a:ea typeface="Calibri"/>
                <a:cs typeface="Calibri"/>
                <a:sym typeface="Calibri"/>
              </a:rPr>
              <a:t>Lecture Slides 6 &amp; 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228600" y="1051560"/>
            <a:ext cx="868680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228600" y="1051560"/>
            <a:ext cx="109728" cy="356616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457200" y="1143000"/>
            <a:ext cx="832104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101600" wrap="square" tIns="1016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Step 1: Lymphatic capillaries absorb interstitial fluid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Step 2: Capillaries → larger collecting vessels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Step 3: Collecting vessels → lymphatic trunks (jugular, subclavian, bronchomediastinal, intestinal, lumbar)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Step 4: Trunks → collecting ducts (two major ducts)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Step 5: Ducts empty into subclavian veins → returns to bloodstream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Right lymphatic duct: drains right arm, right side of head &amp; thorax → right subclavian vein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Thoracic duct: drains EVERYTHING ELSE (below diaphragm via cisterna chyli, left arm, left head/neck/thorax) → left subclavian vein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F8A"/>
                </a:solidFill>
                <a:latin typeface="Calibri"/>
                <a:ea typeface="Calibri"/>
                <a:cs typeface="Calibri"/>
                <a:sym typeface="Calibri"/>
              </a:rPr>
              <a:t>High-yield: know the full sequence AND the asymmetry — the thoracic duct drains most of the body. Cisterna chyli = where intestinal lymph collects before entering thoracic duct.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320040" y="73152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Lymph Transport — How Lymph Moves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7315200" y="164592"/>
            <a:ext cx="1600200" cy="502920"/>
          </a:xfrm>
          <a:prstGeom prst="roundRect">
            <a:avLst>
              <a:gd fmla="val 10909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7315200" y="16459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B4E"/>
                </a:solidFill>
                <a:latin typeface="Calibri"/>
                <a:ea typeface="Calibri"/>
                <a:cs typeface="Calibri"/>
                <a:sym typeface="Calibri"/>
              </a:rPr>
              <a:t>Lecture Slide 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228600" y="1051560"/>
            <a:ext cx="868680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228600" y="1051560"/>
            <a:ext cx="109728" cy="356616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457200" y="1143000"/>
            <a:ext cx="832104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101600" wrap="square" tIns="1016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Lymphatic system has NO pump — relies entirely on external forces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Skeletal Muscle Pump: muscle contractions compress lymph vessels → moves lymph forward; valves prevent backflow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Respiratory Pump: thoracic pressure drops on inhalation → pulls lymph upward into great vessels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Pulsations of nearby arteries and smooth muscle contractions in vessel walls also assist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Clinical: immobility and </a:t>
            </a:r>
            <a:r>
              <a:rPr lang="en-US" sz="1300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bed rest</a:t>
            </a: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 impair lymph flow → edema; early ambulation restores drainage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F8A"/>
                </a:solidFill>
                <a:latin typeface="Calibri"/>
                <a:ea typeface="Calibri"/>
                <a:cs typeface="Calibri"/>
                <a:sym typeface="Calibri"/>
              </a:rPr>
              <a:t>Know both pumps by name and mechanism. The same pumps move venous blood — a common connection question.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68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3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8E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CE8EC"/>
                </a:solidFill>
                <a:latin typeface="Calibri"/>
                <a:ea typeface="Calibri"/>
                <a:cs typeface="Calibri"/>
                <a:sym typeface="Calibri"/>
              </a:rPr>
              <a:t>Lymphatic Tissues &amp; Cells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320040" y="73152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Lymphatic Tissues &amp; Cell Types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7315200" y="164592"/>
            <a:ext cx="1600200" cy="502920"/>
          </a:xfrm>
          <a:prstGeom prst="roundRect">
            <a:avLst>
              <a:gd fmla="val 10909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7315200" y="16459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B4E"/>
                </a:solidFill>
                <a:latin typeface="Calibri"/>
                <a:ea typeface="Calibri"/>
                <a:cs typeface="Calibri"/>
                <a:sym typeface="Calibri"/>
              </a:rPr>
              <a:t>Lecture Slides 11 &amp; 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228600" y="1051560"/>
            <a:ext cx="416052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228600" y="1051560"/>
            <a:ext cx="4160520" cy="347472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320040" y="105156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Lymphatic Tissues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365760" y="1463040"/>
            <a:ext cx="388620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NO capsule — distinguishes tissue from organs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Mucosa-Associated Lymphatic Tissue (MALT): scattered in digestive, respiratory, urinary, and reproductive tracts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Lymphatic nodules (follicles): temporary dense masses that form in response to pathogens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Peyer's Patches: aggregated lymph nodules in small intestine wall — gut immune surveillance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754880" y="1051560"/>
            <a:ext cx="416052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4754880" y="1051560"/>
            <a:ext cx="4160520" cy="34747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4846320" y="105156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Lymphoid Cell Types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4846320" y="1463040"/>
            <a:ext cx="397764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T cells (lymphocytes): attack viruses and parasites inside host cells — cell-mediated immunity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B cells (lymphocytes): produce plasma cells → secrete antibodies — humoral immunity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Macrophages: phagocytize foreign substances; help activate T cells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Dendritic cells: capture antigens, deliver to lymph nodes, activate T cells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Reticular cells: produce structural scaffolding (stroma) in lymphoid organs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F8A"/>
                </a:solidFill>
                <a:latin typeface="Calibri"/>
                <a:ea typeface="Calibri"/>
                <a:cs typeface="Calibri"/>
                <a:sym typeface="Calibri"/>
              </a:rPr>
              <a:t>Know the difference between T cells (cell-mediated) and B cells (humoral/antibody-producing). MALT = frontline surveillance at body openings.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68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4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8E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CE8EC"/>
                </a:solidFill>
                <a:latin typeface="Calibri"/>
                <a:ea typeface="Calibri"/>
                <a:cs typeface="Calibri"/>
                <a:sym typeface="Calibri"/>
              </a:rPr>
              <a:t>Primary Lymphatic Organs — Where Lymphocytes Are Made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"/>
          <p:cNvSpPr/>
          <p:nvPr/>
        </p:nvSpPr>
        <p:spPr>
          <a:xfrm>
            <a:off x="320040" y="73152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Organs: Red Bone Marrow &amp; Thymus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7315200" y="164592"/>
            <a:ext cx="1600200" cy="502920"/>
          </a:xfrm>
          <a:prstGeom prst="roundRect">
            <a:avLst>
              <a:gd fmla="val 10909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"/>
          <p:cNvSpPr/>
          <p:nvPr/>
        </p:nvSpPr>
        <p:spPr>
          <a:xfrm>
            <a:off x="7315200" y="16459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B4E"/>
                </a:solidFill>
                <a:latin typeface="Calibri"/>
                <a:ea typeface="Calibri"/>
                <a:cs typeface="Calibri"/>
                <a:sym typeface="Calibri"/>
              </a:rPr>
              <a:t>Lecture Slides 15, 16 &amp;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228600" y="1051560"/>
            <a:ext cx="416052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"/>
          <p:cNvSpPr/>
          <p:nvPr/>
        </p:nvSpPr>
        <p:spPr>
          <a:xfrm>
            <a:off x="228600" y="1051560"/>
            <a:ext cx="4160520" cy="347472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"/>
          <p:cNvSpPr/>
          <p:nvPr/>
        </p:nvSpPr>
        <p:spPr>
          <a:xfrm>
            <a:off x="320040" y="105156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 Bone Marrow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365760" y="1463040"/>
            <a:ext cx="388620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Located in: flat bones (pelvis, ribs, skull, vertebrae) and epiphyses of femur &amp; humerus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In children: fills nearly all bones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Site of hematopoiesis — produces ALL blood cells including lymphocytes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Site of B-cell maturation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Clinical: bone marrow aspiration used to diagnose leukemia, aplastic anemia, myelodysplastic syndromes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4754880" y="1051560"/>
            <a:ext cx="416052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"/>
          <p:cNvSpPr/>
          <p:nvPr/>
        </p:nvSpPr>
        <p:spPr>
          <a:xfrm>
            <a:off x="4754880" y="1051560"/>
            <a:ext cx="4160520" cy="34747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"/>
          <p:cNvSpPr/>
          <p:nvPr/>
        </p:nvSpPr>
        <p:spPr>
          <a:xfrm>
            <a:off x="4846320" y="105156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Thymus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4846320" y="1463040"/>
            <a:ext cx="397764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Located in mediastinum — behind sternum, in front of aortic arch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Plays roles in endocrine, immune, AND lymphatic systems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Site of T-cell maturation — only ~25% of T cells survive selection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Most active during childhood and adolescence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Involutes with age: shrinks from ~70g to ~3g, replaced by adipose tissue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Removal/damage → T-cell immunodeficiency (e.g., DiGeorge syndrome)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F8A"/>
                </a:solidFill>
                <a:latin typeface="Calibri"/>
                <a:ea typeface="Calibri"/>
                <a:cs typeface="Calibri"/>
                <a:sym typeface="Calibri"/>
              </a:rPr>
              <a:t>Primary = maturation sites. Bone marrow = B cells; Thymus = T cells. The thymus is most active in childhood — know why.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1" title="Screenshot 2026-03-24 at 9.51.2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2175" y="3638371"/>
            <a:ext cx="1600200" cy="1409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68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5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8E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CE8EC"/>
                </a:solidFill>
                <a:latin typeface="Calibri"/>
                <a:ea typeface="Calibri"/>
                <a:cs typeface="Calibri"/>
                <a:sym typeface="Calibri"/>
              </a:rPr>
              <a:t>Secondary Lymphatic Organs — Where Immune Responses Happen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3"/>
          <p:cNvSpPr/>
          <p:nvPr/>
        </p:nvSpPr>
        <p:spPr>
          <a:xfrm>
            <a:off x="320040" y="73152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Tonsils &amp; Spleen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7315200" y="164592"/>
            <a:ext cx="1600200" cy="502920"/>
          </a:xfrm>
          <a:prstGeom prst="roundRect">
            <a:avLst>
              <a:gd fmla="val 10909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"/>
          <p:cNvSpPr/>
          <p:nvPr/>
        </p:nvSpPr>
        <p:spPr>
          <a:xfrm>
            <a:off x="7315200" y="16459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B4E"/>
                </a:solidFill>
                <a:latin typeface="Calibri"/>
                <a:ea typeface="Calibri"/>
                <a:cs typeface="Calibri"/>
                <a:sym typeface="Calibri"/>
              </a:rPr>
              <a:t>Lecture Slides 19, 27 &amp; 28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228600" y="1051560"/>
            <a:ext cx="416052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"/>
          <p:cNvSpPr/>
          <p:nvPr/>
        </p:nvSpPr>
        <p:spPr>
          <a:xfrm>
            <a:off x="228600" y="1051560"/>
            <a:ext cx="4160520" cy="347472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"/>
          <p:cNvSpPr/>
          <p:nvPr/>
        </p:nvSpPr>
        <p:spPr>
          <a:xfrm>
            <a:off x="320040" y="105156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Tonsils — Three Pairs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365760" y="1463040"/>
            <a:ext cx="388620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Palatine: posterior oral cavity — most often infected; removed in tonsillectomy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Lingual: at base of tongue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Pharyngeal (Adenoids): on wall of nasopharynx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Together form Waldeyer's Ring — defensive circle around upper respiratory/digestive openings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Functions: trap/filter inhaled and ingested pathogens; immune surveillance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4754880" y="1051560"/>
            <a:ext cx="416052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"/>
          <p:cNvSpPr/>
          <p:nvPr/>
        </p:nvSpPr>
        <p:spPr>
          <a:xfrm>
            <a:off x="4754880" y="1051560"/>
            <a:ext cx="4160520" cy="34747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"/>
          <p:cNvSpPr/>
          <p:nvPr/>
        </p:nvSpPr>
        <p:spPr>
          <a:xfrm>
            <a:off x="4846320" y="105156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Spleen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4846320" y="1463040"/>
            <a:ext cx="397764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Largest lymphatic organ — upper left abdominal quadrant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Only lymphatic organ that filters BLOOD (not lymph)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Red pulp: destroys old/damaged RBCs (erythrocyte graveyard); stores up to ⅓ of platelets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White pulp: lymphocytes and macrophages; immune surveillance; fights encapsulated bacteria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Removal/rupture → serious risk; post-splenectomy patients need vaccinations for encapsulated bacteria (pneumococcus, meningococcus, H. influenzae)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F8A"/>
                </a:solidFill>
                <a:latin typeface="Calibri"/>
                <a:ea typeface="Calibri"/>
                <a:cs typeface="Calibri"/>
                <a:sym typeface="Calibri"/>
              </a:rPr>
              <a:t>Example: spleen = RBC graveyard (red pulp) AND immune surveillance (white pulp). Thyroid is NOT a lymphatic organ.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3" title="Screenshot 2026-03-24 at 9.45.0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9150" y="3491107"/>
            <a:ext cx="1667726" cy="150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"/>
          <p:cNvSpPr/>
          <p:nvPr/>
        </p:nvSpPr>
        <p:spPr>
          <a:xfrm>
            <a:off x="320040" y="73152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Lymph Nodes — Structure &amp; Function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7315200" y="164592"/>
            <a:ext cx="1600200" cy="502920"/>
          </a:xfrm>
          <a:prstGeom prst="roundRect">
            <a:avLst>
              <a:gd fmla="val 10909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"/>
          <p:cNvSpPr/>
          <p:nvPr/>
        </p:nvSpPr>
        <p:spPr>
          <a:xfrm>
            <a:off x="7315200" y="16459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B4E"/>
                </a:solidFill>
                <a:latin typeface="Calibri"/>
                <a:ea typeface="Calibri"/>
                <a:cs typeface="Calibri"/>
                <a:sym typeface="Calibri"/>
              </a:rPr>
              <a:t>Lecture Slides 20 &amp; 21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228600" y="1051560"/>
            <a:ext cx="868680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"/>
          <p:cNvSpPr/>
          <p:nvPr/>
        </p:nvSpPr>
        <p:spPr>
          <a:xfrm>
            <a:off x="228600" y="1051560"/>
            <a:ext cx="109728" cy="356616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"/>
          <p:cNvSpPr/>
          <p:nvPr/>
        </p:nvSpPr>
        <p:spPr>
          <a:xfrm>
            <a:off x="457200" y="1143000"/>
            <a:ext cx="832104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101600" wrap="square" tIns="1016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Most numerous lymphatic organs (~450 in the body)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Filter and clean lymph as it travels back to the bloodstream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Site of T-cell and B-cell ACTIVATION (secondary lymphatic function)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Structure: bean-shaped with a hilum; fibrous capsule divides internal compartments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Afferent vessels bring lymph IN → Efferent vessels carry filtered lymph OUT through the hilum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Outer Cortex: B cells, germinal centers (enlarged during active infection)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Inner Cortex: T cells and dendritic cells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Medulla: lymphocytes, plasma cells (antibody producers), macrophages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F8A"/>
                </a:solidFill>
                <a:latin typeface="Calibri"/>
                <a:ea typeface="Calibri"/>
                <a:cs typeface="Calibri"/>
                <a:sym typeface="Calibri"/>
              </a:rPr>
              <a:t>Know the flow direction: afferent IN → cortex → medulla → efferent OUT at hilum. Germinal centers = sign of an active immune response.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68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6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8E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CE8EC"/>
                </a:solidFill>
                <a:latin typeface="Calibri"/>
                <a:ea typeface="Calibri"/>
                <a:cs typeface="Calibri"/>
                <a:sym typeface="Calibri"/>
              </a:rPr>
              <a:t>Regional Lymph Node Locations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6"/>
          <p:cNvSpPr/>
          <p:nvPr/>
        </p:nvSpPr>
        <p:spPr>
          <a:xfrm>
            <a:off x="320040" y="73152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Lymph Node Locations — Know the Drainage Territories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7315200" y="164592"/>
            <a:ext cx="1600200" cy="502920"/>
          </a:xfrm>
          <a:prstGeom prst="roundRect">
            <a:avLst>
              <a:gd fmla="val 10909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7315200" y="16459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B4E"/>
                </a:solidFill>
                <a:latin typeface="Calibri"/>
                <a:ea typeface="Calibri"/>
                <a:cs typeface="Calibri"/>
                <a:sym typeface="Calibri"/>
              </a:rPr>
              <a:t>Lecture Slides 22 &amp; 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4" name="Google Shape;214;p16"/>
          <p:cNvGraphicFramePr/>
          <p:nvPr/>
        </p:nvGraphicFramePr>
        <p:xfrm>
          <a:off x="274320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{763B4088-E7B8-4ADC-B839-461E0CD8E07B}</a:tableStyleId>
              </a:tblPr>
              <a:tblGrid>
                <a:gridCol w="2865125"/>
                <a:gridCol w="2865125"/>
                <a:gridCol w="2865125"/>
              </a:tblGrid>
              <a:tr h="46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Node Location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6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 Drained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6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Clinical Significance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680"/>
                    </a:solidFill>
                  </a:tcPr>
                </a:tc>
              </a:tr>
              <a:tr h="46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Cervical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Head &amp; neck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Upper respiratory infections, dental infections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Axillary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Upper limb &amp; breast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Breast cancer staging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</a:tr>
              <a:tr h="46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Mammary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Breast tissue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Breast cancer — look for axillary/mammary enlargement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Thoracic / Mediastinal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Chest, airways, lungs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 respiratory infections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</a:tr>
              <a:tr h="46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Mesenteric / Intestinal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Digestive tract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 infections, appendicitis; can mimic appendicitis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Inguinal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 limbs, groin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STIs, lower limb infections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</a:tr>
              <a:tr h="46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Popliteal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Foot &amp; lower leg (crural)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Foot/lower leg infections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5" name="Google Shape;215;p16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F8A"/>
                </a:solidFill>
                <a:latin typeface="Calibri"/>
                <a:ea typeface="Calibri"/>
                <a:cs typeface="Calibri"/>
                <a:sym typeface="Calibri"/>
              </a:rPr>
              <a:t>Example: you may be asked to identify a node from an image or match a node to its drainage territory</a:t>
            </a:r>
            <a:r>
              <a:rPr i="1" lang="en-US" sz="1000">
                <a:solidFill>
                  <a:srgbClr val="6B7F8A"/>
                </a:solidFill>
                <a:latin typeface="Calibri"/>
                <a:ea typeface="Calibri"/>
                <a:cs typeface="Calibri"/>
                <a:sym typeface="Calibri"/>
              </a:rPr>
              <a:t> (i.e. </a:t>
            </a:r>
            <a:r>
              <a:rPr b="0" i="1" lang="en-US" sz="1000" u="none" cap="none" strike="noStrike">
                <a:solidFill>
                  <a:srgbClr val="6B7F8A"/>
                </a:solidFill>
                <a:latin typeface="Calibri"/>
                <a:ea typeface="Calibri"/>
                <a:cs typeface="Calibri"/>
                <a:sym typeface="Calibri"/>
              </a:rPr>
              <a:t>Mammary nodes </a:t>
            </a:r>
            <a:r>
              <a:rPr i="1" lang="en-US" sz="1000">
                <a:solidFill>
                  <a:srgbClr val="6B7F8A"/>
                </a:solidFill>
                <a:latin typeface="Calibri"/>
                <a:ea typeface="Calibri"/>
                <a:cs typeface="Calibri"/>
                <a:sym typeface="Calibri"/>
              </a:rPr>
              <a:t>drain lymph from where? Why important?)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680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7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7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8E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CE8EC"/>
                </a:solidFill>
                <a:latin typeface="Calibri"/>
                <a:ea typeface="Calibri"/>
                <a:cs typeface="Calibri"/>
                <a:sym typeface="Calibri"/>
              </a:rPr>
              <a:t>Lymphatic Dysfunction &amp; Cancer Metastasis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320040" y="73152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Lymph Node Enlargement — Infection vs. Cancer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7315200" y="164592"/>
            <a:ext cx="1600200" cy="502920"/>
          </a:xfrm>
          <a:prstGeom prst="roundRect">
            <a:avLst>
              <a:gd fmla="val 10909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"/>
          <p:cNvSpPr/>
          <p:nvPr/>
        </p:nvSpPr>
        <p:spPr>
          <a:xfrm>
            <a:off x="7315200" y="16459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B4E"/>
                </a:solidFill>
                <a:latin typeface="Calibri"/>
                <a:ea typeface="Calibri"/>
                <a:cs typeface="Calibri"/>
                <a:sym typeface="Calibri"/>
              </a:rPr>
              <a:t>Lecture Slides 16 &amp; 17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4" name="Google Shape;234;p18"/>
          <p:cNvGraphicFramePr/>
          <p:nvPr/>
        </p:nvGraphicFramePr>
        <p:xfrm>
          <a:off x="274320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{763B4088-E7B8-4ADC-B839-461E0CD8E07B}</a:tableStyleId>
              </a:tblPr>
              <a:tblGrid>
                <a:gridCol w="2865125"/>
                <a:gridCol w="2865125"/>
                <a:gridCol w="28651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6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Infection (Reactive)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6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Cancer (Malignant)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68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Tenderness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Tender / painful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Non-tender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Texture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 to rubbery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Hard, firm, stone-like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Mobility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Freely movable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Fixed or matted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Onset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Rapid / acute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Slow, insidious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Skin changes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Warm, erythematous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Regression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Often resolves after infection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Progressively enlarging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</a:tr>
            </a:tbl>
          </a:graphicData>
        </a:graphic>
      </p:graphicFrame>
      <p:sp>
        <p:nvSpPr>
          <p:cNvPr id="235" name="Google Shape;235;p18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F8A"/>
                </a:solidFill>
                <a:latin typeface="Calibri"/>
                <a:ea typeface="Calibri"/>
                <a:cs typeface="Calibri"/>
                <a:sym typeface="Calibri"/>
              </a:rPr>
              <a:t>High-yield table. These features are clinically tested. Size &gt;2 cm is concerning for malignancy.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320040" y="73152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Metastatic Cancer &amp; Lymphatic Dysfunction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7315200" y="164592"/>
            <a:ext cx="1600200" cy="502920"/>
          </a:xfrm>
          <a:prstGeom prst="roundRect">
            <a:avLst>
              <a:gd fmla="val 10909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7315200" y="16459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B4E"/>
                </a:solidFill>
                <a:latin typeface="Calibri"/>
                <a:ea typeface="Calibri"/>
                <a:cs typeface="Calibri"/>
                <a:sym typeface="Calibri"/>
              </a:rPr>
              <a:t>Lecture Slides 25 &amp; 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28600" y="1051560"/>
            <a:ext cx="416052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228600" y="1051560"/>
            <a:ext cx="4160520" cy="347472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320040" y="105156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Cancer Spreads via Lymph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365760" y="1463040"/>
            <a:ext cx="388620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Cancer cells enter permeable lymphatic vessels from primary tumor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Transported to the nearest (sentinel) lymph node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Nodes become: firm, enlarged, non-tender, fixed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Cells multiply and eventually destroy the node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Can re-enter bloodstream → spread to distant organs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Example: colon cancer → mesenteric nodes → intestinal trunk → cisterna chyli → thoracic duct → bloodstream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4754880" y="1051560"/>
            <a:ext cx="416052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4754880" y="1051560"/>
            <a:ext cx="4160520" cy="34747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4846320" y="105156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Lymphatic Dysfunction Consequences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4846320" y="1463040"/>
            <a:ext cx="397764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Blocked lymphatic vessels → fluid buildup → EDEMA (not autoimmunity, not anemia)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Removed spleen → immunodeficiency (loss of blood-filtering immune organ)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Damaged thymus → T-cell immunodeficiency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Thoracic duct blocked → fluid accumulates in areas below the diaphragm AND left upper body (most of the body)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1C2E"/>
                </a:solidFill>
                <a:latin typeface="Calibri"/>
                <a:ea typeface="Calibri"/>
                <a:cs typeface="Calibri"/>
                <a:sym typeface="Calibri"/>
              </a:rPr>
              <a:t>Right lymphatic duct blocked → right arm, right head, right thorax affected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F8A"/>
                </a:solidFill>
                <a:latin typeface="Calibri"/>
                <a:ea typeface="Calibri"/>
                <a:cs typeface="Calibri"/>
                <a:sym typeface="Calibri"/>
              </a:rPr>
              <a:t>Know which dysfunction produces which consequence.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680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8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8E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CE8EC"/>
                </a:solidFill>
                <a:latin typeface="Calibri"/>
                <a:ea typeface="Calibri"/>
                <a:cs typeface="Calibri"/>
                <a:sym typeface="Calibri"/>
              </a:rPr>
              <a:t>Organ Functions — Matrix Review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320040" y="73152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Lymphatic Organ Functions — What Each Organ Does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7315200" y="164592"/>
            <a:ext cx="1600200" cy="502920"/>
          </a:xfrm>
          <a:prstGeom prst="roundRect">
            <a:avLst>
              <a:gd fmla="val 10909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7315200" y="16459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B4E"/>
                </a:solidFill>
                <a:latin typeface="Calibri"/>
                <a:ea typeface="Calibri"/>
                <a:cs typeface="Calibri"/>
                <a:sym typeface="Calibri"/>
              </a:rPr>
              <a:t>Lecture Slides 15–28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2" name="Google Shape;272;p21"/>
          <p:cNvGraphicFramePr/>
          <p:nvPr/>
        </p:nvGraphicFramePr>
        <p:xfrm>
          <a:off x="274320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{763B4088-E7B8-4ADC-B839-461E0CD8E07B}</a:tableStyleId>
              </a:tblPr>
              <a:tblGrid>
                <a:gridCol w="1719075"/>
                <a:gridCol w="1719075"/>
                <a:gridCol w="1719075"/>
                <a:gridCol w="1719075"/>
                <a:gridCol w="171907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6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Filters Blood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6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Filters Lymph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6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T-Cell Maturation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6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Immune Surveillance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68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Spleen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Lymph Node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Thymus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Tonsils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 Bone Marrow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(B cells)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3" name="Google Shape;273;p21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F8A"/>
                </a:solidFill>
                <a:latin typeface="Calibri"/>
                <a:ea typeface="Calibri"/>
                <a:cs typeface="Calibri"/>
                <a:sym typeface="Calibri"/>
              </a:rPr>
              <a:t>Spleen = only organ that filters blood. Thymus = only T-cell maturation site.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4E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QUICK REFERENCE — Lymphatic System High-Yield Facts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228600" y="713232"/>
            <a:ext cx="4114800" cy="530352"/>
          </a:xfrm>
          <a:prstGeom prst="rect">
            <a:avLst/>
          </a:prstGeom>
          <a:solidFill>
            <a:srgbClr val="16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320040" y="713232"/>
            <a:ext cx="1417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Primary organs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1783080" y="71323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Bone marrow (B cells) + Thymus (T cells)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228600" y="1298448"/>
            <a:ext cx="4114800" cy="530352"/>
          </a:xfrm>
          <a:prstGeom prst="rect">
            <a:avLst/>
          </a:prstGeom>
          <a:solidFill>
            <a:srgbClr val="1A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320040" y="1298448"/>
            <a:ext cx="1417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Secondary organs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1783080" y="1298448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Lymph nodes, Tonsils, Spleen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228600" y="1883664"/>
            <a:ext cx="4114800" cy="530352"/>
          </a:xfrm>
          <a:prstGeom prst="rect">
            <a:avLst/>
          </a:prstGeom>
          <a:solidFill>
            <a:srgbClr val="16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320040" y="1883664"/>
            <a:ext cx="1417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Spleen function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1783080" y="1883664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Filters BLOOD; RBC graveyard (red pulp); immune surveillance (white pulp)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228600" y="2468880"/>
            <a:ext cx="4114800" cy="530352"/>
          </a:xfrm>
          <a:prstGeom prst="rect">
            <a:avLst/>
          </a:prstGeom>
          <a:solidFill>
            <a:srgbClr val="1A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320040" y="2468880"/>
            <a:ext cx="1417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Thoracic duct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1783080" y="2468880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Drains most of body → left subclavian vein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228600" y="3054096"/>
            <a:ext cx="4114800" cy="530352"/>
          </a:xfrm>
          <a:prstGeom prst="rect">
            <a:avLst/>
          </a:prstGeom>
          <a:solidFill>
            <a:srgbClr val="16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320040" y="3054096"/>
            <a:ext cx="1417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Right lymphatic duct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1783080" y="3054096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Right arm, right head, right thorax → right subclavian vein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228600" y="3639312"/>
            <a:ext cx="4114800" cy="530352"/>
          </a:xfrm>
          <a:prstGeom prst="rect">
            <a:avLst/>
          </a:prstGeom>
          <a:solidFill>
            <a:srgbClr val="1A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320040" y="3639312"/>
            <a:ext cx="1417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Blocked lymphatics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1783080" y="363931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EDEMA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228600" y="4224528"/>
            <a:ext cx="4114800" cy="530352"/>
          </a:xfrm>
          <a:prstGeom prst="rect">
            <a:avLst/>
          </a:prstGeom>
          <a:solidFill>
            <a:srgbClr val="16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320040" y="4224528"/>
            <a:ext cx="1417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Removed spleen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1783080" y="4224528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Immunodeficiency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4663440" y="713232"/>
            <a:ext cx="4251960" cy="530352"/>
          </a:xfrm>
          <a:prstGeom prst="rect">
            <a:avLst/>
          </a:prstGeom>
          <a:solidFill>
            <a:srgbClr val="16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2"/>
          <p:cNvSpPr/>
          <p:nvPr/>
        </p:nvSpPr>
        <p:spPr>
          <a:xfrm>
            <a:off x="4754880" y="713232"/>
            <a:ext cx="1463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Damaged thymus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6263640" y="713232"/>
            <a:ext cx="2606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T-cell immunodeficiency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4663440" y="1298448"/>
            <a:ext cx="4251960" cy="530352"/>
          </a:xfrm>
          <a:prstGeom prst="rect">
            <a:avLst/>
          </a:prstGeom>
          <a:solidFill>
            <a:srgbClr val="1A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4754880" y="1298448"/>
            <a:ext cx="1463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Lymph node cortex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6263640" y="1298448"/>
            <a:ext cx="2606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 cells + germinal centers (outer); T cells (inner)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4663440" y="1883664"/>
            <a:ext cx="4251960" cy="530352"/>
          </a:xfrm>
          <a:prstGeom prst="rect">
            <a:avLst/>
          </a:prstGeom>
          <a:solidFill>
            <a:srgbClr val="16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4754880" y="1883664"/>
            <a:ext cx="1463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Lymph node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6263640" y="1883664"/>
            <a:ext cx="2606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Afferent IN → efferent OUT at hilum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4663440" y="2468880"/>
            <a:ext cx="4251960" cy="530352"/>
          </a:xfrm>
          <a:prstGeom prst="rect">
            <a:avLst/>
          </a:prstGeom>
          <a:solidFill>
            <a:srgbClr val="1A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4754880" y="2468880"/>
            <a:ext cx="1463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NOT lymphatic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6263640" y="2468880"/>
            <a:ext cx="2606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Thyroid gland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4663440" y="3054096"/>
            <a:ext cx="4251960" cy="530352"/>
          </a:xfrm>
          <a:prstGeom prst="rect">
            <a:avLst/>
          </a:prstGeom>
          <a:solidFill>
            <a:srgbClr val="16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2"/>
          <p:cNvSpPr/>
          <p:nvPr/>
        </p:nvSpPr>
        <p:spPr>
          <a:xfrm>
            <a:off x="4754880" y="3054096"/>
            <a:ext cx="1463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Thymus activity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6263640" y="3054096"/>
            <a:ext cx="2606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Most active in childhood; involutes with 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4663440" y="3639312"/>
            <a:ext cx="4251960" cy="530352"/>
          </a:xfrm>
          <a:prstGeom prst="rect">
            <a:avLst/>
          </a:prstGeom>
          <a:solidFill>
            <a:srgbClr val="1A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2"/>
          <p:cNvSpPr/>
          <p:nvPr/>
        </p:nvSpPr>
        <p:spPr>
          <a:xfrm>
            <a:off x="4754880" y="3639312"/>
            <a:ext cx="1463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Valves in lymphatics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6263640" y="3639312"/>
            <a:ext cx="2606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Prevent backflow (one-way flow only)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4663440" y="4224528"/>
            <a:ext cx="4251960" cy="530352"/>
          </a:xfrm>
          <a:prstGeom prst="rect">
            <a:avLst/>
          </a:prstGeom>
          <a:solidFill>
            <a:srgbClr val="16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2"/>
          <p:cNvSpPr/>
          <p:nvPr/>
        </p:nvSpPr>
        <p:spPr>
          <a:xfrm>
            <a:off x="4754880" y="4224528"/>
            <a:ext cx="1463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Lacteals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6263640" y="4224528"/>
            <a:ext cx="2606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Lymphatic vessels in small intestine that absorb dietary fats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F8A"/>
                </a:solidFill>
                <a:latin typeface="Calibri"/>
                <a:ea typeface="Calibri"/>
                <a:cs typeface="Calibri"/>
                <a:sym typeface="Calibri"/>
              </a:rPr>
              <a:t>BIOS 255  ·  Lymphatic System  ·  Laura Bates, DC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2026-03-20T19:18:40Z</dcterms:created>
  <dc:creator>Laura Bates, DC</dc:creator>
</cp:coreProperties>
</file>