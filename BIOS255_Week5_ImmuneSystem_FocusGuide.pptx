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— Week 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Guide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focus your study — not to replace reading the lecture.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Defense —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Three Lines of Defense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3 &amp;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IMMUNITY (Lines 1 &amp; 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 (Line 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749808"/>
            <a:ext cx="0" cy="3017520"/>
          </a:xfrm>
          <a:prstGeom prst="line">
            <a:avLst/>
          </a:prstGeom>
          <a:noFill/>
          <a:ln w="12700">
            <a:solidFill>
              <a:srgbClr val="D2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115568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— External Barriers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Skin, mucous membranes, chemical secretions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Nonspecific; keeps pathogens OUT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Line — Internal Defenses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Phagocytes, NK cells, complement, inflammation, fever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Nonspecific; rapid (minutes to hours)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immunological memory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251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Line — Adaptive Immunity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— targets a particular antigen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Slower: days for primary response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Immunological MEMORY — faster, stronger on re-exposure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Humoral: B cells → plasma cells → antibodies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Cell-mediated: T cells directly attack infected/abnormal cells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all three lines, their timing, and specificity. Innate = no memory. Adaptive = specific + memory. Innate buys time for adaptive to activate.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Immunity — First &amp; Second Lines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of Defense — Barriers &amp; Chemical Defenses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28346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1097280"/>
            <a:ext cx="2834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" y="1124712"/>
            <a:ext cx="2688336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Keratin — tough, difficult to penetrate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mantle (pH 3–5): inhibits bacterial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Sweat: dermcidin &amp; defensins (antimicrobial peptides)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Sebum: keeps skin pliable; reduces abrasion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27248" y="749808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749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Mucous Membranes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097280"/>
            <a:ext cx="2834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1124712"/>
            <a:ext cx="2688336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all body cavities open to exterior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Mucus traps pathogens before penetration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Ciliary escalator: sweeps particles up → swallowed → destroyed by stomach acid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flow flushes urinary tract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749808"/>
            <a:ext cx="283464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749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Barriers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834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53912" y="1124712"/>
            <a:ext cx="2688336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acid (HCl) pH 1.5–3.5: destroys most ingested pathogens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Lysozyme: cleaves bacterial cell walls; in mucus, tears, saliva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flora: compete with pathogens (GI, urogenital)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Ciliary escalator impairment (smokers) → ↑ infection risk. Skin burns destroy the first line entirely — immediate infection risk.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Line of Defense — Cellular Defenders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4206240" cy="30175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7498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1069848"/>
            <a:ext cx="40782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WBC at infection site; phagocytize bacteria; elevated count (neutrophilia) = bacterial infection indicator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74980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49808"/>
            <a:ext cx="4206240" cy="3017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7498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Eosinophils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6008" y="1069848"/>
            <a:ext cx="40782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parasites &amp; allergic reactions; concentrated in mucous membranes; elevated (eosinophilia) = allergy or parasitic infection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1956816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1956816"/>
            <a:ext cx="4206240" cy="301752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95681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Basophils &amp; Mast Cells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8600" y="2276856"/>
            <a:ext cx="40782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histamine → vasodilation &amp; ↑ capillary permeability; basophils also release heparin; mast cells reside in tissues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956816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956816"/>
            <a:ext cx="4206240" cy="3017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195681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(Natural Killer) Cells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36008" y="2276856"/>
            <a:ext cx="40782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virally infected, cancerous, and abnormal cells — no prior antigen exposure required; release perforins &amp; granzymes → apoptosis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" y="316382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163824"/>
            <a:ext cx="4206240" cy="30175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1638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Dendritic / Langerhans Cells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" y="3483864"/>
            <a:ext cx="40782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Antigen-presenting cells (APCs); phagocytize pathogens; present antigen fragments to T cells — bridge between innate and adaptive immunity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16382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163824"/>
            <a:ext cx="4206240" cy="301752"/>
          </a:xfrm>
          <a:prstGeom prst="rect">
            <a:avLst/>
          </a:prstGeom>
          <a:solidFill>
            <a:srgbClr val="1B5E7D"/>
          </a:solidFill>
          <a:ln w="12700">
            <a:solidFill>
              <a:srgbClr val="1B5E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31638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 → Macrophages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36008" y="3483864"/>
            <a:ext cx="40782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monocytes differentiate into tissue macrophages (Kupffer/liver, microglia/CNS, alveolar/lungs); phagocytic APCs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cells require no prior exposure — they kill 'missing self' cells (cancer often downregulates MHC-I). Dendritic cells = key APC bridge to adaptive immunity.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Line — Antimicrobial Proteins, Inflammation &amp; Fever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8 &amp; 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Proteins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" y="1115568"/>
            <a:ext cx="41148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Interferons (IFNs)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 virally infected cells; warn neighbors to upregulate antiviral defenses; activate NK cells &amp; macrophages; do NOT save the secreting cell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interferon-alpha treats hepatitis C and certain cancers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System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inactive plasma proteins; cascade activation via Classical, Lectin, or Alternative pathways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chemotaxis, opsonization, inflammation, cytolysis via MAC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&amp; IgM activate Classical pathway; Complement deficiency → recurrent Neisseria infections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Lysozyme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Cleaves bacterial cell walls → bacteriolysis; found in mucus, tears, saliva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749808"/>
            <a:ext cx="0" cy="3017520"/>
          </a:xfrm>
          <a:prstGeom prst="line">
            <a:avLst/>
          </a:prstGeom>
          <a:noFill/>
          <a:ln w="12700">
            <a:solidFill>
              <a:srgbClr val="D2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&amp; Fever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2519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— Cardinal Signs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redness, swelling, pain — all from ↑ blood flow &amp; ↑ capillary permeability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prevent pathogen spread, destroy pathogens, clear debris, begin healing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block prostaglandin synthesis → ↓ pain &amp; fever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Pyrogens → anterior hypothalamus resets body temperature set-point ABOVE normal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feels cold as fever rises (body is below its new set-point)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fever is PROTECTIVE; treat for comfort and to prevent dangerous extremes (&gt;104°F)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cascade ends in: chemotaxis, opsonization, MAC. Pyrogens reset the hypothalamic thermostat. Derive each inflammation sign from its mechanism.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Antigens, MHC &amp; Antigen Presentation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Antigens — Key Definitions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" y="749808"/>
            <a:ext cx="8686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disease
</a:t>
            </a:r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immune response (antigens are NOT always pathogens)
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Non-self antigen: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molecules on pathogens or foreign substances (pollen, transplanted tissue, blood type antigens)
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Self-antigen: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system normally tolerates these; failure of self-tolerance → autoimmune disease
</a:t>
            </a:r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Epitope: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region of an antigen that an antibody binds; ONE antigen may have MULTIPLE epitopes → polyclonal response
</a:t>
            </a:r>
            <a:pPr indent="0" marL="0">
              <a:buNone/>
            </a:pPr>
            <a:r>
              <a:rPr lang="en-US" sz="11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Hapten: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 too small to trigger a response alone; must bind a carrier protein to become immunogenic
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penicillin is a hapten → binds serum proteins → drug allergy (explains why allergy can develop after initial exposure)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pathogens are antigenic but not all antigens are pathogens. Penicillin allergy = classic hapten example. One antigen → multiple epitopes → polyclonal antibody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 vs. Class II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778240" cy="3364992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  <a:gridCol w="3383280"/>
              </a:tblGrid>
              <a:tr h="5608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MHC Class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MHC Class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Expressed 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nucleated cells in the body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Antigen-presenting cells ONLY (dendritic cells, macrophages, B cells)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displays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Self-antigens normally; foreign antigens from intracellular infection or cancer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Fragments of externally captured antigens (phagocytized pathogens)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Recognized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CD8+ cytotoxic T cells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CD4+ helper T cells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Infected/abnormal cell is KILLED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adaptive immune COORDINATION (activates cytotoxic T &amp; B cells)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"Look INSIDE me" — announces internal problem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"Look at what I CAPTURED outside" — announces external threat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+ CD8 = kill the infected cell. Class II + CD4 = coordinate the response. HIV destroys CD4+ → both arms of adaptive immunity fail.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Presentation — Steps to Phagocytosis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420624" cy="17190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749808"/>
            <a:ext cx="420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" y="79552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Attachment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1170432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identifies and binds the antigen via surface receptors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74980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749808"/>
            <a:ext cx="420624" cy="17190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749808"/>
            <a:ext cx="420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79552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Engulfment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1170432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Endocytosis — pseudopods surround the antigen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749808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749808"/>
            <a:ext cx="420624" cy="17190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749808"/>
            <a:ext cx="420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10528" y="79552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Phagosome Formation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0528" y="1170432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enclosed in a membrane-bound vesicle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256032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560320"/>
            <a:ext cx="420624" cy="17190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560320"/>
            <a:ext cx="420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1792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Phagolysosome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2980944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with lysosome → digestive enzymes degrade antigen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M. tuberculosis prevents fusion → survives inside macrophage → TB granuloma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256032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2560320"/>
            <a:ext cx="420624" cy="17190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560320"/>
            <a:ext cx="420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66160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Presentation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2980944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displayed on MHC Class II on APC surface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53328" y="2560320"/>
            <a:ext cx="2834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2560320"/>
            <a:ext cx="420624" cy="17190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53328" y="2560320"/>
            <a:ext cx="420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10528" y="26060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Lymph Node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0528" y="2980944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APC travels to lymph nodes → presents antigen to naïve T cells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= destruction. Step 5 = translation of threat into immunological information. This sequence is the innate-to-adaptive bridge.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 — T Cells &amp; B Cells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 Maturation &amp; Selection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— Mature in Bone Marrow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" y="1115568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bone marrow stem cells
</a:t>
            </a:r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— Negative only: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that react against self-antigens → eliminated via apoptosis
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helper cell co-stimulation serves as an additional safety checkpoint for B cells
</a:t>
            </a:r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antibodies (humoral immunity)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749808"/>
            <a:ext cx="0" cy="3017520"/>
          </a:xfrm>
          <a:prstGeom prst="line">
            <a:avLst/>
          </a:prstGeom>
          <a:noFill/>
          <a:ln w="12700">
            <a:solidFill>
              <a:srgbClr val="D2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— Mature in Thymus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251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bone marrow → migrate to thymus
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cell bind self-MHC? If NO → destroyed
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selection: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attack self-antigens too strongly? If YES → destroyed
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~25% of T cells survive selection
</a:t>
            </a:r>
            <a:pPr indent="0" marL="0">
              <a:buNone/>
            </a:pPr>
            <a:r>
              <a:rPr lang="en-US" sz="11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reduces efficiency of negative selection → more self-reactive cells survive → explains higher autoimmune disease prevalence in females (SLE, RA, MS, Hashimoto's)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cells: bone marrow + negative selection only. T cells: thymus + both selections. Failure of positive selection → immunodeficiency; failure of negative selection → autoimmunity.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 Types &amp; Activation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16 &amp; 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74980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 Cells (CD4+)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" y="1133856"/>
            <a:ext cx="40599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MHC Class II on APCs; activate cytotoxic T cells AND B cells via interleukins; central coordinator of ALL adaptive immunity — without them neither arm functions fully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74980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49808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74980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T Cells (CD8+)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133856"/>
            <a:ext cx="40599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MHC Class I; directly kill infected, abnormal, and cancerous cells; release perforins and granzymes; become effector cells after clonal expansion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" y="235000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2350008"/>
            <a:ext cx="4206240" cy="34747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35000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 Cells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2734056"/>
            <a:ext cx="40599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T cells that 'remember' previously encountered antigens; provide long-term protection; enable faster, stronger secondary response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35000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350008"/>
            <a:ext cx="4206240" cy="347472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35000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 Cells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734056"/>
            <a:ext cx="40599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and suppress T-cell response; prevent excessive immune activation; key for maintaining self-tolerance; failure → autoimmune disease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activation sequence: APC presents antigen → Helper T activated → Helper activates Cytotoxic T AND B cells. CD4+ T helper is the central coordinator of ALL adaptive immunity.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 Activation &amp; Humoral Immunity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" y="749808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749808"/>
            <a:ext cx="1664208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74980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" y="7498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Binding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" y="1133856"/>
            <a:ext cx="1536192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 recognizes and binds specific antigen; internalizes via endocytosis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01952" y="749808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01952" y="749808"/>
            <a:ext cx="1664208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74980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31136" y="7498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APC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1133856"/>
            <a:ext cx="1536192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Digests antigen; loads fragments onto MHC-II; displays on surface for T helper cell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66744" y="749808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66744" y="749808"/>
            <a:ext cx="1664208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66744" y="74980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95928" y="7498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Clonal Selection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30752" y="1133856"/>
            <a:ext cx="1536192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helper recognizes antigen on MHC-II → activates B cell → rapid mitosis → many identical B cells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31536" y="749808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31536" y="749808"/>
            <a:ext cx="1664208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74980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7498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Cells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95544" y="1133856"/>
            <a:ext cx="1536192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clones → plasma cells = antibody factories; produce antibodies targeting that specific antigen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96328" y="749808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96328" y="749808"/>
            <a:ext cx="1664208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74980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25512" y="7498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 Cells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0336" y="1133856"/>
            <a:ext cx="1536192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subset → long-lived memory B cells; remain for years; enable faster, stronger response on re-exposure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do NOT directly kill pathogens — they make antibodies that guide other cells. B cells ALSO act as APCs. Clonal selection = amplification of the targeted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&amp; Immunoglobulin Classes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Structure &amp; Six Functions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21 &amp; 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35204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" y="1115568"/>
            <a:ext cx="3410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Y-shaped protein: 2 heavy chains + 2 light chains
</a:t>
            </a:r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(V) region: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antigen-binding site; determines antibody specificity
</a:t>
            </a:r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(C) region: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antibody CLASS (IgA, IgD, IgE, IgG, IgM)
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binding sites allow AGGLUTINATION — cross-linking multiple antigen molecules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749808"/>
            <a:ext cx="0" cy="3017520"/>
          </a:xfrm>
          <a:prstGeom prst="line">
            <a:avLst/>
          </a:prstGeom>
          <a:noFill/>
          <a:ln w="12700">
            <a:solidFill>
              <a:srgbClr val="D2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77056" y="749808"/>
            <a:ext cx="5065776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749808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77056" y="1115568"/>
            <a:ext cx="54864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1115568"/>
            <a:ext cx="4919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Opsonization: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Coats pathogen → tags for phagocytosis; phagocytes bind Fc region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77056" y="1600200"/>
            <a:ext cx="54864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6784" y="1600200"/>
            <a:ext cx="4919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Neutralization: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pathogen surface molecules → prevents host cell entry; key against viruses &amp; toxins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77056" y="2084832"/>
            <a:ext cx="54864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2084832"/>
            <a:ext cx="4919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Agglutination: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Cross-links multiple pathogens into clumps → easier phagocytosis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77056" y="2569464"/>
            <a:ext cx="54864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86784" y="2569464"/>
            <a:ext cx="4919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insoluble antigen-antibody complexes → removed by phagocytes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77056" y="3054096"/>
            <a:ext cx="54864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86784" y="3054096"/>
            <a:ext cx="4919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Fixation: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and IgM activate classical cascade → inflammation, opsonization, MAC cytolysis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77056" y="3538728"/>
            <a:ext cx="54864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86784" y="3538728"/>
            <a:ext cx="4919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ADCC: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tags infected cell → NK cells bind Fc region → kill the cell; bridges adaptive + innate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ADCC bridges adaptive (antibody) and innate (NK cell) immunity. IgG + IgM → complement fixation. Blood typing agglutination = direct antibody function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 Classes — High-Yield Table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778240" cy="3410712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834640"/>
                <a:gridCol w="3931920"/>
              </a:tblGrid>
              <a:tr h="568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 &amp; Clinical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Blood; FIRST antibody in primary response (3–6 days)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 fixation; agglutination; elevated IgM = current/recent NEW infection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abundant in blood; dominates secondary response; CROSSES PLACENTA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Opsonization; complement fixation; ADCC; passive immunity to fetus; long-term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Secretions: breast milk, tears, saliva, mucus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Mucosal immunity; passive immunity to infant via breast milk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surface of mast cells &amp; basophils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mast cell degranulation → allergic/anaphylactic response; anti-parasite; THE allergy antibody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Primarily membrane-bound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naïve B lymphocytes; very low serum levels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cell activation and maturation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abundance: G &gt; A &gt; M &gt; E &gt; D (GAMED). IgG crosses placenta = passive fetal immunity. IgE = allergy. IgM = first responder to new antigen.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Humoral Memory — Primary vs. Secondary Response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Response (1st Exposure)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" y="1115568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phase: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day delay as B cells multiply and differentiate into plasma cells
</a:t>
            </a:r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first; secreted for ~10 days
</a:t>
            </a:r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follows; secreted ~14 days; levels drop after infection cleared
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 &amp; T cells remain — the immunological 'savings account'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749808"/>
            <a:ext cx="0" cy="3017520"/>
          </a:xfrm>
          <a:prstGeom prst="line">
            <a:avLst/>
          </a:prstGeom>
          <a:noFill/>
          <a:ln w="12700">
            <a:solidFill>
              <a:srgbClr val="D2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Response (Re-Exposure)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251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cells respond IMMEDIATELY — no lag phase
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in low amounts only
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QUICKLY — often before symptoms can start; levels remain elevated weeks to years
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molecular basis of VACCINATION — primary response to harmless antigen → memory → fast secondary response to real infection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= slow, IgM first, IgG follows, levels drop. Secondary = fast, IgG dominant, stays elevated. Elevated IgG = established immunity or successful vaccination.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&amp; Passive Immunity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Passive Immunity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27 &amp; 28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778240" cy="3410712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  <a:gridCol w="3383280"/>
              </a:tblGrid>
              <a:tr h="568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Immunity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Immunity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antibodies are obtained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produces its OWN antibodies and memory cells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Pre-formed antibodies GIVEN from an external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Long-lasting — memory cells formed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Short-term: 2–3 weeks — NO memory cells 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 of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requires immune activation and clonal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— antibodies are already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from natural infection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Maternal antibodies → fetus via placenta (IgG); infant via breast milk (IgA)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E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Vaccination (weakened/inactivated pathogens; booster shots maintain memory)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Antivenom, rabies Ig, tetanus Ig, botulism antitoxin — for emergency post-exposure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= YOU make antibodies (natural or vaccine) = long-term. Passive = you RECEIVE antibodies = immediate but temporary. Premature infants more vulnerable (less placental IgG).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Pathology — Hypersensitivity, Immunodeficiency &amp; Autoimmune Disease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Hypersensitivity Reactions — Types I–IV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31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778240" cy="3410712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1463040"/>
                <a:gridCol w="2468880"/>
              </a:tblGrid>
              <a:tr h="6821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— Immediate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IgE-mediated; IgE pre-loaded on mast cells &amp; basophils → allergen → histamine release → vasodilation &amp; bronchoconstriction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to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Allergies, asthma, anaphylaxis (MOST common type)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 — Cytotoxic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 or IgM binds cell surfaces → activates complement → cell destruction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transfusion reactions; hemolytic disease of newborn (Rh incompatibility)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III — Immune Complex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IgG/IgM antigen-antibody complexes deposit in tissues → complement activation → widespread inflammation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to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Lupus (SLE); rheumatoid arthritis; glomerulonephritis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IV — Delayed / T-Cell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cytotoxic cell mediated — NO antibodies involved; T cells must be recruited and activated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12–72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 ivy contact rash; TB skin test (PPD); transplant/graft rejection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I–III = antibody-mediated and fast. Type IV = T cell-mediated, DELAYED (12–72 hrs). Derive type from scenario — mechanism determines timing. Type I anaphylaxis → treat with epinephrine.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Immunodeficiency — AIDS &amp; SCID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33 &amp; 34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(Acquired)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" y="1115568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infects CD4+ T helper cells (also macrophages &amp; dendritic cells)
</a:t>
            </a:r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remain dormant for years → reactivates → destroys T-helper cells faster than replaced
</a:t>
            </a:r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diagnosis: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CD4+ count &lt; 200 cells/μl
</a:t>
            </a:r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devastating: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CD4+ coordinates BOTH humoral AND cell-mediated immunity → loss causes broad immunodeficiency; recurrent infections and cancers
</a:t>
            </a:r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blood, semen, vaginal secretions, breast milk — NOT casual contact
</a:t>
            </a:r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antivirals suppress replication; no cure; U=U (undetectable = untransmittable)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749808"/>
            <a:ext cx="0" cy="3017520"/>
          </a:xfrm>
          <a:prstGeom prst="line">
            <a:avLst/>
          </a:prstGeom>
          <a:noFill/>
          <a:ln w="12700">
            <a:solidFill>
              <a:srgbClr val="D2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49808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SCID (Genetic)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251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genetic disease; deficiency of BOTH B and T lymphocytes
</a:t>
            </a:r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immune system essentially nonfunctional; even minor infections are life-threatening; ↑ cancer risk
</a:t>
            </a:r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sterile isolation ("bubble"); bone marrow transplant = most effective; reconstitutes immune system
</a:t>
            </a:r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SCID = genetic, present at BIRTH, BOTH B and T cells absent
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= acquired, destroys CD4+ T-helper cells over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threshold: CD4+ &lt; 200 = AIDS diagnosis. SCID: no B or T cells = complete adaptive collapse. Both illustrate how entirely survival depends on adaptive immunity.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Diseases — Failure of Self-Tolerance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36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73152" cy="4050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" y="749808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failure of negative selection or T regulatory cell insufficiency → immune system attacks self-antigens as if foreign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61288"/>
          <a:ext cx="8778240" cy="2999232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3383280"/>
              </a:tblGrid>
              <a:tr h="333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Tissue /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Clinical 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Diabetes Mellitus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Insulin-producing beta cells of pancreas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insulin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Rheumatoid Arthritis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Cartilage and synovial tissue of joints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inflammation, destruction, deformity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Sclerosis (MS)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Myelin sheath — CNS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Demyelination → loss of CNS signal transmission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Guillain-Barré Syndrome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Myelin — peripheral nervous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Ascending muscle weakness/paralysis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Myasthenia Gravis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Acetylcholine receptors at neuromuscular junction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muscle weakness; associated with thymoma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Hashimoto's 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 cells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cause of hypothyroidism in U.S.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Graves' Disease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TSH receptors → overstimulates thyroid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Hyperthyroidism; exophthalmos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Nuclear/cellular components — multiple organ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women; butterfly rash; anti-dsDNA antibodies; Type III immune complex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82880" y="4169664"/>
            <a:ext cx="8778240" cy="493776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" y="4178808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diseases disproportionately affect women (estrogen reduces negative selection efficiency). Target tissue = clinical presentation. SLE = butterfly rash + anti-dsDNA.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High-Yield Facts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5486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Immune System High-Yield Facts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7274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Immune System  ·  Laura Bates, DC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" y="71323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49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immunity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104241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Nonspecific; no memory; rapid response (min–hrs)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71323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749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04241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Specific; immunological memory; slower (days)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71323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749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 + CD8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04241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infected or abnormal cell (intracellular threat)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" y="167335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 + CD4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" y="200253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adaptive response (APC → T helper)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167335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target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00253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CD4+ T helper cells; AIDS = CD4+ &lt; 200 cells/μl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167335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200253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T cell deficiency; genetic at birth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728" y="263347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700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" y="296265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antibody in primary response; pentamer; complement fixation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08960" y="263347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6700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296265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abundant; crosses placenta; dominates secondary response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08192" y="263347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6700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296265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Mucosal; breast milk; secretions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9728" y="359359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3630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" y="392277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antibody; mast cell degranulation → anaphylaxis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0" y="359359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630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hypersensitivity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392277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IgE-mediated; immediate; anaphylaxis; most common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08192" y="3593592"/>
            <a:ext cx="2907792" cy="868680"/>
          </a:xfrm>
          <a:prstGeom prst="rect">
            <a:avLst/>
          </a:prstGeom>
          <a:solidFill>
            <a:srgbClr val="1A3A5C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3630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IV hypersensitivity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392277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cell-mediated; delayed 12–72 hrs; NO antibodies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 255 Week 5 – Immune System Focus Guide</dc:title>
  <dc:subject>PptxGenJS Presentation</dc:subject>
  <dc:creator>Laura Bates, DC</dc:creator>
  <cp:lastModifiedBy>Laura Bates, DC</cp:lastModifiedBy>
  <cp:revision>1</cp:revision>
  <dcterms:created xsi:type="dcterms:W3CDTF">2026-03-30T13:18:28Z</dcterms:created>
  <dcterms:modified xsi:type="dcterms:W3CDTF">2026-03-30T13:18:28Z</dcterms:modified>
</cp:coreProperties>
</file>