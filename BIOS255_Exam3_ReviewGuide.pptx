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3 Review Guide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 · 6 · 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3063240"/>
            <a:ext cx="54864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Immune System  </a:t>
            </a:r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algn="ctr" indent="0" marL="0">
              <a:buNone/>
            </a:pPr>
            <a:r>
              <a:rPr lang="en-US" sz="1300" dirty="0">
                <a:solidFill>
                  <a:srgbClr val="B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Respiratory Anatomy  </a:t>
            </a:r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algn="ctr" indent="0" marL="0">
              <a:buNone/>
            </a:pPr>
            <a:r>
              <a:rPr lang="en-US" sz="1300" dirty="0">
                <a:solidFill>
                  <a:srgbClr val="B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7: Respiratory Physiology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Defense · Cells · Antibodies · Pathology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Defense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256032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3474720"/>
                <a:gridCol w="3291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Features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1st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Innate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External barriers; nonspecific; no memory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Skin, mucous membranes, cilia, lysozyme, HCl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2nd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Innate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Internal; nonspecific; rapid (min–hrs); no memory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Phagocytes, NK cells, complement, inflammation, fever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Adaptive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Specific; MEMORY; slower (days); long-term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 cells (humoral) + T cells (cell-mediated)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429000"/>
            <a:ext cx="8595360" cy="118872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474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EXAM TIPS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749040"/>
            <a:ext cx="8366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= nonspecific, no memory, always active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= specific + memory — this is what vaccines exploit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buys time for adaptive to ramp up (days)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— Cellular Defenders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19456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786384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WBC to arrive; phagocytize bacteria; neutrophilia = bacterial infection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219456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Eosinophils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40817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parasites &amp; allergens; eosinophilia = allergy or parasitic infection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219456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9339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Basophils / Mast Cells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029968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histamine → vasodilation; mast cells reside in tissues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15184"/>
            <a:ext cx="21945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(Natural Killer) Cells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651760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virally infected &amp; cancerous cells WITHOUT prior antigen exposure; release perforins &amp; granzymes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36976"/>
            <a:ext cx="2194560" cy="475488"/>
          </a:xfrm>
          <a:prstGeom prst="rect">
            <a:avLst/>
          </a:prstGeom>
          <a:solidFill>
            <a:srgbClr val="2E8B9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369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Dendritic / Langerhans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273552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BRIDGE: APCs that phagocytize, then present antigen to T cells → activates adaptive immunity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219456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587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 → Macrophages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895344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into tissue macrophages (Kupffer/liver, microglia/CNS); phagocytic APCs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57200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NK cells kill 'missing self' — cancer downregulates MHC-I to hide; NK cells detect the absence  |  ★ Dendritic cells = innate-to-adaptive bridge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— Antimicrobial Proteins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— Antimicrobial Proteins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Interferons (IFNs)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System &amp; Fever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by VIRALLY INFECTED cells — warn neighbors to upregulate antiviral defenses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NK cells and macrophages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save the secreting cell — sacrifice themselves to alert the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interferon-alpha used for hepatitis C and certain cancers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inactive plasma proteins activated in a cascade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pathways: Classical (IgG/IgM), Lectin, Alternative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 chemotaxis → opsonization → inflammation → MAC cytolysis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deficiency → recurrent Neisseria infections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Fever: pyrogens reset hypothalamic thermostat ABOVE normal — patient feels cold as temp rises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 vs. Class II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on ALL nucleated cells in the body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what is happening INSIDE the cell (self-antigens + intracellular pathogens/cancer)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CD8+ CYTOTOXIC T cells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infected or abnormal cell is KILLED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'Look INSIDE me' — announces internal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ONLY on APCs (dendritic cells, macrophages, B cells)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fragments of EXTERNALLY captured pathogens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CD4+ HELPER T cells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activates BOTH cytotoxic T cells AND B cells — coordinates entire response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destroys CD4+ → BOTH arms of adaptive immunity fail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 Types &amp; Activation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16, 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286000" cy="749808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 (CD4+)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80467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MHC Class II; activate cytotoxic T AND B cells via interleukins; central coordinator of ALL adaptive immunity — neither arm works without them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2286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8249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Cytotoxic T (CD8+)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7373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MHC Class I; directly kill infected, abnormal, cancerous cells; release perforins &amp; granzymes → apoptosis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2286000" cy="749808"/>
          </a:xfrm>
          <a:prstGeom prst="rect">
            <a:avLst/>
          </a:prstGeom>
          <a:solidFill>
            <a:srgbClr val="5A7FA8"/>
          </a:solidFill>
          <a:ln w="12700">
            <a:solidFill>
              <a:srgbClr val="5A7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1518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 Cells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67004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Long-lived; remember prior antigens; enable faster, stronger secondary response — basis of vaccination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547872"/>
            <a:ext cx="2286000" cy="749808"/>
          </a:xfrm>
          <a:prstGeom prst="rect">
            <a:avLst/>
          </a:prstGeom>
          <a:solidFill>
            <a:srgbClr val="7A8FAA"/>
          </a:solidFill>
          <a:ln w="12700">
            <a:solidFill>
              <a:srgbClr val="7A8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478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 Cells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602736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T-cell response; maintain self-tolerance; failure → autoimmune disease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57200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Activation sequence: APC presents → Helper T activated → Helper activates Cytotoxic T AND B cells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Cells, Plasma Cells &amp; Humoral Immunity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1572768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Antigen Binding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115568"/>
            <a:ext cx="1572768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1481328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 binds antigen; internalizes via endocytosis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01368" y="102412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84248" y="749808"/>
            <a:ext cx="1572768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749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Acts as APC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84248" y="1115568"/>
            <a:ext cx="1572768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170432"/>
            <a:ext cx="1481328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Digests antigen; loads on MHC-II; presents to Helper 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57016" y="102412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39896" y="749808"/>
            <a:ext cx="1572768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749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Clonal Selection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39896" y="1115568"/>
            <a:ext cx="1572768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1170432"/>
            <a:ext cx="1481328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 activates B cell → rapid mitosis → many identical clones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12664" y="102412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95544" y="749808"/>
            <a:ext cx="1572768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5544" y="749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Plasma Cells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95544" y="1115568"/>
            <a:ext cx="1572768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1170432"/>
            <a:ext cx="1481328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clones → plasma cells = antibody factories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68312" y="102412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51192" y="749808"/>
            <a:ext cx="1572768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51192" y="749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Memory B Cells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51192" y="1115568"/>
            <a:ext cx="1572768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96912" y="1170432"/>
            <a:ext cx="1481328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subset → long-lived; faster secondary response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429000"/>
            <a:ext cx="8595360" cy="118872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74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EXAM TIPS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3749040"/>
            <a:ext cx="8366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do NOT kill pathogens directly — they make antibodies that guide other cells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also act as APCs — they digest and present antigen to Helper T cells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cells = antibody factories (short-lived)  |  Memory B cells = long-lived protection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Immunoglobulin Classes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352044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2926080"/>
                <a:gridCol w="3749040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Location / Timing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IgM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Pentamer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Blood; FIRST in primary response (3–6 days)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Complement fixation; agglutination; current/new infection marker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IgG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Monomer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Most abundant in blood; dominates secondary response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Opsonization; complement; ADCC; CROSSES PLACENTA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IgA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Dimer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Secretions: breast milk, tears, saliva, mucus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Mucosal immunity; passive immunity via breast milk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52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Monomer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On mast cells &amp; basophils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0522D"/>
                          </a:solidFill>
                        </a:rPr>
                        <a:t>THE ALLERGY ANTIBODY — triggers anaphylaxis; anti-parasite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IgD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Monomer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On naïve B cells; very low serum levels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 cell activation and maturation signal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3708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G &gt; A &gt; M &gt; E &gt; D (GAMED) by serum abundance  |  IgG crosses placenta  |  IgM = first responder  |  IgE = anaphylaxis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Functions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21–22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14800" cy="109728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49808"/>
            <a:ext cx="91440" cy="109728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Opsonization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15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Coats pathogen → tags for phagocytosis; phagocytes bind the Fc region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114800" cy="109728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9144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115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pathogen surface molecules → prevents host cell entry; key against viruses &amp; toxins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4114800" cy="109728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11680"/>
            <a:ext cx="91440" cy="1097280"/>
          </a:xfrm>
          <a:prstGeom prst="rect">
            <a:avLst/>
          </a:prstGeom>
          <a:solidFill>
            <a:srgbClr val="5A7FA8"/>
          </a:solidFill>
          <a:ln w="12700">
            <a:solidFill>
              <a:srgbClr val="5A7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066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Agglutination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3774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Cross-links multiple pathogens into clumps → easier phagocytosis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114800" cy="109728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011680"/>
            <a:ext cx="91440" cy="1097280"/>
          </a:xfrm>
          <a:prstGeom prst="rect">
            <a:avLst/>
          </a:prstGeom>
          <a:solidFill>
            <a:srgbClr val="2E6B7A"/>
          </a:solidFill>
          <a:ln w="12700">
            <a:solidFill>
              <a:srgbClr val="2E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066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Fixation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3774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and IgM activate classical cascade → inflammation, opsonization, MAC cytolysis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73552"/>
            <a:ext cx="4114800" cy="109728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73552"/>
            <a:ext cx="91440" cy="1097280"/>
          </a:xfrm>
          <a:prstGeom prst="rect">
            <a:avLst/>
          </a:prstGeom>
          <a:solidFill>
            <a:srgbClr val="7A5A8A"/>
          </a:solidFill>
          <a:ln w="12700">
            <a:solidFill>
              <a:srgbClr val="7A5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328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363931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tags infected cell → NK cells bind Fc → kill the cell; bridges adaptive + innate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73552"/>
            <a:ext cx="4114800" cy="109728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273552"/>
            <a:ext cx="91440" cy="1097280"/>
          </a:xfrm>
          <a:prstGeom prst="rect">
            <a:avLst/>
          </a:prstGeom>
          <a:solidFill>
            <a:srgbClr val="6A7A5A"/>
          </a:solidFill>
          <a:ln w="12700">
            <a:solidFill>
              <a:srgbClr val="6A7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328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363931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insoluble antigen-antibody complexes → removed by phagocytes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Hypersensitivity Reactions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356616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1371600"/>
                <a:gridCol w="30175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 — Immediate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IgE on mast cells → allergen → histamine release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Seconds–minutes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Allergies, asthma, anaphylaxis (most common)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II — Cytotoxic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IgG/IgM binds cell surface → complement → cell destruction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Minutes–hours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Transfusion reactions; hemolytic disease of newborn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III — Immune Complex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IgG/IgM complexes deposit in tissues → complement → inflammation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Hours–days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SLE, rheumatoid arthritis, glomerulonephritis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IV — Delayed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 CELL MEDIATED — NO antibodies involved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12–72 HOURS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Poison ivy; TB skin test (PPD); transplant rejection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4074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 DISTINCTION: Types I–III = antibody-mediated.  Type IV = T-cell mediated, DELAYED (12–72 hrs), NO antibodies — this is the most tested distinction.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AIDS, SCID &amp; Active vs. Passive Immunity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27–28, 33–34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Immunodeficiency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Passive Immunity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AIDS: HIV infects CD4+ T helper cells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diagnosis: CD4+ &lt; 200 cells/μL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CD4+ loss collapses BOTH humoral AND cell-mediated immunity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SCID: genetic; BOTH B AND T cells absent at birth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SCID tx: bone marrow transplant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AIDS = acquired, CD4+ only | SCID = genetic, born with it, both B+T absent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immunity: body makes its OWN antibodies + memory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natural: recovery from infection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artificial: vaccination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long-lasting (memory cells formed)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immunity: receive PRE-FORMED antibodies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onset: IMMEDIATE but short-term (2–3 weeks)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antivenom, rabies Ig, IgG across placenta, IgA in breast milk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Anatomy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Zone · Structures · Alveoli · Pleura · Volumes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vs. Respiratory Zones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3,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ZONE — No Gas Exchange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ZONE — Gas Exchange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Nose/nasal cavity → pharynx → larynx → trachea → bronchi → bronchioles → terminal bronchioles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moves but NO gas exchange occurs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mL = anatomical dead 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warms, filters, humidifies air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main bronchus: wider, shorter, more vertical → aspiration goes RIGHT first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at RESPIRATORY BRONCHIOLES (scattered alveoli in walls)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respiratory bronchioles → alveolar ducts → alveolar sacs → alveoli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million alveoli per lung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m² surface area (tennis court)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EXCHANGE occurs here — O₂ in, CO₂ out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Respiratory Tract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2743200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Nasal Cavity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743200" cy="329184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2560320" cy="3145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Conchae (turbinates) increase surface area for filtration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Warms, filters, humidifies inspired air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epithelium in superior concha → smell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Vestibule: guard hairs trap large particles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31520"/>
            <a:ext cx="2743200" cy="347472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731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Pharynx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329184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70432"/>
            <a:ext cx="2560320" cy="3145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Nasopharynx: air ONLY → pseudostratified ciliated epithelium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Oropharynx + Laryngopharynx: air + food → stratified squamous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air only = pseudostratified; air + food = stratified squamous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Eustachian tube → nasopharynx (explains ear infections with colds)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731520"/>
            <a:ext cx="27432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731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Larynx &amp; Epiglottis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329184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70432"/>
            <a:ext cx="2560320" cy="3145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Epiglottis: folds over glottis during swallowing → prevents aspiration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cartilage: largest; Adam's apple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Cricoid cartilage: ONLY complete ring; narrowest in children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vocal cords → phonation; arytenoids control pitch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5262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KNOW: Epiglottis prevents aspiration  |  Conchae increase surface area  |  Nasopharynx = air only = pseudostratified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Trachea &amp; Bronchial Tree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9,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749808"/>
            <a:ext cx="13258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49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(Main) Bronchi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08760" y="8229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152144"/>
            <a:ext cx="1325880" cy="1645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07008"/>
            <a:ext cx="1234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wider, shorter, more vertical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narrower, more horizontal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749808"/>
            <a:ext cx="13258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749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Lobar (Secondary)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71800" y="8229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1152144"/>
            <a:ext cx="1325880" cy="1645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207008"/>
            <a:ext cx="1234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lobe: 3 right, 2 left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have cartilage rings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0" y="749808"/>
            <a:ext cx="13258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749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Segmental (Tertiary)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34840" y="8229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1152144"/>
            <a:ext cx="1325880" cy="1645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1207008"/>
            <a:ext cx="1234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bronchopulmonary segments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resectable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749808"/>
            <a:ext cx="13258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749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Bronchioles → Terminal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97880" y="8229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152144"/>
            <a:ext cx="1325880" cy="1645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207008"/>
            <a:ext cx="1234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cartilage; smooth muscle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conducting zone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749808"/>
            <a:ext cx="1325880" cy="384048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749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Bronchioles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60920" y="8229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1152144"/>
            <a:ext cx="1325880" cy="1645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207008"/>
            <a:ext cx="1234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respiratory zone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alveoli in walls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749808"/>
            <a:ext cx="1325880" cy="384048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749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Ducts → Sacs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98080" y="1152144"/>
            <a:ext cx="1325880" cy="1645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1207008"/>
            <a:ext cx="1234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from resp. bronchioles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to alveoli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2926080"/>
            <a:ext cx="877824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Trachea: 16–20 C-rings; pseudostratified ciliated epithelium + goblet cells = mucociliary escalator; carina = bifurcation point (T4–T5); rich in cough receptors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" y="3383280"/>
            <a:ext cx="8778240" cy="1298448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429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EXAM TIPS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2608" y="3703320"/>
            <a:ext cx="8549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connects larynx to bronchi? → Trachea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branches into alveolar ducts? → Respiratory bronchioles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airway leading directly to alveoli? → Bronchioles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Cell Types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Alveolar Cells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(Squamous Pneumocytes)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71016"/>
            <a:ext cx="2743200" cy="31089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5603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alveolar surface area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Ultra-thin simple squamous epithelium (~0.5 µm)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 GAS EXCHANGE — O₂ in, CO₂ out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divide; replaced by Type II when damaged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diffusion distance = rapid exchange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43200" cy="50292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Alveolar Cells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(Great/Cuboidal Pneumocytes)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271016"/>
            <a:ext cx="2743200" cy="31089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25880"/>
            <a:ext cx="25603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alveolar surface area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SURFACTANT (phospholipids + proteins)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Surfactant ↓ surface tension → prevents collapse on exhalation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cell of the alveolus — regenerates Type 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NRDS: premature infants lack surfactant → alveolar collapse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749808"/>
            <a:ext cx="2743200" cy="502920"/>
          </a:xfrm>
          <a:prstGeom prst="rect">
            <a:avLst/>
          </a:prstGeom>
          <a:solidFill>
            <a:srgbClr val="6A7A8A"/>
          </a:solidFill>
          <a:ln w="12700">
            <a:solidFill>
              <a:srgbClr val="6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Macrophages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(Dust Cells)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71016"/>
            <a:ext cx="2743200" cy="310896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25880"/>
            <a:ext cx="25603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numerous lung cell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alveolar lumen; phagocytize dust, bacteria, debris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break down inorganic material (coal, asbestos) → fibrosis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responsible for gas exchange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'dust cells'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50799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KNOW: Type I = gas exchange  |  Type II = surfactant  |  Dust cells ≠ gas exchange cells  |  Primary site of gas exchange = ALVEOLI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Membranes &amp; Lung Anatomy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11, 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Membranes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Gross Anatomy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Visceral pleura: covers lung surface directly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 pleura: lines thoracic wall, diaphragm, mediastinum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cavity: contains 5–15 mL fluid ONLY (not air)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Intrapleural pressure: always NEGATIVE (~–4 mmHg at rest)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negative: lungs pull inward, chest wall pulls outward — tug-of-war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Pneumothorax: air enters cavity → negative pressure lost → lung collapses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effusion: excess fluid compresses lung (CHF, infection, malignancy)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lung: 3 lobes (superior, middle, inferior); shorter and wider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lung: 2 lobes (superior, inferior) — NO middle lobe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notch on left lung accommodates the heart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Lingula: tongue-like tip of left superior lobe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Apex: projects ~2.5 cm above clavicle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Hilum: where bronchus, pulmonary vessels, lymphatics enter/exit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KNOW: Which lobe is absent in left lung? → Middle lobe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Volumes &amp; Capacities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397764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1463040"/>
                <a:gridCol w="4206240"/>
              </a:tblGrid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Abbreviation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Definition / Clinical Note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TV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Tidal Volume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~500 mL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Air inhaled/exhaled during NORMAL quiet breathing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IRV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Inspiratory Reserve Volume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~3,100 mL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Extra air forcibly inhaled BEYOND TV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ERV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Expiratory Reserve Volume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~1,200 mL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Extra air FORCIBLY EXHALED after normal exhalation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RV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Residual Volume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~1,200 mL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Air REMAINING after maximum exhalation; cannot be measured by spirometer alone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Functional Residual Capacity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ERV+RV ~2,400 mL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Air remaining after NORMAL (passive) exhalation; maintains gas exchange between breaths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Vital Capacity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IRV+TV+ERV ~4,800 mL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Max air moved in ONE breath; reduced in BOTH restrictive AND obstructive disease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TLC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Total Lung Capacity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All 4 ~6,000 mL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↑ in emphysema (air trapping) | ↓ in fibrosis (stiff lungs)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Physiology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· Gas Laws · Transport · Neural Control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Respiration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37744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Muscle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Inspiration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Expiration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Diaphragm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PRIMARY — 2/3 airflow; phrenic nerve C3,4,5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Contracts (flattens) → ↑ thoracic volume vertically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RELAXES (domes up) → passive elastic recoil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External Intercostals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PRIMARY — 1/3 airflow; intercostal nerves T1–T11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Contract → elevate ribs up &amp; out → ↑ A-P diameter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Relax during quiet expiration (passive)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Internal Intercostals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Active (FORCED) expiration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Inactive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Contract → depress ribs → ↓ thoracic volume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SCM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Accessory — respiratory DISTRESS sign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Elevates sternum; visible neck tension = distress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Not used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</a:rPr>
                        <a:t>Abdominals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Accessory forced expiration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Not used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Compress abdomen → push diaphragm up → force air out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133088"/>
            <a:ext cx="8595360" cy="64008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178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EXAM TIPS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4453128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inspiration: Diaphragm + External Intercostals ONLY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expiration: PASSIVE — elastic recoil, no muscles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expiration: Internal Intercostals + Abdominals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C3, 4, 5 keeps the diaphragm alive — injury above C3 = immediate respiratory arrest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Space &amp; Ventilation Calculations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Space &amp; Ventilation Calculations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Examples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dead space: ~150 mL — conducting airways; no gas exchange; warms &amp; humidifies air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dead space: anatomical + non-functioning alveoli (PE, emphysema, COPD)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= TV × RR — total air per minute including dead 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= (TV − Dead Space) × RR — air ACTUALLY reaching alveoli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is ALWAYS less than MRV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shallow breathing: dead space fraction increases → AVR drops dangerously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TV=500 mL, RR=12 bpm, Dead Space=150 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= 500 × 12 = 6,000 mL/min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= (500−150) × 12 = 4,200 mL/min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mL/min wasted in dead 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TV=250, RR=30 → MRV=7,500 but AVR=(250−150)×30=3,000 mL/min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breathing — but barely ventilating alveoli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Laws &amp; Alveolar Gas Exchange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Slides 8–9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Dalton's &amp; Henry's Laws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Factors Affecting Diffusion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Dalton's Law: total pressure = sum of all partial pressures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= ~21% of air × 760 mmHg = ~159 mmHg PO₂ at sea level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gas acts independently — O₂ and CO₂ exchange simultaneously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Henry's Law: gases dissolve into liquid in proportion to partial pressure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PO₂ alveoli (104 mmHg) &gt; PO₂ blood (40 mmHg) → O₂ moves INTO blood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PCO₂ blood (45 mmHg) &gt; PCO₂ alveoli (40 mmHg) → CO₂ moves INTO alveoli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pressure gradient: primary driver — larger gradient = faster diffusion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area: ~70 m² healthy lungs; emphysema destroys 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thickness: normal ~0.5 µm; pulmonary edema/fibrosis thickens it → hypoxia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solubility: CO₂ is ~20× more soluble than O₂; moves fast despite small gradient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V/Q matching: ventilation must match perfusion; PE, pneumonia, ARDS cause mismatch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Altitude: ↓ atmospheric pressure → ↓ PO₂ gradient → less O₂ loading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Transport &amp; Bohr Effect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Transport &amp; Bohr Effect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Transport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Bohr Effect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~98.5% of O₂ bound to hemoglobin in RBCs as oxyhemoglobin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 dissolved in plasma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Hb carries up to 4 O₂ (one per heme group)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O₂ = 100% saturated | 3 = 75% | 2 = 50%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Oxyhemoglobin dissociation curve: S-shaped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shift: ↑CO₂, ↓pH, ↑temp, ↑BPG → Hb RELEASES O₂ (at active tissues)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shift: ↓CO₂, ↑pH, ↓temp, ↓BPG → Hb HOLDS O₂ (at lungs)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tissues produce CO₂ and H⁺ → lower pH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pH RIGHT-shifts the curve → Hb releases O₂ more readily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delivers more O₂ exactly where metabolism is highest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BPG (2,3-DPG): produced by RBCs; ↑ in chronic hypoxia/anemia → right shift → more O₂ released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pearl: harder the tissue works → more CO₂ → more H⁺ → more O₂ delivered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Poisoning &amp; CO₂ Transport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Slides 11–12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Poisoning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Transport (3 Routes)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binds Hb 210× more tightly than O₂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Colorless, odorless — patient has no warning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Carboxyhemoglobin: Hb taken off-line → tissues starved of O₂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Pulse ox reads falsely NORMAL — cannot distinguish COHb from OHb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co-oximeter (ABG) for real reading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100% O₂ (drops COHb half-life 5 hrs → 90 min)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Hyperbaric O₂: drops half-life to ~20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as bicarbonate (HCO₃⁻) in plasma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as carbaminohemoglobin (binds globin, NOT heme — no competition with O₂)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dissolved in plasma (this is the PCO₂ on blood gas)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CO₂ → RBC → + H₂O → H₂CO₃ → H⁺ + HCO₃⁻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HCO₃⁻ exits RBC → Cl⁻ enters = CHLORIDE SHIFT (electrical neutrality)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H⁺ binds Hb (buffered) + triggers Bohr Effect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Centers — Neural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 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27432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VRG
</a:t>
            </a:r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Ventral Respiratory Group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Medulla Oblongata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2743200" cy="2907792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81328"/>
            <a:ext cx="2560320" cy="2798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PACEMAKER — sets basic rhythm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both inhalation AND forced exhalation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phrenic nerve (C3–C5) → diaphragm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intercostal nerves (T1–T11) → external intercostals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43200" cy="658368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749808"/>
            <a:ext cx="27432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
</a:t>
            </a:r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Dorsal Respiratory Group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Medulla Oblongata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26464"/>
            <a:ext cx="2743200" cy="2907792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81328"/>
            <a:ext cx="2560320" cy="2798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initiates inspiration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VRG rhythm based on sensory input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Receives: chemoreceptors, stretch receptors, irritant receptors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 quiet, restful breathing adjustments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749808"/>
            <a:ext cx="2743200" cy="658368"/>
          </a:xfrm>
          <a:prstGeom prst="rect">
            <a:avLst/>
          </a:prstGeom>
          <a:solidFill>
            <a:srgbClr val="5A7FA8"/>
          </a:solidFill>
          <a:ln w="12700">
            <a:solidFill>
              <a:srgbClr val="5A7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749808"/>
            <a:ext cx="27432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
</a:t>
            </a:r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Pontine Respiratory Group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26464"/>
            <a:ext cx="2743200" cy="2907792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481328"/>
            <a:ext cx="2560320" cy="2798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and SMOOTHS breathing patterns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abrupt transitions — smooth rhythm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from hypothalamus, limbic system, cortex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Mediates speech, sleep, emotion, exercise breathing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4622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Opioids suppress PRG and VRG → respiratory depression → reversal with naloxone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Input &amp; Chemoreceptors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 16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Chemoreceptors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Chemoreceptors &amp; Sensory Receptors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medulla oblongata — bathed in CSF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pH changes in CSF — indirect CO₂ measure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crosses blood-brain barrier → forms H₂CO₃ → H⁺ → ↓ CSF pH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is the PRIMARY driver of breathing in healthy people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 exception: chronic CO₂ retention desensitizes central receptors → patient relies on hypoxic drive → target SpO₂ 88–92% in hypercapnic COPD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carotid bodies (CN IX) and aortic bodies (CN 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changes in O₂, CO₂, AND pH in blood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hypoxia (low O₂) — altitude, anemia, 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receptors: prevent lung overfilling (Hering-Breuer reflex)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Irritant receptors: dust/smoke/cold air → bronchoconstriction, coughing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feedback goes to DRG → adjusts VRG rhythm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Patterns &amp; Respiratory Diseases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73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Slides 17–18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A. Bates, DC  |  BIOS 255 – Anatomy &amp; Physiology III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41148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Definition &amp; Clinical Significance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Kussmaul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Deep, labored, rapid — compensatory hyperventilation for metabolic acidosis (DKA)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Cheyne-Stokes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Progressively deeper → decreasing → apnea cycling; severe heart failure, dying patients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Orthopnea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Dyspnea lying flat; classic heart failure sign — 'how many pillows do you sleep with?'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Hyperventilation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Blows off CO₂ → ↑ pH → respiratory alkalosis; anxiety, tingling lips, carpopedal spasm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Hypoventilation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Retains CO₂ → ↓ pH → respiratory acidosis; opioids, obesity hypoventilation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731520"/>
            <a:ext cx="420624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731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Respiratory Diseases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15568"/>
            <a:ext cx="137160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80760" y="11521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bronchitis + emphysema; FEV₁/FVC &lt; 70%; air trapping; ↑RV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664208"/>
            <a:ext cx="137160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6642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80760" y="17007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Alveoli fill with fluid → impaired diffusion; crackles on auscultation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2212848"/>
            <a:ext cx="137160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2212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Fibrosis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80760" y="22494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Scarring thickens membrane → restrictive pattern; ↓VC; normal flow rates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2761488"/>
            <a:ext cx="137160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/ ARDS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080760" y="27980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Type II cells → ↓ surfactant → collapse; bilateral infiltrates; profound hypoxia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310128"/>
            <a:ext cx="137160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080760" y="3346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destruction → ↓ elastic recoil + ↓ surface area = obstructive + restrictive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4041648"/>
            <a:ext cx="8595360" cy="68580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087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EXAM TIPS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4048" y="4361688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Restrictive: all volumes ↓ proportionally; stiff lungs; FEV₁/FVC normal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Obstructive: FEV₁/FVC &lt; 70%; air trapping; RV and FRC ↑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 = BOTH (obstructive air trapping + restrictive ↓ surface area)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20040"/>
          </a:xfrm>
          <a:prstGeom prst="rect">
            <a:avLst/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Immune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115568"/>
            <a:ext cx="2596896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lines: barrier → innate → adaptive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Innate: no memory | Adaptive: memory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I + CD8 = kill cell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II + CD4 = coordinate response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IgM=first | IgG=placenta | IgA=secretions | IgE=allergy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IV = T-cell, delayed, NO antibodies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AIDS: CD4+&lt;200 | SCID: both B+T absent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743200" cy="320040"/>
          </a:xfrm>
          <a:prstGeom prst="rect">
            <a:avLst/>
          </a:prstGeom>
          <a:solidFill>
            <a:srgbClr val="5A7FA8"/>
          </a:solidFill>
          <a:ln w="12700">
            <a:solidFill>
              <a:srgbClr val="5A7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Anatomy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73552" y="1115568"/>
            <a:ext cx="2596896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zone = dead space (~150 mL)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bronchioles = start of gas exchange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= gas exchange | Type II = surfactant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Visceral pleura covers lung; parietal covers wall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Intrapleural pressure always NEGATIVE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lung = 2 lobes (no middle)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FRC = air after normal exhalation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777240"/>
            <a:ext cx="27432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Physiology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99632" y="1115568"/>
            <a:ext cx="2596896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inspiration: diaphragm + ext. intercostals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expiration: PASSIVE elastic recoil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Phrenic nerve C3,4,5 = diaphragm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is primary driver of breathing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Bohr Effect: ↑CO₂→right shift→↑O₂ release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CO₂ as HCO₃⁻ | chloride shift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VRG=pacemaker | DRG=sensory | PRG=smooth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 255 Exam 3 Review Guide</dc:title>
  <dc:subject>PptxGenJS Presentation</dc:subject>
  <dc:creator>PptxGenJS</dc:creator>
  <cp:lastModifiedBy>PptxGenJS</cp:lastModifiedBy>
  <cp:revision>1</cp:revision>
  <dcterms:created xsi:type="dcterms:W3CDTF">2026-04-15T19:53:24Z</dcterms:created>
  <dcterms:modified xsi:type="dcterms:W3CDTF">2026-04-15T19:53:24Z</dcterms:modified>
</cp:coreProperties>
</file>