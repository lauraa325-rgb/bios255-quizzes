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9144000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— Week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Exam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Guide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guide to focus your study — not to replace reading the lecture.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1879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251 — Chemistry, Cell Biology &amp; Tissues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&amp; Macromolecules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251 CO 1–2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&amp; Atomic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Cation: positive charge, fewer electrons than protons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Anion: negative charge, MORE electrons than protons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Isotope: same element, different neutron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Isomer: same molecular formula, different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(anabolic): smaller → larger molecules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Decomposition: larger → smaller molecules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Exchange: two compounds swap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Ionic/Covalent: bond type determines reaction chemistry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Macromolecules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926080"/>
            <a:ext cx="3977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Carbohydrates: energy; simple sugars (monosaccharides)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Lipids: fatty acids + glycerol; fat-soluble vitamins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Proteins: 1°, 2°, 3°, 4° structural organization — ONLY macromolecule with all four levels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Nucleic acids: DNA/RNA; genetic info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6888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&amp; Chemical Concepts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926080"/>
            <a:ext cx="3977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H⁺ donor; base: H⁺ acceptor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scale: 0–14; 7 = neutral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resist rapid pH change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activity is pH- and temperature-dependent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 = MORE electrons = negative charge. Proteins are the ONLY macromolecule with all four structural levels. Synthesis reactions build; decomposition breaks down.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Biology &amp; Membrane Transport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251 CO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Organelles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256032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Nucleus: genetic control center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Mitochondria: ATP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Ribosomes: protein synthesis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Golgi apparatus: packages/ships proteins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Lysosomes: digestion/waste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(rough): protein synthesis; (smooth): lipids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Centrioles: cell division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6517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777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Transport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234440"/>
            <a:ext cx="24688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Diffusion: high → low concentration (passive)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Osmosis: water movement across membrane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transport: carrier proteins, passive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transport: requires ATP, against gradient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Filtration: pressure-driven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468880"/>
            <a:ext cx="26517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24688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Tonicity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926080"/>
            <a:ext cx="24688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Isotonic: cell stays same — no net water movement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Hypotonic: cell swells → may lyse (less solute outside)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Hypertonic/hyperosmotic: cell shrinks/crenates (more solute outside)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777240"/>
            <a:ext cx="2834640" cy="38404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44768" y="1234440"/>
            <a:ext cx="26517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Mitosis: 2 genetically IDENTICAL daughter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Meiosis: 4 genetically unique cells (sex cells 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fission: prokaryotic cell division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Interphase: G1 → S (DNA replication) → G2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Mitotic phases: Prophase, Metaphase, Anaphase, Telophase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Cytokinesis: cytoplasm division follows mitosis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 = water movement; isotonic = no net change; hypertonic solution → cell crenates. Mitosis = 2 identical cells. Active transport = ATP required.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Integumentary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251 CO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Epidermal Layers (deep → superficial)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basale: deepest; mitosis occurs here; stem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spinosum: keratin production begins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granulosum: keratinization intensifies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lucidum: only in thick skin (palms/soles)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corneum: outermost; dead, keratinized cells — forms calluses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Glands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Eccrine sweat glands: thermoregulation; found everywhere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Apocrine sweat glands: axilla/groin; activate at puberty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Sebaceous glands: produce SEBUM (oily/waxy); lubricate skin &amp; hair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Ceruminous glands: ear canal; produce cerumen (earwax)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Mammary glands: modified sweat glands; produce milk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3464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Functions &amp; Connective Tissue Types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291840"/>
            <a:ext cx="8412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protection, thermoregulation, vitamin D synthesis, sensation, excretion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fibers: Collagen (strength, most abundant), Elastic (stretch/recoil), Reticular (scaffolding)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Albumin: plasma protein (transport/osmotic pressure) — NOT a structural fiber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Calluses = stratum corneum (dead cells piling up). Sebaceous glands → sebum. Stratum basale = mitosis. Albumin is a plasma protein, not a connective tissue fiber.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251 CO 4–5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bones: femur, humerus, tibia, fibula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bones: CARPALS, TARSALS — wrist and ankle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bones: sternum, scapula, skull bones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bones: vertebrae, facial bones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Cells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Osteoblasts: BUILD bone; secrete extracellular matrix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Osteoclasts: BREAK DOWN bone (resorption)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Osteocytes: mature bone cells; maintain matrix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Osteogenic/osteoprogenitor cells: stem cells; become osteoblasts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1460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514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Bone Anatomy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971800"/>
            <a:ext cx="397764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Diaphysis: shaft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Epiphysis: 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Epiphyseal plate (growth plate): cartilage; LENGTHENS bone during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Periosteum: outer covering (appositional growth)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Endosteum: inner lining; lines medullary cavity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1460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514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&amp; Joints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971800"/>
            <a:ext cx="397764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skeleton: skull, vertebral column, rib cage (80 bones)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Appendicular skeleton: limbs, girdles (126 bones) — includes femur, humerus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Ball-and-socket joints: shoulder (glenohumeral) &amp; hip — MOST movement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Hinge: elbow, knee; Pivot: atlas/axis; Saddle: thumb; Gliding: wrist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bones = carpals/tarsals. Osteoblasts BUILD; osteoclasts BREAK. Growth plate = epiphyseal plate. Shoulder &amp; hip = ball-and-socket. Appendicular includes all limb bones.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252 — Muscular, Nervous &amp; Endocrine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 System — Structure &amp; Contraction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252 CO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Wrappings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Endomysium: wraps INDIVIDUAL muscle fibers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Perimysium: wraps fascicles (bundles of fibers)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Epimysium: wraps entire muscle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Mnemonic: Individual → Fascicle → Muscle = Endo → Peri → Epi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Sarcomere &amp; Contraction Proteins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Troponin: BINDS CALCIUM → initiates contraction; moves tropomyosin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Tropomyosin: covers myosin-binding sites at rest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Actin: thin filament; sliding filament 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Myosin: thick filament; power stroke motor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stored in sarcoplasmic reticulum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Types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Isotonic: muscle changes LENGTH (concentric = shortens; eccentric = lengthens)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Isometric: muscle generates force, NO change in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Isokinetic: constant speed; resistance changes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Muscle Groups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Hamstrings: biceps femoris, semimembranosus, semitendinosus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Quadriceps: vastus lateralis/medialis/intermedius + rectus femoris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Triceps surae: gastrocnemius + soleus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NMJ: acetylcholine (ACh) released to initiate contraction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 binds Ca²⁺. Isometric = no length change. Endomysium = individual fiber. Hamstrings = biceps femoris + semimembranosus + semitendinosus. NMJ neurotransmitter = ACh.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Potentials &amp; Nervous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252 CO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 Phases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Resting: ~−70 mV; Na⁺ out, K⁺ in (Na⁺/K⁺ ATPase)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~−55 mV; point of no return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Depolarization: Na⁺ rushes IN → membrane becomes MORE POSITIVE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Repolarization: K⁺ rushes out → returns toward resting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Hyperpolarization: briefly more negative than resting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period: absolute (no AP) → relative (strong stim only)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Channel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Voltage-gated: open/close in response to membrane potential change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Ligand-gated: open when neurotransmitter binds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Mechanically-gated: respond to PRESSURE or STRETCH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channels: always open; maintain resting potential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85953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74320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— Sympathetic vs. Parasympathetic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20040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Sympathetic: fight-or-flight; epinephrine/norepinephrine; ↑ HR, ↑ BP, ↑ glucose; thoracolumbar origin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Parasympathetic: rest-and-digest; acetylcholine; conserves energy; craniosacral origin; vagus nerve (CN X) = major parasympathetic nerve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activities (eating, relaxing, sleeping) = parasympathetic dominant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Depolarization = membrane becomes MORE POSITIVE (Na⁺ in). Mechanically-gated channels respond to pressure/stretch. Vagus (CN X) = parasympathetic. Rest &amp; digest = parasympathetic.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CNS, Cranial Nerves &amp; Sensory Structures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252 CO 3–4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Lobes &amp;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Frontal: motor control, personality, executive function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Parietal: somatosensory (touch, pressure, proprioception)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auditory processing,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Occipital: VISION processing (primary visual cortex)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Insula: pain, interoception, taste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Cranial Nerves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 Olfactory — smell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II Optic — vision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III Oculomotor — eye movement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 Trigeminal — face sensation/chewing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VII Facial — facial expression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X Vagus — major parasympathetic; viscera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numbers I, III, V, VII are commonly tested pairings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Structures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Sclera: white portion of the eye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Cornea: transparent anterior covering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Choroid: vascular, pigmented middle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Retina: photoreceptor layer — rods &amp; cones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Cones: COLOR vision, bright light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Rods: dim light, peripheral vision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Meninges &amp; Nerve Types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mater: outermost, toughest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Arachnoid mater: middle; subarachnoid space = CSF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 mater: DIRECTLY on brain/spinal cord surface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 nerves: sensory info → CNS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Efferent nerves: motor commands → away from CNS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lobe = vision. Pia mater = on the brain surface. Cones = color/bright light. Sclera = white of eye. Afferent = sensory TO CNS; efferent = motor FROM CNS.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System — Hormones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252 CO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Hormones &amp; Glands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(adrenaline): adrenal medulla; fight-or-flight; ↑ HR &amp; BP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Insulin: pancreatic beta cells; enables glucose UPTAKE into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Glucagon: pancreatic alpha cells; ↑ blood glucose (glycogenolysis)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Melatonin: pineal gland; regulates sleep-wake cycles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Antidiuretic hormone (ADH): posterior pituitary; water REABSORPTION by kidneys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Oxytocin: posterior pituitary; uterine contractions, milk ejection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Prolactin: anterior pituitary; stimulates MILK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FSH: anterior pituitary; stimulates follicle growth / spermatogenesis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Calcitonin: thyroid; LOWERS blood calcium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Estrogen: ovaries; female sex characteristics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Hormone Pairings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→ kidney tubules → water reabsorption (NOT calcium)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→ cells take up glucose (lowers blood glucose)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 → liver releases glucose (raises blood glucose)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 → osteoblasts → ↓ blood Ca²⁺ (NOT resorption)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→ osteoclasts → ↑ blood Ca²⁺ (resorption)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 → mammary glands → milk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 → gonads → gamete production (NOT glucose synthesis)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≠ insulin: they have OPPOSITE glucose effects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Fight-or-flight hormones: epinephrine + norepinephrine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= fight-or-flight = ↑ HR &amp; BP. Insulin = lowers glucose. ADH = water reabsorption (NOT calcium). Prolactin = milk. Distinguish hormone from its function on every question.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— Cardiovascular, Lymphatic &amp; Immune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Bates, DC  ·  BIOS 255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Blood, Cardiovascular Physiology &amp; Heart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A: A antigens, anti-B antibodies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B: B antigens, anti-A antibodies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AB: A &amp; B antigens, NO antibodies — UNIVERSAL RECIPIENT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O: NO antigens, anti-A &amp; anti-B — universal donor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Rh+: has Rh antigen; Rh−: lacks Rh antigen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Valves &amp; Chambers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side: tricuspid (AV) → pulmonary semilunar → pulmonary artery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side: MITRAL/bicuspid (AV) → aortic semilunar → aorta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valves prevent backflow from ventricle → atrium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Semilunar valves prevent backflow from arteries → ventricles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&amp; Blood Pressure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292608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wave: atrial DEPOLARIZATION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complex: ventricular DEPOLARIZATION (largest wave)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wave: ventricular repolarization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pressure = systolic − diastolic BP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diastolic + 1/3 pulse pressure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6888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Structure &amp; Fluid Movement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2926080"/>
            <a:ext cx="39776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Tunica interna (intima): endothelium; innermost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Tunica media: SMOOTH MUSCLE; controls vessel RADIUS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Tunica externa (adventitia): connective tissue; outermost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Hydrostatic pressure → filtration (out of capillary)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Colloid osmotic pressure (COP) → draws fluid BACK into capillary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= universal recipient. Mitral valve = left AV valve. QRS = ventricular depolarization. Tunica media = smooth muscle = controls radius. COP draws fluid back into capillary.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Leukocytes &amp; Formed Elements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Leukocyte Types &amp;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Neutrophils: FIRST RESPONDER; phagocytize bacteria; most abundant WBC; elevated = bacterial infection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Eosinophils: parasites &amp; allergic reactions; elevated = allergy or parasitic infection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Basophils: release histamine + heparin; involved in allergies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Monocytes: circulate → become macrophages in tissues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Lymphocytes: T cells (cell-mediated) &amp; B cells (humoral); NK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Thrombocytes (platelets): clotting; NOT a true cell — cell fragments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Anemias &amp; RBC Pathology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Hemorrhagic anemia: excessive LOSS of RBCs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deficiency anemia: inadequate hemoglobin production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Pernicious anemia: B12 deficiency; lack of intrinsic factor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Aplastic anemia: bone marrow failure — all formed elements 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Thalassemia: genetic; abnormal hemoglobin chains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cell: genetic; abnormal Hb-S; RBCs sickle under low O₂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RBC lifespan: ~120 days; made in red bone marrow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 = first WBC responder to bacterial infection. Hemorrhagic anemia = RBC loss. Thrombocytes = platelets = clotting. Monocyte → macrophage in tissues.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vs. Respiratory Zone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zone: nasal cavity → pharynx → larynx → trachea → bronchi → terminal bronchioles (no gas exchange)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zone: respiratory bronchioles → alveolar ducts → ALVEOLI (gas exchange occurs here)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Diaphragm: muscle of ventilation — contracts to INHALE (NOT a respiratory zone structure)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Alveolar Cells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alveolar cells: thin; gas exchange surface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alveolar cells: secrete PULMONARY SURFACTANT (reduces surface tension)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cells (alveolar macrophages): phagocytize debris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Surfactant deficiency: RDS (neonatal respiratory distress syndrome)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85953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65176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 Cavity Functions &amp; Gas Exchange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108960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Nasal cavity: warms, humidifies, and filters air; olfaction; does NOT contract or exchange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exchange: O₂ and CO₂ cross alveolar/capillary membrane by SIMPLE DIFFUSION (high → low concentration)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Hemoglobin: in RBCs; O₂ binds Fe²⁺ in heme group; CO₂ transported mainly as bicarbonate (HCO₃⁻)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zone = alveoli (gas exchange). Type II cells = surfactant. Nasal cavity = filter/warm/humidify air only. Diaphragm contracts → ↓ thoracic pressure → inhalation.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 System — Structure &amp; Function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 Structures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capillaries: absorb excess interstitial fluid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nodes: filter lymph; site of lymphocyte activation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Spleen: filters BLOOD (not lymph); destroys old RBCs; stores blood; immune surveillance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Thymus: T cell maturation (education)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Tonsils: lymphoid tissue; trap pathogens in pharynx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Cisterna chyli: large lymph cistern at L1–L2; drains GI lymph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Lacteals: absorb DIETARY FATS in small intestine villi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Peyer's patches: lymphoid tissue in small intestine wall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 Ducts &amp; 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duct: largest lymphatic duct; drains LEFT side of body + lower body (everything EXCEPT right upper quadrant)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lymphatic duct: drains RIGHT upper quadrant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lymph capillaries → vessels → nodes → ducts → subclavian veins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 flow propelled by: skeletal muscle contractions, respiratory movements, smooth muscle in vessel walls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Valves: PREVENT BACKFLOW in lymphatic vessels (one-way flow)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Lacteals = absorb fat. Spleen = filters blood (NOT lymph). Right lymphatic duct = right upper quadrant. Thoracic duct = everything else. Valves prevent backflow.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 — Three Lines of Defense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— Barriers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256032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Skin: keratin + acid mantle (pH 3–5)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Mucous membranes: mucus traps pathogens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Ciliary escalator: sweeps particles up → swallowed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 acid (pH 1.5–3.5): destroys most ingested pathogens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Lysozyme: cleaves bacterial cell walls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microbiota: compete with pathogens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83464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777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Line — Internal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234440"/>
            <a:ext cx="265176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Neutrophils: first WBC to infection site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Macrophages: phagocytize, present antigens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 cells: kill infected/cancerous cells; no prior exposure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30 proteins → MAC, opsonization, chemotaxis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Interferons: warn neighboring cells of virus; activate NK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Inflammation: heat, redness, swelling, pain (↑ blood flow)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Fever: pyrogens → hypothalamic set point 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777240"/>
            <a:ext cx="2651760" cy="384048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777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Line — Adaptive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234440"/>
            <a:ext cx="246888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 targets one antigen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days for primary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Immunological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Humoral: B cells → antibodies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Cell-mediated: T cells kill infected cells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= no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= specific + memory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= nonspecific, no memory. Adaptive = specific, memory. NK cells need no prior exposure. Complement → MAC + opsonization + chemotaxis. NSAIDs block prostaglandins → ↓ fever &amp; pain.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— T Cells, B Cells &amp; MHC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 vs. Class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I: on ALL nucleated cells; displays intracellular threats; recognized by CD8+ cytotoxic T cells → KILL infected cell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II: on APCs ONLY (dendritic cells, macrophages, B cells); displays external antigens; recognized by CD4+ helper T cells → COORDINATE response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234440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 (CD4+): binds MHC-II; activates cytotoxic T AND B cells; master coordinator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T (CD8+): binds MHC-I; kills infected/abnormal cells; releases perforins &amp; granzymes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 cells: long-lived; faster/stronger secondary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 cells: suppress excessive activation; failure → autoimmunity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 Activation &amp; Antibody Classes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IgM: first antibody in primary response (3–6 days); pentamer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IgG: most abundant; crosses placenta; dominates secondary response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IgA: mucosal; breast milk; secretions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IgE: allergy antibody; triggers mast cell degranulation → anaphylaxis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GAMED: abundance order (G &gt; A &gt; M &gt; E &gt; 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60320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560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Passive Immunity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017520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natural: recovery from infection → your own antibodies +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artificial: vaccination → your own antibodies +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natural: maternal IgG via placenta; IgA via breast milk — NO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artificial: antivenom, rabies Ig — IMMEDIATE but short-term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 + CD8 = kill; MHC-II + CD4 = coordinate. IgE = allergy. IgG crosses placenta. Breast milk IgA = natural passive immunity. HIV destroys CD4+ → both arms of adaptive immunity fail.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Pathology — Hypersensitivity &amp; Autoimmunity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CO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Hypersensitivity Reactions — Types I–IV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7373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— Immediate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2834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IgE-mediated; mast cell degranulation; histamine release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11430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1430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Seconds–minutes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143000"/>
            <a:ext cx="27889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1143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Allergies, asthma, anaphylaxis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18488"/>
            <a:ext cx="1737360" cy="457200"/>
          </a:xfrm>
          <a:prstGeom prst="rect">
            <a:avLst/>
          </a:prstGeom>
          <a:solidFill>
            <a:srgbClr val="EAF3EC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618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— Cytotoxic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0" y="1618488"/>
            <a:ext cx="2834640" cy="457200"/>
          </a:xfrm>
          <a:prstGeom prst="rect">
            <a:avLst/>
          </a:prstGeom>
          <a:solidFill>
            <a:srgbClr val="EAF3EC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1618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IgG/IgM bind cell surfaces → complement activation → cell destruction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618488"/>
            <a:ext cx="1143000" cy="457200"/>
          </a:xfrm>
          <a:prstGeom prst="rect">
            <a:avLst/>
          </a:prstGeom>
          <a:solidFill>
            <a:srgbClr val="EAF3EC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618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Minutes–hours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1618488"/>
            <a:ext cx="2788920" cy="457200"/>
          </a:xfrm>
          <a:prstGeom prst="rect">
            <a:avLst/>
          </a:prstGeom>
          <a:solidFill>
            <a:srgbClr val="EAF3EC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1618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transfusion reactions; hemolytic disease of newborn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93976"/>
            <a:ext cx="173736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0939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 — Immune Complex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0" y="2093976"/>
            <a:ext cx="2834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6544" y="20939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Antigen-antibody complexes deposit in tissues → complement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093976"/>
            <a:ext cx="11430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09397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Hours–days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2093976"/>
            <a:ext cx="27889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4184" y="209397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Lupus (SLE); RA; glomerulonephritis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569464"/>
            <a:ext cx="1737360" cy="457200"/>
          </a:xfrm>
          <a:prstGeom prst="rect">
            <a:avLst/>
          </a:prstGeom>
          <a:solidFill>
            <a:srgbClr val="F3E8F5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56946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IV — Delayed / T-Cell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2569464"/>
            <a:ext cx="2834640" cy="457200"/>
          </a:xfrm>
          <a:prstGeom prst="rect">
            <a:avLst/>
          </a:prstGeom>
          <a:solidFill>
            <a:srgbClr val="F3E8F5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66544" y="25694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 mediated — NO antibodies involved; T cells recruited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2569464"/>
            <a:ext cx="1143000" cy="457200"/>
          </a:xfrm>
          <a:prstGeom prst="rect">
            <a:avLst/>
          </a:prstGeom>
          <a:solidFill>
            <a:srgbClr val="F3E8F5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56946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12–72 hours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2569464"/>
            <a:ext cx="2788920" cy="457200"/>
          </a:xfrm>
          <a:prstGeom prst="rect">
            <a:avLst/>
          </a:prstGeom>
          <a:solidFill>
            <a:srgbClr val="F3E8F5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44184" y="256946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ivy; TB skin test (PPD); transplant rejection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06324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063240"/>
            <a:ext cx="85953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" y="306324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Disease Highlights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" y="3520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failure of negative T cell selection or Treg insufficiency → immune system attacks self-antigens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MS: myelin sheath — CNS demyelination  |  Myasthenia Gravis: ACh receptors at NMJ  |  SLE: multiple organs; butterfly rash; anti-dsDNA antibodies (Type III)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Hashimoto's: thyroid → hypothyroidism  |  Graves': TSH receptors → hyperthyroidism; exophthalmos  |  RA: synovial joints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6F4F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2702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focus: </a:t>
            </a:r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= IgE = anaphylaxis (treat with epinephrine). Type IV = T cell = DELAYED 12–72 hrs (NO antibodies). SLE = butterfly rash + anti-dsDNA. Autoimmune = attacking self.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High-Yield Fact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452360" y="9144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0467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804672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80467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charge; MORE electrons than protons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129284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2928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94560" y="1129284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12928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moves across membrane (low → high solute conc.)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453896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45389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94560" y="1453896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453896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 water movement; cell stays same size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778508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77850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1778508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77850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genetically IDENTICAL daughter cells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103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Endomysium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94560" y="2103120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10312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individual muscle fibers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427732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42773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Troponin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94560" y="2427732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242773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Ca²⁺ → initiates muscle contraction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752344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7523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 mater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94560" y="2752344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75234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covers brain and spinal cord surface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76956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07695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lobe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94560" y="3076956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3076956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processing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401568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40156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94560" y="3401568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3401568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Fight-or-flight; ↑ HR and BP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726180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7261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194560" y="3726180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3726180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cells to use glucose; ↓ blood glucose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050792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05079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blood type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94560" y="4050792"/>
            <a:ext cx="233172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0280" y="4050792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recipient (no antibodies)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375404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37540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valve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194560" y="4375404"/>
            <a:ext cx="233172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40280" y="4375404"/>
            <a:ext cx="2240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AV valve (left atrium → left ventricle)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804672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80467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complex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629400" y="804672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804672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depolarization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09160" y="1129284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112928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Tunica media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629400" y="1129284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1129284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muscle; controls vessel radius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09160" y="1453896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145389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Lacteals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629400" y="1453896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0" y="145389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dietary fats in small intestine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09160" y="1778508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0" y="177850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lymphatic duct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629400" y="1778508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1778508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right upper quadrant ONLY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09160" y="2103120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1" name="Text 69"/>
          <p:cNvSpPr/>
          <p:nvPr/>
        </p:nvSpPr>
        <p:spPr>
          <a:xfrm>
            <a:off x="4754880" y="2103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629400" y="2103120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75120" y="210312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BLOOD; destroys old RBCs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09160" y="2427732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5" name="Text 73"/>
          <p:cNvSpPr/>
          <p:nvPr/>
        </p:nvSpPr>
        <p:spPr>
          <a:xfrm>
            <a:off x="4754880" y="242773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 + CD8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629400" y="2427732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75120" y="2427732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intracellularly infected/abnormal cells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709160" y="2752344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9" name="Text 77"/>
          <p:cNvSpPr/>
          <p:nvPr/>
        </p:nvSpPr>
        <p:spPr>
          <a:xfrm>
            <a:off x="4754880" y="275234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+ CD4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629400" y="2752344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75120" y="2752344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adaptive immune response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709160" y="3076956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3" name="Text 81"/>
          <p:cNvSpPr/>
          <p:nvPr/>
        </p:nvSpPr>
        <p:spPr>
          <a:xfrm>
            <a:off x="4754880" y="307695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629400" y="3076956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75120" y="3076956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antibody → mast cell degranulation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09160" y="3401568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7" name="Text 85"/>
          <p:cNvSpPr/>
          <p:nvPr/>
        </p:nvSpPr>
        <p:spPr>
          <a:xfrm>
            <a:off x="4754880" y="340156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IgG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629400" y="3401568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75120" y="3401568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abundant; crosses placenta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709160" y="3726180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1" name="Text 89"/>
          <p:cNvSpPr/>
          <p:nvPr/>
        </p:nvSpPr>
        <p:spPr>
          <a:xfrm>
            <a:off x="4754880" y="37261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IV hypersensitivity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629400" y="3726180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675120" y="3726180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cell-mediated; DELAYED 12–72 hrs; NO antibodies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709160" y="4050792"/>
            <a:ext cx="1920240" cy="30175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95" name="Text 93"/>
          <p:cNvSpPr/>
          <p:nvPr/>
        </p:nvSpPr>
        <p:spPr>
          <a:xfrm>
            <a:off x="4754880" y="405079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immunity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629400" y="4050792"/>
            <a:ext cx="2240280" cy="301752"/>
          </a:xfrm>
          <a:prstGeom prst="rect">
            <a:avLst/>
          </a:prstGeom>
          <a:solidFill>
            <a:srgbClr val="EEF2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75120" y="4050792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antibodies; long-term memory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709160" y="4375404"/>
            <a:ext cx="1920240" cy="3017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9" name="Text 97"/>
          <p:cNvSpPr/>
          <p:nvPr/>
        </p:nvSpPr>
        <p:spPr>
          <a:xfrm>
            <a:off x="4754880" y="437540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immunity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629400" y="4375404"/>
            <a:ext cx="2240280" cy="301752"/>
          </a:xfrm>
          <a:prstGeom prst="rect">
            <a:avLst/>
          </a:prstGeom>
          <a:solidFill>
            <a:srgbClr val="F0F7F4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675120" y="4375404"/>
            <a:ext cx="2148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pre-formed antibodies; no memory; short-term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8922A"/>
          </a:solidFill>
          <a:ln/>
        </p:spPr>
      </p:sp>
      <p:sp>
        <p:nvSpPr>
          <p:cNvPr id="103" name="Text 10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255  ·  Comprehensive Exam Focus Guide  ·  Laura Bates, DC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 255 Week 7 Comprehensive Exam Focus Guide</dc:title>
  <dc:subject>PptxGenJS Presentation</dc:subject>
  <dc:creator>Laura Bates, DC</dc:creator>
  <cp:lastModifiedBy>Laura Bates, DC</cp:lastModifiedBy>
  <cp:revision>1</cp:revision>
  <dcterms:created xsi:type="dcterms:W3CDTF">2026-04-02T19:57:13Z</dcterms:created>
  <dcterms:modified xsi:type="dcterms:W3CDTF">2026-04-02T19:57:13Z</dcterms:modified>
</cp:coreProperties>
</file>