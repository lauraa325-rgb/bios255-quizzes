
<file path=[Content_Types].xml><?xml version="1.0" encoding="utf-8"?>
<Types xmlns="http://schemas.openxmlformats.org/package/2006/content-types">
  <Default ContentType="application/xml" Extension="xml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1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48" r:id="rId3"/>
  </p:sldMasterIdLst>
  <p:notesMasterIdLst>
    <p:notesMasterId r:id="rId4"/>
  </p:notes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  <p:sldId id="265" r:id="rId14"/>
    <p:sldId id="266" r:id="rId15"/>
    <p:sldId id="267" r:id="rId16"/>
    <p:sldId id="268" r:id="rId17"/>
    <p:sldId id="269" r:id="rId18"/>
    <p:sldId id="270" r:id="rId19"/>
    <p:sldId id="271" r:id="rId20"/>
    <p:sldId id="272" r:id="rId21"/>
    <p:sldId id="273" r:id="rId22"/>
  </p:sldIdLst>
  <p:sldSz cy="5143500" cx="9144000"/>
  <p:notesSz cx="51435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GoogleSlidesCustomDataVersion2">
      <go:slidesCustomData xmlns:go="http://customooxmlschemas.google.com/" r:id="rId23" roundtripDataSignature="AMtx7mhsDRBATLjwz3XNg4YDQhP115vxew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6.xml"/><Relationship Id="rId11" Type="http://schemas.openxmlformats.org/officeDocument/2006/relationships/slide" Target="slides/slide7.xml"/><Relationship Id="rId22" Type="http://schemas.openxmlformats.org/officeDocument/2006/relationships/slide" Target="slides/slide18.xml"/><Relationship Id="rId10" Type="http://schemas.openxmlformats.org/officeDocument/2006/relationships/slide" Target="slides/slide6.xml"/><Relationship Id="rId21" Type="http://schemas.openxmlformats.org/officeDocument/2006/relationships/slide" Target="slides/slide17.xml"/><Relationship Id="rId13" Type="http://schemas.openxmlformats.org/officeDocument/2006/relationships/slide" Target="slides/slide9.xml"/><Relationship Id="rId12" Type="http://schemas.openxmlformats.org/officeDocument/2006/relationships/slide" Target="slides/slide8.xml"/><Relationship Id="rId23" Type="http://customschemas.google.com/relationships/presentationmetadata" Target="metadata"/><Relationship Id="rId1" Type="http://schemas.openxmlformats.org/officeDocument/2006/relationships/theme" Target="theme/theme1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notesMaster" Target="notesMasters/notesMaster1.xml"/><Relationship Id="rId9" Type="http://schemas.openxmlformats.org/officeDocument/2006/relationships/slide" Target="slides/slide5.xml"/><Relationship Id="rId15" Type="http://schemas.openxmlformats.org/officeDocument/2006/relationships/slide" Target="slides/slide11.xml"/><Relationship Id="rId14" Type="http://schemas.openxmlformats.org/officeDocument/2006/relationships/slide" Target="slides/slide10.xml"/><Relationship Id="rId17" Type="http://schemas.openxmlformats.org/officeDocument/2006/relationships/slide" Target="slides/slide13.xml"/><Relationship Id="rId16" Type="http://schemas.openxmlformats.org/officeDocument/2006/relationships/slide" Target="slides/slide12.xml"/><Relationship Id="rId5" Type="http://schemas.openxmlformats.org/officeDocument/2006/relationships/slide" Target="slides/slide1.xml"/><Relationship Id="rId19" Type="http://schemas.openxmlformats.org/officeDocument/2006/relationships/slide" Target="slides/slide15.xml"/><Relationship Id="rId6" Type="http://schemas.openxmlformats.org/officeDocument/2006/relationships/slide" Target="slides/slide2.xml"/><Relationship Id="rId18" Type="http://schemas.openxmlformats.org/officeDocument/2006/relationships/slide" Target="slides/slide14.xml"/><Relationship Id="rId7" Type="http://schemas.openxmlformats.org/officeDocument/2006/relationships/slide" Target="slides/slide3.xml"/><Relationship Id="rId8" Type="http://schemas.openxmlformats.org/officeDocument/2006/relationships/slide" Target="slides/slide4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3" name="Google Shape;13;p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" name="Google Shape;14;p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5" name="Google Shape;25;p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" name="Google Shape;26;p2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4" name="Google Shape;34;p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" name="Google Shape;35;p3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2" name="Google Shape;52;p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3" name="Google Shape;53;p4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9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1" name="Google Shape;61;p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2" name="Google Shape;62;p5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82" name="Google Shape;82;p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3" name="Google Shape;83;p6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91" name="Google Shape;91;p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2" name="Google Shape;92;p7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8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p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30" name="Google Shape;130;p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1" name="Google Shape;131;p8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3" name="Shape 1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" name="Google Shape;164;p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65" name="Google Shape;165;p9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6" name="Google Shape;166;p9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2" name="Shape 1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3" name="Google Shape;173;p1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74" name="Google Shape;174;p10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5" name="Google Shape;175;p10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8" name="Shape 1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9" name="Google Shape;199;p1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00" name="Google Shape;200;p1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1" name="Google Shape;201;p1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6" name="Shape 2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7" name="Google Shape;217;p1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18" name="Google Shape;218;p1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9" name="Google Shape;219;p12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5" name="Shape 2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6" name="Google Shape;226;p1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27" name="Google Shape;227;p1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8" name="Google Shape;228;p13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3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p1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75" name="Google Shape;275;p1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6" name="Google Shape;276;p14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2" name="Shape 2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3" name="Google Shape;283;p1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84" name="Google Shape;284;p1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5" name="Google Shape;285;p15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31" name="Shape 3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2" name="Google Shape;332;p1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33" name="Google Shape;333;p1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4" name="Google Shape;334;p16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40" name="Shape 3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1" name="Google Shape;341;p1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42" name="Google Shape;342;p1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3" name="Google Shape;343;p17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73" name="Shape 3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4" name="Google Shape;374;p1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75" name="Google Shape;375;p1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6" name="Google Shape;376;p18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EFAULT">
  <p:cSld name="DEFAULT">
    <p:bg>
      <p:bgPr>
        <a:solidFill>
          <a:schemeClr val="lt1"/>
        </a:solidFill>
      </p:bgPr>
    </p:bg>
    <p:spTree>
      <p:nvGrpSpPr>
        <p:cNvPr id="10" name="Shape 10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B2E4B"/>
        </a:solidFill>
      </p:bgPr>
    </p:bg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1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D7377"/>
          </a:solidFill>
          <a:ln cap="flat" cmpd="sng" w="12700">
            <a:solidFill>
              <a:srgbClr val="0D737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" name="Google Shape;17;p1"/>
          <p:cNvSpPr/>
          <p:nvPr/>
        </p:nvSpPr>
        <p:spPr>
          <a:xfrm>
            <a:off x="0" y="4796028"/>
            <a:ext cx="9144000" cy="347472"/>
          </a:xfrm>
          <a:prstGeom prst="rect">
            <a:avLst/>
          </a:prstGeom>
          <a:solidFill>
            <a:srgbClr val="C9A84C"/>
          </a:solidFill>
          <a:ln cap="flat" cmpd="sng" w="12700">
            <a:solidFill>
              <a:srgbClr val="C9A84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" name="Google Shape;18;p1"/>
          <p:cNvSpPr/>
          <p:nvPr/>
        </p:nvSpPr>
        <p:spPr>
          <a:xfrm>
            <a:off x="457200" y="640080"/>
            <a:ext cx="82296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9A84C"/>
              </a:buClr>
              <a:buSzPts val="1700"/>
              <a:buFont typeface="Calibri"/>
              <a:buNone/>
            </a:pPr>
            <a:r>
              <a:rPr b="0" i="0" lang="en-US" sz="1700" u="none" cap="none" strike="noStrike">
                <a:solidFill>
                  <a:srgbClr val="C9A84C"/>
                </a:solidFill>
                <a:latin typeface="Calibri"/>
                <a:ea typeface="Calibri"/>
                <a:cs typeface="Calibri"/>
                <a:sym typeface="Calibri"/>
              </a:rPr>
              <a:t>BIOS 255 — Week 6</a:t>
            </a:r>
            <a:endParaRPr b="0" i="0" sz="1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" name="Google Shape;19;p1"/>
          <p:cNvSpPr/>
          <p:nvPr/>
        </p:nvSpPr>
        <p:spPr>
          <a:xfrm>
            <a:off x="457200" y="1143000"/>
            <a:ext cx="8229600" cy="91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000"/>
              <a:buFont typeface="Calibri"/>
              <a:buNone/>
            </a:pPr>
            <a:r>
              <a:rPr b="1" i="0" lang="en-US" sz="40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Respiratory Anatomy</a:t>
            </a:r>
            <a:endParaRPr b="0" i="0" sz="4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" name="Google Shape;20;p1"/>
          <p:cNvSpPr/>
          <p:nvPr/>
        </p:nvSpPr>
        <p:spPr>
          <a:xfrm>
            <a:off x="457200" y="2011680"/>
            <a:ext cx="822960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800"/>
              <a:buFont typeface="Calibri"/>
              <a:buNone/>
            </a:pPr>
            <a:r>
              <a:rPr b="0" i="0" lang="en-US" sz="2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Focus Guide</a:t>
            </a:r>
            <a:endParaRPr b="0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" name="Google Shape;21;p1"/>
          <p:cNvSpPr/>
          <p:nvPr/>
        </p:nvSpPr>
        <p:spPr>
          <a:xfrm>
            <a:off x="457200" y="2743200"/>
            <a:ext cx="82296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0B4C8"/>
              </a:buClr>
              <a:buSzPts val="1300"/>
              <a:buFont typeface="Calibri"/>
              <a:buNone/>
            </a:pPr>
            <a:r>
              <a:rPr b="0" i="1" lang="en-US" sz="1300" u="none" cap="none" strike="noStrike">
                <a:solidFill>
                  <a:srgbClr val="A0B4C8"/>
                </a:solidFill>
                <a:latin typeface="Calibri"/>
                <a:ea typeface="Calibri"/>
                <a:cs typeface="Calibri"/>
                <a:sym typeface="Calibri"/>
              </a:rPr>
              <a:t>Use it to focus your study — not to replace reading the lecture.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" name="Google Shape;22;p1"/>
          <p:cNvSpPr/>
          <p:nvPr/>
        </p:nvSpPr>
        <p:spPr>
          <a:xfrm>
            <a:off x="457200" y="3291840"/>
            <a:ext cx="82296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9A84C"/>
              </a:buClr>
              <a:buSzPts val="1300"/>
              <a:buFont typeface="Calibri"/>
              <a:buNone/>
            </a:pPr>
            <a:r>
              <a:rPr b="0" i="0" lang="en-US" sz="1300" u="none" cap="none" strike="noStrike">
                <a:solidFill>
                  <a:srgbClr val="C9A84C"/>
                </a:solidFill>
                <a:latin typeface="Calibri"/>
                <a:ea typeface="Calibri"/>
                <a:cs typeface="Calibri"/>
                <a:sym typeface="Calibri"/>
              </a:rPr>
              <a:t>Laura Bates, DC  ·  BIOS 255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B2E4B"/>
        </a:solidFill>
      </p:bgPr>
    </p:bg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2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D7377"/>
          </a:solidFill>
          <a:ln cap="flat" cmpd="sng" w="12700">
            <a:solidFill>
              <a:srgbClr val="0D737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" name="Google Shape;29;p2"/>
          <p:cNvSpPr/>
          <p:nvPr/>
        </p:nvSpPr>
        <p:spPr>
          <a:xfrm>
            <a:off x="0" y="4796028"/>
            <a:ext cx="9144000" cy="347472"/>
          </a:xfrm>
          <a:prstGeom prst="rect">
            <a:avLst/>
          </a:prstGeom>
          <a:solidFill>
            <a:srgbClr val="C9A84C"/>
          </a:solidFill>
          <a:ln cap="flat" cmpd="sng" w="12700">
            <a:solidFill>
              <a:srgbClr val="C9A84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" name="Google Shape;30;p2"/>
          <p:cNvSpPr/>
          <p:nvPr/>
        </p:nvSpPr>
        <p:spPr>
          <a:xfrm>
            <a:off x="457200" y="1463040"/>
            <a:ext cx="8229600" cy="1371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600"/>
              <a:buFont typeface="Calibri"/>
              <a:buNone/>
            </a:pPr>
            <a:r>
              <a:rPr b="1" i="0" lang="en-US" sz="36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Section 1</a:t>
            </a:r>
            <a:endParaRPr b="0" i="0" sz="3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600"/>
              <a:buFont typeface="Calibri"/>
              <a:buNone/>
            </a:pPr>
            <a:r>
              <a:rPr b="1" i="0" lang="en-US" sz="36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Conducting vs. Respiratory Zones — Overview</a:t>
            </a:r>
            <a:endParaRPr b="0" i="0" sz="3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" name="Google Shape;31;p2"/>
          <p:cNvSpPr/>
          <p:nvPr/>
        </p:nvSpPr>
        <p:spPr>
          <a:xfrm>
            <a:off x="457200" y="2926080"/>
            <a:ext cx="82296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9A84C"/>
              </a:buClr>
              <a:buSzPts val="1400"/>
              <a:buFont typeface="Calibri"/>
              <a:buNone/>
            </a:pPr>
            <a:r>
              <a:rPr b="0" i="0" lang="en-US" sz="1400" u="none" cap="none" strike="noStrike">
                <a:solidFill>
                  <a:srgbClr val="C9A84C"/>
                </a:solidFill>
                <a:latin typeface="Calibri"/>
                <a:ea typeface="Calibri"/>
                <a:cs typeface="Calibri"/>
                <a:sym typeface="Calibri"/>
              </a:rPr>
              <a:t>Laura Bates, DC  ·  BIOS 255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4F6F8"/>
        </a:solidFill>
      </p:bgPr>
    </p:bg>
    <p:spTree>
      <p:nvGrpSpPr>
        <p:cNvPr id="36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p3"/>
          <p:cNvSpPr/>
          <p:nvPr/>
        </p:nvSpPr>
        <p:spPr>
          <a:xfrm>
            <a:off x="0" y="0"/>
            <a:ext cx="164592" cy="4796028"/>
          </a:xfrm>
          <a:prstGeom prst="rect">
            <a:avLst/>
          </a:prstGeom>
          <a:solidFill>
            <a:srgbClr val="0D7377"/>
          </a:solidFill>
          <a:ln cap="flat" cmpd="sng" w="12700">
            <a:solidFill>
              <a:srgbClr val="0D737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" name="Google Shape;38;p3"/>
          <p:cNvSpPr/>
          <p:nvPr/>
        </p:nvSpPr>
        <p:spPr>
          <a:xfrm>
            <a:off x="0" y="4796028"/>
            <a:ext cx="9144000" cy="347472"/>
          </a:xfrm>
          <a:prstGeom prst="rect">
            <a:avLst/>
          </a:prstGeom>
          <a:solidFill>
            <a:srgbClr val="C9A84C"/>
          </a:solidFill>
          <a:ln cap="flat" cmpd="sng" w="12700">
            <a:solidFill>
              <a:srgbClr val="C9A84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" name="Google Shape;39;p3"/>
          <p:cNvSpPr/>
          <p:nvPr/>
        </p:nvSpPr>
        <p:spPr>
          <a:xfrm>
            <a:off x="182880" y="4814316"/>
            <a:ext cx="877824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B2E4B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1B2E4B"/>
                </a:solidFill>
                <a:latin typeface="Calibri"/>
                <a:ea typeface="Calibri"/>
                <a:cs typeface="Calibri"/>
                <a:sym typeface="Calibri"/>
              </a:rPr>
              <a:t>BIOS 255  ·  Respiratory Anatomy  ·  Laura Bates, DC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" name="Google Shape;40;p3"/>
          <p:cNvSpPr/>
          <p:nvPr/>
        </p:nvSpPr>
        <p:spPr>
          <a:xfrm>
            <a:off x="164592" y="0"/>
            <a:ext cx="8979408" cy="594360"/>
          </a:xfrm>
          <a:prstGeom prst="rect">
            <a:avLst/>
          </a:prstGeom>
          <a:solidFill>
            <a:srgbClr val="1B2E4B"/>
          </a:solidFill>
          <a:ln cap="flat" cmpd="sng" w="12700">
            <a:solidFill>
              <a:srgbClr val="1B2E4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" name="Google Shape;41;p3"/>
          <p:cNvSpPr/>
          <p:nvPr/>
        </p:nvSpPr>
        <p:spPr>
          <a:xfrm>
            <a:off x="320040" y="0"/>
            <a:ext cx="8046720" cy="5943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Calibri"/>
              <a:buNone/>
            </a:pPr>
            <a:r>
              <a:rPr b="1" i="0" lang="en-US" sz="1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Conducting vs. Respiratory Zones — Overview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" name="Google Shape;42;p3"/>
          <p:cNvSpPr/>
          <p:nvPr/>
        </p:nvSpPr>
        <p:spPr>
          <a:xfrm>
            <a:off x="7132320" y="54864"/>
            <a:ext cx="1783080" cy="475488"/>
          </a:xfrm>
          <a:prstGeom prst="rect">
            <a:avLst/>
          </a:prstGeom>
          <a:solidFill>
            <a:srgbClr val="C9A84C"/>
          </a:solidFill>
          <a:ln cap="flat" cmpd="sng" w="12700">
            <a:solidFill>
              <a:srgbClr val="C9A84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3" name="Google Shape;43;p3"/>
          <p:cNvSpPr/>
          <p:nvPr/>
        </p:nvSpPr>
        <p:spPr>
          <a:xfrm>
            <a:off x="7150608" y="64008"/>
            <a:ext cx="173736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B2E4B"/>
              </a:buClr>
              <a:buSzPts val="900"/>
              <a:buFont typeface="Calibri"/>
              <a:buNone/>
            </a:pPr>
            <a:r>
              <a:rPr b="1" i="0" lang="en-US" sz="900" u="none" cap="none" strike="noStrike">
                <a:solidFill>
                  <a:srgbClr val="1B2E4B"/>
                </a:solidFill>
                <a:latin typeface="Calibri"/>
                <a:ea typeface="Calibri"/>
                <a:cs typeface="Calibri"/>
                <a:sym typeface="Calibri"/>
              </a:rPr>
              <a:t>Lecture Slides 3 &amp; 5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" name="Google Shape;44;p3"/>
          <p:cNvSpPr/>
          <p:nvPr/>
        </p:nvSpPr>
        <p:spPr>
          <a:xfrm>
            <a:off x="228600" y="685800"/>
            <a:ext cx="4160520" cy="347472"/>
          </a:xfrm>
          <a:prstGeom prst="rect">
            <a:avLst/>
          </a:prstGeom>
          <a:solidFill>
            <a:srgbClr val="0D7377"/>
          </a:solidFill>
          <a:ln cap="flat" cmpd="sng" w="12700">
            <a:solidFill>
              <a:srgbClr val="0D737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5" name="Google Shape;45;p3"/>
          <p:cNvSpPr/>
          <p:nvPr/>
        </p:nvSpPr>
        <p:spPr>
          <a:xfrm>
            <a:off x="256032" y="685800"/>
            <a:ext cx="411480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CONDUCTING ZONE — Air moves, NO gas exchange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" name="Google Shape;46;p3"/>
          <p:cNvSpPr/>
          <p:nvPr/>
        </p:nvSpPr>
        <p:spPr>
          <a:xfrm>
            <a:off x="256032" y="1078992"/>
            <a:ext cx="4069080" cy="31546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2E4B"/>
              </a:buClr>
              <a:buSzPts val="1050"/>
              <a:buFont typeface="Calibri"/>
              <a:buNone/>
            </a:pPr>
            <a:r>
              <a:rPr b="1" i="0" lang="en-US" sz="1050" u="none" cap="none" strike="noStrike">
                <a:solidFill>
                  <a:srgbClr val="1B2E4B"/>
                </a:solidFill>
                <a:latin typeface="Calibri"/>
                <a:ea typeface="Calibri"/>
                <a:cs typeface="Calibri"/>
                <a:sym typeface="Calibri"/>
              </a:rPr>
              <a:t>Nose / Nasal Cavity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2E4B"/>
              </a:buClr>
              <a:buSzPts val="1050"/>
              <a:buFont typeface="Calibri"/>
              <a:buNone/>
            </a:pPr>
            <a:r>
              <a:rPr b="0" i="0" lang="en-US" sz="1050" u="none" cap="none" strike="noStrike">
                <a:solidFill>
                  <a:srgbClr val="1B2E4B"/>
                </a:solidFill>
                <a:latin typeface="Calibri"/>
                <a:ea typeface="Calibri"/>
                <a:cs typeface="Calibri"/>
                <a:sym typeface="Calibri"/>
              </a:rPr>
              <a:t>Warms, filters, humidifies; olfaction; first line of defense</a:t>
            </a:r>
            <a:br>
              <a:rPr b="0" i="0" lang="en-US" sz="1050" u="none" cap="none" strike="noStrike">
                <a:solidFill>
                  <a:srgbClr val="1B2E4B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2E4B"/>
              </a:buClr>
              <a:buSzPts val="1050"/>
              <a:buFont typeface="Calibri"/>
              <a:buNone/>
            </a:pPr>
            <a:r>
              <a:rPr b="1" i="0" lang="en-US" sz="1050" u="none" cap="none" strike="noStrike">
                <a:solidFill>
                  <a:srgbClr val="1B2E4B"/>
                </a:solidFill>
                <a:latin typeface="Calibri"/>
                <a:ea typeface="Calibri"/>
                <a:cs typeface="Calibri"/>
                <a:sym typeface="Calibri"/>
              </a:rPr>
              <a:t>Pharynx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2E4B"/>
              </a:buClr>
              <a:buSzPts val="1050"/>
              <a:buFont typeface="Calibri"/>
              <a:buNone/>
            </a:pPr>
            <a:r>
              <a:rPr b="0" i="0" lang="en-US" sz="1050" u="none" cap="none" strike="noStrike">
                <a:solidFill>
                  <a:srgbClr val="1B2E4B"/>
                </a:solidFill>
                <a:latin typeface="Calibri"/>
                <a:ea typeface="Calibri"/>
                <a:cs typeface="Calibri"/>
                <a:sym typeface="Calibri"/>
              </a:rPr>
              <a:t>3 regions (naso-, oro-, laryngopharynx); shared air &amp; food passage</a:t>
            </a:r>
            <a:br>
              <a:rPr b="0" i="0" lang="en-US" sz="1050" u="none" cap="none" strike="noStrike">
                <a:solidFill>
                  <a:srgbClr val="1B2E4B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2E4B"/>
              </a:buClr>
              <a:buSzPts val="1050"/>
              <a:buFont typeface="Calibri"/>
              <a:buNone/>
            </a:pPr>
            <a:r>
              <a:rPr b="1" i="0" lang="en-US" sz="1050" u="none" cap="none" strike="noStrike">
                <a:solidFill>
                  <a:srgbClr val="1B2E4B"/>
                </a:solidFill>
                <a:latin typeface="Calibri"/>
                <a:ea typeface="Calibri"/>
                <a:cs typeface="Calibri"/>
                <a:sym typeface="Calibri"/>
              </a:rPr>
              <a:t>Larynx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2E4B"/>
              </a:buClr>
              <a:buSzPts val="1050"/>
              <a:buFont typeface="Calibri"/>
              <a:buNone/>
            </a:pPr>
            <a:r>
              <a:rPr b="0" i="0" lang="en-US" sz="1050" u="none" cap="none" strike="noStrike">
                <a:solidFill>
                  <a:srgbClr val="1B2E4B"/>
                </a:solidFill>
                <a:latin typeface="Calibri"/>
                <a:ea typeface="Calibri"/>
                <a:cs typeface="Calibri"/>
                <a:sym typeface="Calibri"/>
              </a:rPr>
              <a:t>Epiglottis seals airway during swallowing; vocal cords for phonation</a:t>
            </a:r>
            <a:br>
              <a:rPr b="0" i="0" lang="en-US" sz="1050" u="none" cap="none" strike="noStrike">
                <a:solidFill>
                  <a:srgbClr val="1B2E4B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2E4B"/>
              </a:buClr>
              <a:buSzPts val="1050"/>
              <a:buFont typeface="Calibri"/>
              <a:buNone/>
            </a:pPr>
            <a:r>
              <a:rPr b="1" i="0" lang="en-US" sz="1050" u="none" cap="none" strike="noStrike">
                <a:solidFill>
                  <a:srgbClr val="1B2E4B"/>
                </a:solidFill>
                <a:latin typeface="Calibri"/>
                <a:ea typeface="Calibri"/>
                <a:cs typeface="Calibri"/>
                <a:sym typeface="Calibri"/>
              </a:rPr>
              <a:t>Trachea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2E4B"/>
              </a:buClr>
              <a:buSzPts val="1050"/>
              <a:buFont typeface="Calibri"/>
              <a:buNone/>
            </a:pPr>
            <a:r>
              <a:rPr b="0" i="0" lang="en-US" sz="1050" u="none" cap="none" strike="noStrike">
                <a:solidFill>
                  <a:srgbClr val="1B2E4B"/>
                </a:solidFill>
                <a:latin typeface="Calibri"/>
                <a:ea typeface="Calibri"/>
                <a:cs typeface="Calibri"/>
                <a:sym typeface="Calibri"/>
              </a:rPr>
              <a:t>16–20 C-rings; pseudostratified ciliated epithelium; mucociliary escalator</a:t>
            </a:r>
            <a:br>
              <a:rPr b="0" i="0" lang="en-US" sz="1050" u="none" cap="none" strike="noStrike">
                <a:solidFill>
                  <a:srgbClr val="1B2E4B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2E4B"/>
              </a:buClr>
              <a:buSzPts val="1050"/>
              <a:buFont typeface="Calibri"/>
              <a:buNone/>
            </a:pPr>
            <a:r>
              <a:rPr b="1" i="0" lang="en-US" sz="1050" u="none" cap="none" strike="noStrike">
                <a:solidFill>
                  <a:srgbClr val="1B2E4B"/>
                </a:solidFill>
                <a:latin typeface="Calibri"/>
                <a:ea typeface="Calibri"/>
                <a:cs typeface="Calibri"/>
                <a:sym typeface="Calibri"/>
              </a:rPr>
              <a:t>Primary → Lobar → Segmental Bronchi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2E4B"/>
              </a:buClr>
              <a:buSzPts val="1050"/>
              <a:buFont typeface="Calibri"/>
              <a:buNone/>
            </a:pPr>
            <a:r>
              <a:rPr b="0" i="0" lang="en-US" sz="1050" u="none" cap="none" strike="noStrike">
                <a:solidFill>
                  <a:srgbClr val="1B2E4B"/>
                </a:solidFill>
                <a:latin typeface="Calibri"/>
                <a:ea typeface="Calibri"/>
                <a:cs typeface="Calibri"/>
                <a:sym typeface="Calibri"/>
              </a:rPr>
              <a:t>Branching system delivering air to each lobe/segment</a:t>
            </a:r>
            <a:br>
              <a:rPr b="0" i="0" lang="en-US" sz="1050" u="none" cap="none" strike="noStrike">
                <a:solidFill>
                  <a:srgbClr val="1B2E4B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2E4B"/>
              </a:buClr>
              <a:buSzPts val="1050"/>
              <a:buFont typeface="Calibri"/>
              <a:buNone/>
            </a:pPr>
            <a:r>
              <a:rPr b="1" i="0" lang="en-US" sz="1050" u="none" cap="none" strike="noStrike">
                <a:solidFill>
                  <a:srgbClr val="1B2E4B"/>
                </a:solidFill>
                <a:latin typeface="Calibri"/>
                <a:ea typeface="Calibri"/>
                <a:cs typeface="Calibri"/>
                <a:sym typeface="Calibri"/>
              </a:rPr>
              <a:t>Bronchioles → Terminal Bronchioles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2E4B"/>
              </a:buClr>
              <a:buSzPts val="1050"/>
              <a:buFont typeface="Calibri"/>
              <a:buNone/>
            </a:pPr>
            <a:r>
              <a:rPr b="0" i="0" lang="en-US" sz="1050" u="none" cap="none" strike="noStrike">
                <a:solidFill>
                  <a:srgbClr val="1B2E4B"/>
                </a:solidFill>
                <a:latin typeface="Calibri"/>
                <a:ea typeface="Calibri"/>
                <a:cs typeface="Calibri"/>
                <a:sym typeface="Calibri"/>
              </a:rPr>
              <a:t>No cartilage; smooth muscle; no goblet cells; still ciliated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" name="Google Shape;47;p3"/>
          <p:cNvSpPr/>
          <p:nvPr/>
        </p:nvSpPr>
        <p:spPr>
          <a:xfrm>
            <a:off x="4498848" y="685800"/>
            <a:ext cx="4434840" cy="347472"/>
          </a:xfrm>
          <a:prstGeom prst="rect">
            <a:avLst/>
          </a:prstGeom>
          <a:solidFill>
            <a:srgbClr val="1B2E4B"/>
          </a:solidFill>
          <a:ln cap="flat" cmpd="sng" w="12700">
            <a:solidFill>
              <a:srgbClr val="1B2E4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8" name="Google Shape;48;p3"/>
          <p:cNvSpPr/>
          <p:nvPr/>
        </p:nvSpPr>
        <p:spPr>
          <a:xfrm>
            <a:off x="4526280" y="685800"/>
            <a:ext cx="438912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RESPIRATORY ZONE — Gas exchange begins here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" name="Google Shape;49;p3"/>
          <p:cNvSpPr/>
          <p:nvPr/>
        </p:nvSpPr>
        <p:spPr>
          <a:xfrm>
            <a:off x="4526280" y="1078992"/>
            <a:ext cx="4343400" cy="31546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2E4B"/>
              </a:buClr>
              <a:buSzPts val="1050"/>
              <a:buFont typeface="Calibri"/>
              <a:buNone/>
            </a:pPr>
            <a:r>
              <a:rPr b="0" i="0" lang="en-US" sz="1050" u="none" cap="none" strike="noStrike">
                <a:solidFill>
                  <a:srgbClr val="1B2E4B"/>
                </a:solidFill>
                <a:latin typeface="Calibri"/>
                <a:ea typeface="Calibri"/>
                <a:cs typeface="Calibri"/>
                <a:sym typeface="Calibri"/>
              </a:rPr>
              <a:t>Respiratory bronchioles → alveolar ducts → alveolar sacs → alveoli</a:t>
            </a:r>
            <a:br>
              <a:rPr b="0" i="0" lang="en-US" sz="1050" u="none" cap="none" strike="noStrike">
                <a:solidFill>
                  <a:srgbClr val="1B2E4B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2E4B"/>
              </a:buClr>
              <a:buSzPts val="1050"/>
              <a:buFont typeface="Calibri"/>
              <a:buNone/>
            </a:pPr>
            <a:r>
              <a:rPr b="0" i="0" lang="en-US" sz="1050" u="none" cap="none" strike="noStrike">
                <a:solidFill>
                  <a:srgbClr val="1B2E4B"/>
                </a:solidFill>
                <a:latin typeface="Calibri"/>
                <a:ea typeface="Calibri"/>
                <a:cs typeface="Calibri"/>
                <a:sym typeface="Calibri"/>
              </a:rPr>
              <a:t>~300 million alveoli/lung  |  ~70 m² surface area</a:t>
            </a:r>
            <a:br>
              <a:rPr b="0" i="0" lang="en-US" sz="1050" u="none" cap="none" strike="noStrike">
                <a:solidFill>
                  <a:srgbClr val="1B2E4B"/>
                </a:solidFill>
                <a:latin typeface="Calibri"/>
                <a:ea typeface="Calibri"/>
                <a:cs typeface="Calibri"/>
                <a:sym typeface="Calibri"/>
              </a:rPr>
            </a:br>
            <a:br>
              <a:rPr b="0" i="0" lang="en-US" sz="1050" u="none" cap="none" strike="noStrike">
                <a:solidFill>
                  <a:srgbClr val="1B2E4B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2E4B"/>
              </a:buClr>
              <a:buSzPts val="1050"/>
              <a:buFont typeface="Calibri"/>
              <a:buNone/>
            </a:pPr>
            <a:r>
              <a:rPr b="1" i="0" lang="en-US" sz="1050" u="none" cap="none" strike="noStrike">
                <a:solidFill>
                  <a:srgbClr val="1B2E4B"/>
                </a:solidFill>
                <a:latin typeface="Calibri"/>
                <a:ea typeface="Calibri"/>
                <a:cs typeface="Calibri"/>
                <a:sym typeface="Calibri"/>
              </a:rPr>
              <a:t>EXAM TIP: </a:t>
            </a:r>
            <a:r>
              <a:rPr b="0" i="0" lang="en-US" sz="1050" u="none" cap="none" strike="noStrike">
                <a:solidFill>
                  <a:srgbClr val="1B2E4B"/>
                </a:solidFill>
                <a:latin typeface="Calibri"/>
                <a:ea typeface="Calibri"/>
                <a:cs typeface="Calibri"/>
                <a:sym typeface="Calibri"/>
              </a:rPr>
              <a:t>Conducting zone = anatomical dead space (~150 mL). No gas exchange occurs here — air is just transported.</a:t>
            </a:r>
            <a:br>
              <a:rPr b="0" i="0" lang="en-US" sz="1050" u="none" cap="none" strike="noStrike">
                <a:solidFill>
                  <a:srgbClr val="1B2E4B"/>
                </a:solidFill>
                <a:latin typeface="Calibri"/>
                <a:ea typeface="Calibri"/>
                <a:cs typeface="Calibri"/>
                <a:sym typeface="Calibri"/>
              </a:rPr>
            </a:br>
            <a:br>
              <a:rPr b="0" i="0" lang="en-US" sz="1050" u="none" cap="none" strike="noStrike">
                <a:solidFill>
                  <a:srgbClr val="1B2E4B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2E4B"/>
              </a:buClr>
              <a:buSzPts val="1050"/>
              <a:buFont typeface="Calibri"/>
              <a:buNone/>
            </a:pPr>
            <a:r>
              <a:rPr b="1" i="0" lang="en-US" sz="1050" u="none" cap="none" strike="noStrike">
                <a:solidFill>
                  <a:srgbClr val="1B2E4B"/>
                </a:solidFill>
                <a:latin typeface="Calibri"/>
                <a:ea typeface="Calibri"/>
                <a:cs typeface="Calibri"/>
                <a:sym typeface="Calibri"/>
              </a:rPr>
              <a:t>EXAM TIP: </a:t>
            </a:r>
            <a:r>
              <a:rPr b="0" i="0" lang="en-US" sz="1050" u="none" cap="none" strike="noStrike">
                <a:solidFill>
                  <a:srgbClr val="1B2E4B"/>
                </a:solidFill>
                <a:latin typeface="Calibri"/>
                <a:ea typeface="Calibri"/>
                <a:cs typeface="Calibri"/>
                <a:sym typeface="Calibri"/>
              </a:rPr>
              <a:t>The right main bronchus is wider, shorter, and more vertical → aspiration and foreign bodies go RIGHT first.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B2E4B"/>
        </a:solidFill>
      </p:bgPr>
    </p:bg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4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D7377"/>
          </a:solidFill>
          <a:ln cap="flat" cmpd="sng" w="12700">
            <a:solidFill>
              <a:srgbClr val="0D737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6" name="Google Shape;56;p4"/>
          <p:cNvSpPr/>
          <p:nvPr/>
        </p:nvSpPr>
        <p:spPr>
          <a:xfrm>
            <a:off x="0" y="4796028"/>
            <a:ext cx="9144000" cy="347472"/>
          </a:xfrm>
          <a:prstGeom prst="rect">
            <a:avLst/>
          </a:prstGeom>
          <a:solidFill>
            <a:srgbClr val="C9A84C"/>
          </a:solidFill>
          <a:ln cap="flat" cmpd="sng" w="12700">
            <a:solidFill>
              <a:srgbClr val="C9A84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7" name="Google Shape;57;p4"/>
          <p:cNvSpPr/>
          <p:nvPr/>
        </p:nvSpPr>
        <p:spPr>
          <a:xfrm>
            <a:off x="457200" y="1463040"/>
            <a:ext cx="8229600" cy="1371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600"/>
              <a:buFont typeface="Calibri"/>
              <a:buNone/>
            </a:pPr>
            <a:r>
              <a:rPr b="1" i="0" lang="en-US" sz="36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Section 2</a:t>
            </a:r>
            <a:endParaRPr b="0" i="0" sz="3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600"/>
              <a:buFont typeface="Calibri"/>
              <a:buNone/>
            </a:pPr>
            <a:r>
              <a:rPr b="1" i="0" lang="en-US" sz="36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Upper Respiratory Tract</a:t>
            </a:r>
            <a:endParaRPr b="0" i="0" sz="3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8" name="Google Shape;58;p4"/>
          <p:cNvSpPr/>
          <p:nvPr/>
        </p:nvSpPr>
        <p:spPr>
          <a:xfrm>
            <a:off x="457200" y="2926080"/>
            <a:ext cx="82296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9A84C"/>
              </a:buClr>
              <a:buSzPts val="1400"/>
              <a:buFont typeface="Calibri"/>
              <a:buNone/>
            </a:pPr>
            <a:r>
              <a:rPr b="0" i="0" lang="en-US" sz="1400" u="none" cap="none" strike="noStrike">
                <a:solidFill>
                  <a:srgbClr val="C9A84C"/>
                </a:solidFill>
                <a:latin typeface="Calibri"/>
                <a:ea typeface="Calibri"/>
                <a:cs typeface="Calibri"/>
                <a:sym typeface="Calibri"/>
              </a:rPr>
              <a:t>Laura Bates, DC  ·  BIOS 255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4F6F8"/>
        </a:solidFill>
      </p:bgPr>
    </p:bg>
    <p:spTree>
      <p:nvGrpSpPr>
        <p:cNvPr id="63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Google Shape;64;p5"/>
          <p:cNvSpPr/>
          <p:nvPr/>
        </p:nvSpPr>
        <p:spPr>
          <a:xfrm>
            <a:off x="0" y="0"/>
            <a:ext cx="164592" cy="4796028"/>
          </a:xfrm>
          <a:prstGeom prst="rect">
            <a:avLst/>
          </a:prstGeom>
          <a:solidFill>
            <a:srgbClr val="0D7377"/>
          </a:solidFill>
          <a:ln cap="flat" cmpd="sng" w="12700">
            <a:solidFill>
              <a:srgbClr val="0D737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5" name="Google Shape;65;p5"/>
          <p:cNvSpPr/>
          <p:nvPr/>
        </p:nvSpPr>
        <p:spPr>
          <a:xfrm>
            <a:off x="0" y="4796028"/>
            <a:ext cx="9144000" cy="347472"/>
          </a:xfrm>
          <a:prstGeom prst="rect">
            <a:avLst/>
          </a:prstGeom>
          <a:solidFill>
            <a:srgbClr val="C9A84C"/>
          </a:solidFill>
          <a:ln cap="flat" cmpd="sng" w="12700">
            <a:solidFill>
              <a:srgbClr val="C9A84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6" name="Google Shape;66;p5"/>
          <p:cNvSpPr/>
          <p:nvPr/>
        </p:nvSpPr>
        <p:spPr>
          <a:xfrm>
            <a:off x="182880" y="4814316"/>
            <a:ext cx="877824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B2E4B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1B2E4B"/>
                </a:solidFill>
                <a:latin typeface="Calibri"/>
                <a:ea typeface="Calibri"/>
                <a:cs typeface="Calibri"/>
                <a:sym typeface="Calibri"/>
              </a:rPr>
              <a:t>BIOS 255  ·  Respiratory Anatomy  ·  Laura Bates, DC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7" name="Google Shape;67;p5"/>
          <p:cNvSpPr/>
          <p:nvPr/>
        </p:nvSpPr>
        <p:spPr>
          <a:xfrm>
            <a:off x="164592" y="0"/>
            <a:ext cx="8979408" cy="594360"/>
          </a:xfrm>
          <a:prstGeom prst="rect">
            <a:avLst/>
          </a:prstGeom>
          <a:solidFill>
            <a:srgbClr val="1B2E4B"/>
          </a:solidFill>
          <a:ln cap="flat" cmpd="sng" w="12700">
            <a:solidFill>
              <a:srgbClr val="1B2E4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8" name="Google Shape;68;p5"/>
          <p:cNvSpPr/>
          <p:nvPr/>
        </p:nvSpPr>
        <p:spPr>
          <a:xfrm>
            <a:off x="320040" y="0"/>
            <a:ext cx="8046720" cy="5943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Calibri"/>
              <a:buNone/>
            </a:pPr>
            <a:r>
              <a:rPr b="1" i="0" lang="en-US" sz="1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Nose, Pharynx &amp; Epiglottis — Upper Tract Structures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9" name="Google Shape;69;p5"/>
          <p:cNvSpPr/>
          <p:nvPr/>
        </p:nvSpPr>
        <p:spPr>
          <a:xfrm>
            <a:off x="6949440" y="54864"/>
            <a:ext cx="1965960" cy="475488"/>
          </a:xfrm>
          <a:prstGeom prst="rect">
            <a:avLst/>
          </a:prstGeom>
          <a:solidFill>
            <a:srgbClr val="C9A84C"/>
          </a:solidFill>
          <a:ln cap="flat" cmpd="sng" w="12700">
            <a:solidFill>
              <a:srgbClr val="C9A84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0" name="Google Shape;70;p5"/>
          <p:cNvSpPr/>
          <p:nvPr/>
        </p:nvSpPr>
        <p:spPr>
          <a:xfrm>
            <a:off x="6967728" y="64008"/>
            <a:ext cx="192024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B2E4B"/>
              </a:buClr>
              <a:buSzPts val="900"/>
              <a:buFont typeface="Calibri"/>
              <a:buNone/>
            </a:pPr>
            <a:r>
              <a:rPr b="1" i="0" lang="en-US" sz="900" u="none" cap="none" strike="noStrike">
                <a:solidFill>
                  <a:srgbClr val="1B2E4B"/>
                </a:solidFill>
                <a:latin typeface="Calibri"/>
                <a:ea typeface="Calibri"/>
                <a:cs typeface="Calibri"/>
                <a:sym typeface="Calibri"/>
              </a:rPr>
              <a:t>Lecture Slides 6, 7 &amp; 8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1" name="Google Shape;71;p5"/>
          <p:cNvSpPr/>
          <p:nvPr/>
        </p:nvSpPr>
        <p:spPr>
          <a:xfrm>
            <a:off x="228600" y="658368"/>
            <a:ext cx="2697480" cy="329184"/>
          </a:xfrm>
          <a:prstGeom prst="rect">
            <a:avLst/>
          </a:prstGeom>
          <a:solidFill>
            <a:srgbClr val="0D7377"/>
          </a:solidFill>
          <a:ln cap="flat" cmpd="sng" w="12700">
            <a:solidFill>
              <a:srgbClr val="0D737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2" name="Google Shape;72;p5"/>
          <p:cNvSpPr/>
          <p:nvPr/>
        </p:nvSpPr>
        <p:spPr>
          <a:xfrm>
            <a:off x="274320" y="658368"/>
            <a:ext cx="2606040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Nasal Cavity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3" name="Google Shape;73;p5"/>
          <p:cNvSpPr/>
          <p:nvPr/>
        </p:nvSpPr>
        <p:spPr>
          <a:xfrm>
            <a:off x="274320" y="1024128"/>
            <a:ext cx="2606040" cy="3200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1B2E4B"/>
              </a:buClr>
              <a:buSzPts val="950"/>
              <a:buFont typeface="Calibri"/>
              <a:buChar char="•"/>
            </a:pPr>
            <a:r>
              <a:rPr b="0" i="0" lang="en-US" sz="950" u="none" cap="none" strike="noStrike">
                <a:solidFill>
                  <a:srgbClr val="1B2E4B"/>
                </a:solidFill>
                <a:latin typeface="Calibri"/>
                <a:ea typeface="Calibri"/>
                <a:cs typeface="Calibri"/>
                <a:sym typeface="Calibri"/>
              </a:rPr>
              <a:t>Three functions: warms, filters, humidifies incoming air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1B2E4B"/>
              </a:buClr>
              <a:buSzPts val="950"/>
              <a:buFont typeface="Calibri"/>
              <a:buChar char="•"/>
            </a:pPr>
            <a:r>
              <a:rPr b="0" i="0" lang="en-US" sz="950" u="none" cap="none" strike="noStrike">
                <a:solidFill>
                  <a:srgbClr val="1B2E4B"/>
                </a:solidFill>
                <a:latin typeface="Calibri"/>
                <a:ea typeface="Calibri"/>
                <a:cs typeface="Calibri"/>
                <a:sym typeface="Calibri"/>
              </a:rPr>
              <a:t>Conchae (turbinates) create turbulent airflow → maximize mucosal contact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1B2E4B"/>
              </a:buClr>
              <a:buSzPts val="950"/>
              <a:buFont typeface="Calibri"/>
              <a:buChar char="•"/>
            </a:pPr>
            <a:r>
              <a:rPr b="0" i="0" lang="en-US" sz="950" u="none" cap="none" strike="noStrike">
                <a:solidFill>
                  <a:srgbClr val="1B2E4B"/>
                </a:solidFill>
                <a:latin typeface="Calibri"/>
                <a:ea typeface="Calibri"/>
                <a:cs typeface="Calibri"/>
                <a:sym typeface="Calibri"/>
              </a:rPr>
              <a:t>Vestibule lined with stratified squamous; guard hairs trap large particles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1B2E4B"/>
              </a:buClr>
              <a:buSzPts val="950"/>
              <a:buFont typeface="Calibri"/>
              <a:buChar char="•"/>
            </a:pPr>
            <a:r>
              <a:rPr b="0" i="0" lang="en-US" sz="950" u="none" cap="none" strike="noStrike">
                <a:solidFill>
                  <a:srgbClr val="1B2E4B"/>
                </a:solidFill>
                <a:latin typeface="Calibri"/>
                <a:ea typeface="Calibri"/>
                <a:cs typeface="Calibri"/>
                <a:sym typeface="Calibri"/>
              </a:rPr>
              <a:t>Olfactory epithelium in superior nasal concha → smell; direct CNS access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1B2E4B"/>
              </a:buClr>
              <a:buSzPts val="950"/>
              <a:buFont typeface="Calibri"/>
              <a:buChar char="•"/>
            </a:pPr>
            <a:r>
              <a:rPr b="0" i="0" lang="en-US" sz="950" u="none" cap="none" strike="noStrike">
                <a:solidFill>
                  <a:srgbClr val="1B2E4B"/>
                </a:solidFill>
                <a:latin typeface="Calibri"/>
                <a:ea typeface="Calibri"/>
                <a:cs typeface="Calibri"/>
                <a:sym typeface="Calibri"/>
              </a:rPr>
              <a:t>KNOW THIS: Conchae increase surface area for filtration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4" name="Google Shape;74;p5"/>
          <p:cNvSpPr/>
          <p:nvPr/>
        </p:nvSpPr>
        <p:spPr>
          <a:xfrm>
            <a:off x="3090672" y="658368"/>
            <a:ext cx="2697480" cy="329184"/>
          </a:xfrm>
          <a:prstGeom prst="rect">
            <a:avLst/>
          </a:prstGeom>
          <a:solidFill>
            <a:srgbClr val="1B2E4B"/>
          </a:solidFill>
          <a:ln cap="flat" cmpd="sng" w="12700">
            <a:solidFill>
              <a:srgbClr val="1B2E4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5" name="Google Shape;75;p5"/>
          <p:cNvSpPr/>
          <p:nvPr/>
        </p:nvSpPr>
        <p:spPr>
          <a:xfrm>
            <a:off x="3136392" y="658368"/>
            <a:ext cx="2606040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Pharynx (Throat)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6" name="Google Shape;76;p5"/>
          <p:cNvSpPr/>
          <p:nvPr/>
        </p:nvSpPr>
        <p:spPr>
          <a:xfrm>
            <a:off x="3136392" y="1024128"/>
            <a:ext cx="2606040" cy="3200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1B2E4B"/>
              </a:buClr>
              <a:buSzPts val="950"/>
              <a:buFont typeface="Calibri"/>
              <a:buChar char="•"/>
            </a:pPr>
            <a:r>
              <a:rPr b="0" i="0" lang="en-US" sz="950" u="none" cap="none" strike="noStrike">
                <a:solidFill>
                  <a:srgbClr val="1B2E4B"/>
                </a:solidFill>
                <a:latin typeface="Calibri"/>
                <a:ea typeface="Calibri"/>
                <a:cs typeface="Calibri"/>
                <a:sym typeface="Calibri"/>
              </a:rPr>
              <a:t>Nasopharynx: air only → pseudostratified ciliated columnar epithelium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1B2E4B"/>
              </a:buClr>
              <a:buSzPts val="950"/>
              <a:buFont typeface="Calibri"/>
              <a:buChar char="•"/>
            </a:pPr>
            <a:r>
              <a:rPr b="0" i="0" lang="en-US" sz="950" u="none" cap="none" strike="noStrike">
                <a:solidFill>
                  <a:srgbClr val="1B2E4B"/>
                </a:solidFill>
                <a:latin typeface="Calibri"/>
                <a:ea typeface="Calibri"/>
                <a:cs typeface="Calibri"/>
                <a:sym typeface="Calibri"/>
              </a:rPr>
              <a:t>Oropharynx + Laryngopharynx: air + food → stratified squamous epithelium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1B2E4B"/>
              </a:buClr>
              <a:buSzPts val="950"/>
              <a:buFont typeface="Calibri"/>
              <a:buChar char="•"/>
            </a:pPr>
            <a:r>
              <a:rPr b="0" i="0" lang="en-US" sz="950" u="none" cap="none" strike="noStrike">
                <a:solidFill>
                  <a:srgbClr val="1B2E4B"/>
                </a:solidFill>
                <a:latin typeface="Calibri"/>
                <a:ea typeface="Calibri"/>
                <a:cs typeface="Calibri"/>
                <a:sym typeface="Calibri"/>
              </a:rPr>
              <a:t>Rule: air only = pseudostratified; air + food = stratified squamous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1B2E4B"/>
              </a:buClr>
              <a:buSzPts val="950"/>
              <a:buFont typeface="Calibri"/>
              <a:buChar char="•"/>
            </a:pPr>
            <a:r>
              <a:rPr b="0" i="0" lang="en-US" sz="950" u="none" cap="none" strike="noStrike">
                <a:solidFill>
                  <a:srgbClr val="1B2E4B"/>
                </a:solidFill>
                <a:latin typeface="Calibri"/>
                <a:ea typeface="Calibri"/>
                <a:cs typeface="Calibri"/>
                <a:sym typeface="Calibri"/>
              </a:rPr>
              <a:t>Eustachian tube opens into nasopharynx → explains ear infections with colds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1B2E4B"/>
              </a:buClr>
              <a:buSzPts val="950"/>
              <a:buFont typeface="Calibri"/>
              <a:buChar char="•"/>
            </a:pPr>
            <a:r>
              <a:rPr b="0" i="0" lang="en-US" sz="950" u="none" cap="none" strike="noStrike">
                <a:solidFill>
                  <a:srgbClr val="1B2E4B"/>
                </a:solidFill>
                <a:latin typeface="Calibri"/>
                <a:ea typeface="Calibri"/>
                <a:cs typeface="Calibri"/>
                <a:sym typeface="Calibri"/>
              </a:rPr>
              <a:t>KNOW THIS: Which part of the upper tract? → Nasal cavity (nasopharynx)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7" name="Google Shape;77;p5"/>
          <p:cNvSpPr/>
          <p:nvPr/>
        </p:nvSpPr>
        <p:spPr>
          <a:xfrm>
            <a:off x="5943600" y="658368"/>
            <a:ext cx="2990088" cy="329184"/>
          </a:xfrm>
          <a:prstGeom prst="rect">
            <a:avLst/>
          </a:prstGeom>
          <a:solidFill>
            <a:srgbClr val="0D7377"/>
          </a:solidFill>
          <a:ln cap="flat" cmpd="sng" w="12700">
            <a:solidFill>
              <a:srgbClr val="0D737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8" name="Google Shape;78;p5"/>
          <p:cNvSpPr/>
          <p:nvPr/>
        </p:nvSpPr>
        <p:spPr>
          <a:xfrm>
            <a:off x="5989320" y="658368"/>
            <a:ext cx="2898648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Larynx &amp; Epiglottis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9" name="Google Shape;79;p5"/>
          <p:cNvSpPr/>
          <p:nvPr/>
        </p:nvSpPr>
        <p:spPr>
          <a:xfrm>
            <a:off x="5989320" y="1024128"/>
            <a:ext cx="2898648" cy="3200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1B2E4B"/>
              </a:buClr>
              <a:buSzPts val="950"/>
              <a:buFont typeface="Calibri"/>
              <a:buChar char="•"/>
            </a:pPr>
            <a:r>
              <a:rPr b="0" i="0" lang="en-US" sz="950" u="none" cap="none" strike="noStrike">
                <a:solidFill>
                  <a:srgbClr val="1B2E4B"/>
                </a:solidFill>
                <a:latin typeface="Calibri"/>
                <a:ea typeface="Calibri"/>
                <a:cs typeface="Calibri"/>
                <a:sym typeface="Calibri"/>
              </a:rPr>
              <a:t>Epiglottis: spoon-shaped; folds down during swallowing → prevents aspiration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1B2E4B"/>
              </a:buClr>
              <a:buSzPts val="950"/>
              <a:buFont typeface="Calibri"/>
              <a:buChar char="•"/>
            </a:pPr>
            <a:r>
              <a:rPr b="0" i="0" lang="en-US" sz="950" u="none" cap="none" strike="noStrike">
                <a:solidFill>
                  <a:srgbClr val="1B2E4B"/>
                </a:solidFill>
                <a:latin typeface="Calibri"/>
                <a:ea typeface="Calibri"/>
                <a:cs typeface="Calibri"/>
                <a:sym typeface="Calibri"/>
              </a:rPr>
              <a:t>Thyroid cartilage: largest; 'Adam's apple'; testosterone drives male puberty growth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1B2E4B"/>
              </a:buClr>
              <a:buSzPts val="950"/>
              <a:buFont typeface="Calibri"/>
              <a:buChar char="•"/>
            </a:pPr>
            <a:r>
              <a:rPr b="0" i="0" lang="en-US" sz="950" u="none" cap="none" strike="noStrike">
                <a:solidFill>
                  <a:srgbClr val="1B2E4B"/>
                </a:solidFill>
                <a:latin typeface="Calibri"/>
                <a:ea typeface="Calibri"/>
                <a:cs typeface="Calibri"/>
                <a:sym typeface="Calibri"/>
              </a:rPr>
              <a:t>Cricoid cartilage: ONLY complete ring; narrowest airway in children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1B2E4B"/>
              </a:buClr>
              <a:buSzPts val="950"/>
              <a:buFont typeface="Calibri"/>
              <a:buChar char="•"/>
            </a:pPr>
            <a:r>
              <a:rPr b="0" i="0" lang="en-US" sz="950" u="none" cap="none" strike="noStrike">
                <a:solidFill>
                  <a:srgbClr val="1B2E4B"/>
                </a:solidFill>
                <a:latin typeface="Calibri"/>
                <a:ea typeface="Calibri"/>
                <a:cs typeface="Calibri"/>
                <a:sym typeface="Calibri"/>
              </a:rPr>
              <a:t>True vocal cords vibrate → phonation; arytenoids control pitch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1B2E4B"/>
              </a:buClr>
              <a:buSzPts val="950"/>
              <a:buFont typeface="Calibri"/>
              <a:buChar char="•"/>
            </a:pPr>
            <a:r>
              <a:rPr b="0" i="0" lang="en-US" sz="950" u="none" cap="none" strike="noStrike">
                <a:solidFill>
                  <a:srgbClr val="1B2E4B"/>
                </a:solidFill>
                <a:latin typeface="Calibri"/>
                <a:ea typeface="Calibri"/>
                <a:cs typeface="Calibri"/>
                <a:sym typeface="Calibri"/>
              </a:rPr>
              <a:t>KNOW THIS: Epiglottis prevents food entering trachea during swallowing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B2E4B"/>
        </a:solidFill>
      </p:bgPr>
    </p:bg>
    <p:spTree>
      <p:nvGrpSpPr>
        <p:cNvPr id="84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6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D7377"/>
          </a:solidFill>
          <a:ln cap="flat" cmpd="sng" w="12700">
            <a:solidFill>
              <a:srgbClr val="0D737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6" name="Google Shape;86;p6"/>
          <p:cNvSpPr/>
          <p:nvPr/>
        </p:nvSpPr>
        <p:spPr>
          <a:xfrm>
            <a:off x="0" y="4796028"/>
            <a:ext cx="9144000" cy="347472"/>
          </a:xfrm>
          <a:prstGeom prst="rect">
            <a:avLst/>
          </a:prstGeom>
          <a:solidFill>
            <a:srgbClr val="C9A84C"/>
          </a:solidFill>
          <a:ln cap="flat" cmpd="sng" w="12700">
            <a:solidFill>
              <a:srgbClr val="C9A84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7" name="Google Shape;87;p6"/>
          <p:cNvSpPr/>
          <p:nvPr/>
        </p:nvSpPr>
        <p:spPr>
          <a:xfrm>
            <a:off x="457200" y="1463040"/>
            <a:ext cx="8229600" cy="1371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600"/>
              <a:buFont typeface="Calibri"/>
              <a:buNone/>
            </a:pPr>
            <a:r>
              <a:rPr b="1" i="0" lang="en-US" sz="36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Section 3</a:t>
            </a:r>
            <a:endParaRPr b="0" i="0" sz="3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600"/>
              <a:buFont typeface="Calibri"/>
              <a:buNone/>
            </a:pPr>
            <a:r>
              <a:rPr b="1" i="0" lang="en-US" sz="36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Lower Respiratory Tract</a:t>
            </a:r>
            <a:endParaRPr b="0" i="0" sz="3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8" name="Google Shape;88;p6"/>
          <p:cNvSpPr/>
          <p:nvPr/>
        </p:nvSpPr>
        <p:spPr>
          <a:xfrm>
            <a:off x="457200" y="2926080"/>
            <a:ext cx="82296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9A84C"/>
              </a:buClr>
              <a:buSzPts val="1400"/>
              <a:buFont typeface="Calibri"/>
              <a:buNone/>
            </a:pPr>
            <a:r>
              <a:rPr b="0" i="0" lang="en-US" sz="1400" u="none" cap="none" strike="noStrike">
                <a:solidFill>
                  <a:srgbClr val="C9A84C"/>
                </a:solidFill>
                <a:latin typeface="Calibri"/>
                <a:ea typeface="Calibri"/>
                <a:cs typeface="Calibri"/>
                <a:sym typeface="Calibri"/>
              </a:rPr>
              <a:t>Laura Bates, DC  ·  BIOS 255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4F6F8"/>
        </a:solidFill>
      </p:bgPr>
    </p:bg>
    <p:spTree>
      <p:nvGrpSpPr>
        <p:cNvPr id="93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p7"/>
          <p:cNvSpPr/>
          <p:nvPr/>
        </p:nvSpPr>
        <p:spPr>
          <a:xfrm>
            <a:off x="0" y="0"/>
            <a:ext cx="164592" cy="4796028"/>
          </a:xfrm>
          <a:prstGeom prst="rect">
            <a:avLst/>
          </a:prstGeom>
          <a:solidFill>
            <a:srgbClr val="0D7377"/>
          </a:solidFill>
          <a:ln cap="flat" cmpd="sng" w="12700">
            <a:solidFill>
              <a:srgbClr val="0D737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5" name="Google Shape;95;p7"/>
          <p:cNvSpPr/>
          <p:nvPr/>
        </p:nvSpPr>
        <p:spPr>
          <a:xfrm>
            <a:off x="0" y="4796028"/>
            <a:ext cx="9144000" cy="347472"/>
          </a:xfrm>
          <a:prstGeom prst="rect">
            <a:avLst/>
          </a:prstGeom>
          <a:solidFill>
            <a:srgbClr val="C9A84C"/>
          </a:solidFill>
          <a:ln cap="flat" cmpd="sng" w="12700">
            <a:solidFill>
              <a:srgbClr val="C9A84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6" name="Google Shape;96;p7"/>
          <p:cNvSpPr/>
          <p:nvPr/>
        </p:nvSpPr>
        <p:spPr>
          <a:xfrm>
            <a:off x="182880" y="4814316"/>
            <a:ext cx="877824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B2E4B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1B2E4B"/>
                </a:solidFill>
                <a:latin typeface="Calibri"/>
                <a:ea typeface="Calibri"/>
                <a:cs typeface="Calibri"/>
                <a:sym typeface="Calibri"/>
              </a:rPr>
              <a:t>BIOS 255  ·  Respiratory Anatomy  ·  Laura Bates, DC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7" name="Google Shape;97;p7"/>
          <p:cNvSpPr/>
          <p:nvPr/>
        </p:nvSpPr>
        <p:spPr>
          <a:xfrm>
            <a:off x="164592" y="0"/>
            <a:ext cx="8979408" cy="594360"/>
          </a:xfrm>
          <a:prstGeom prst="rect">
            <a:avLst/>
          </a:prstGeom>
          <a:solidFill>
            <a:srgbClr val="1B2E4B"/>
          </a:solidFill>
          <a:ln cap="flat" cmpd="sng" w="12700">
            <a:solidFill>
              <a:srgbClr val="1B2E4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8" name="Google Shape;98;p7"/>
          <p:cNvSpPr/>
          <p:nvPr/>
        </p:nvSpPr>
        <p:spPr>
          <a:xfrm>
            <a:off x="320040" y="0"/>
            <a:ext cx="8046720" cy="5943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Calibri"/>
              <a:buNone/>
            </a:pPr>
            <a:r>
              <a:rPr b="1" i="0" lang="en-US" sz="1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Trachea &amp; Bronchial Tree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9" name="Google Shape;99;p7"/>
          <p:cNvSpPr/>
          <p:nvPr/>
        </p:nvSpPr>
        <p:spPr>
          <a:xfrm>
            <a:off x="6949440" y="54864"/>
            <a:ext cx="1965960" cy="475488"/>
          </a:xfrm>
          <a:prstGeom prst="rect">
            <a:avLst/>
          </a:prstGeom>
          <a:solidFill>
            <a:srgbClr val="C9A84C"/>
          </a:solidFill>
          <a:ln cap="flat" cmpd="sng" w="12700">
            <a:solidFill>
              <a:srgbClr val="C9A84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0" name="Google Shape;100;p7"/>
          <p:cNvSpPr/>
          <p:nvPr/>
        </p:nvSpPr>
        <p:spPr>
          <a:xfrm>
            <a:off x="6967728" y="64008"/>
            <a:ext cx="192024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B2E4B"/>
              </a:buClr>
              <a:buSzPts val="900"/>
              <a:buFont typeface="Calibri"/>
              <a:buNone/>
            </a:pPr>
            <a:r>
              <a:rPr b="1" i="0" lang="en-US" sz="900" u="none" cap="none" strike="noStrike">
                <a:solidFill>
                  <a:srgbClr val="1B2E4B"/>
                </a:solidFill>
                <a:latin typeface="Calibri"/>
                <a:ea typeface="Calibri"/>
                <a:cs typeface="Calibri"/>
                <a:sym typeface="Calibri"/>
              </a:rPr>
              <a:t>Lecture Slides 9 &amp; 12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1" name="Google Shape;101;p7"/>
          <p:cNvSpPr/>
          <p:nvPr/>
        </p:nvSpPr>
        <p:spPr>
          <a:xfrm>
            <a:off x="228600" y="658368"/>
            <a:ext cx="4160520" cy="329184"/>
          </a:xfrm>
          <a:prstGeom prst="rect">
            <a:avLst/>
          </a:prstGeom>
          <a:solidFill>
            <a:srgbClr val="0D7377"/>
          </a:solidFill>
          <a:ln cap="flat" cmpd="sng" w="12700">
            <a:solidFill>
              <a:srgbClr val="0D737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2" name="Google Shape;102;p7"/>
          <p:cNvSpPr/>
          <p:nvPr/>
        </p:nvSpPr>
        <p:spPr>
          <a:xfrm>
            <a:off x="256032" y="658368"/>
            <a:ext cx="4114800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Trachea (Windpipe)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3" name="Google Shape;103;p7"/>
          <p:cNvSpPr/>
          <p:nvPr/>
        </p:nvSpPr>
        <p:spPr>
          <a:xfrm>
            <a:off x="256032" y="1024128"/>
            <a:ext cx="4069080" cy="21488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2E4B"/>
              </a:buClr>
              <a:buSzPts val="1050"/>
              <a:buFont typeface="Calibri"/>
              <a:buNone/>
            </a:pPr>
            <a:r>
              <a:rPr b="1" i="0" lang="en-US" sz="1050" u="none" cap="none" strike="noStrike">
                <a:solidFill>
                  <a:srgbClr val="1B2E4B"/>
                </a:solidFill>
                <a:latin typeface="Calibri"/>
                <a:ea typeface="Calibri"/>
                <a:cs typeface="Calibri"/>
                <a:sym typeface="Calibri"/>
              </a:rPr>
              <a:t>Structure: </a:t>
            </a:r>
            <a:r>
              <a:rPr b="0" i="0" lang="en-US" sz="1050" u="none" cap="none" strike="noStrike">
                <a:solidFill>
                  <a:srgbClr val="1B2E4B"/>
                </a:solidFill>
                <a:latin typeface="Calibri"/>
                <a:ea typeface="Calibri"/>
                <a:cs typeface="Calibri"/>
                <a:sym typeface="Calibri"/>
              </a:rPr>
              <a:t>~12.5 cm; 16–20 C-shaped hyaline cartilage rings prevent collapse during inhalation</a:t>
            </a:r>
            <a:br>
              <a:rPr b="0" i="0" lang="en-US" sz="1050" u="none" cap="none" strike="noStrike">
                <a:solidFill>
                  <a:srgbClr val="1B2E4B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2E4B"/>
              </a:buClr>
              <a:buSzPts val="1050"/>
              <a:buFont typeface="Calibri"/>
              <a:buNone/>
            </a:pPr>
            <a:r>
              <a:rPr b="1" i="0" lang="en-US" sz="1050" u="none" cap="none" strike="noStrike">
                <a:solidFill>
                  <a:srgbClr val="1B2E4B"/>
                </a:solidFill>
                <a:latin typeface="Calibri"/>
                <a:ea typeface="Calibri"/>
                <a:cs typeface="Calibri"/>
                <a:sym typeface="Calibri"/>
              </a:rPr>
              <a:t>Trachealis muscle: </a:t>
            </a:r>
            <a:r>
              <a:rPr b="0" i="0" lang="en-US" sz="1050" u="none" cap="none" strike="noStrike">
                <a:solidFill>
                  <a:srgbClr val="1B2E4B"/>
                </a:solidFill>
                <a:latin typeface="Calibri"/>
                <a:ea typeface="Calibri"/>
                <a:cs typeface="Calibri"/>
                <a:sym typeface="Calibri"/>
              </a:rPr>
              <a:t>bridges posterior gap; contracts during coughing ↑ airflow velocity; relaxes during swallowing</a:t>
            </a:r>
            <a:br>
              <a:rPr b="0" i="0" lang="en-US" sz="1050" u="none" cap="none" strike="noStrike">
                <a:solidFill>
                  <a:srgbClr val="1B2E4B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2E4B"/>
              </a:buClr>
              <a:buSzPts val="1050"/>
              <a:buFont typeface="Calibri"/>
              <a:buNone/>
            </a:pPr>
            <a:r>
              <a:rPr b="1" i="0" lang="en-US" sz="1050" u="none" cap="none" strike="noStrike">
                <a:solidFill>
                  <a:srgbClr val="1B2E4B"/>
                </a:solidFill>
                <a:latin typeface="Calibri"/>
                <a:ea typeface="Calibri"/>
                <a:cs typeface="Calibri"/>
                <a:sym typeface="Calibri"/>
              </a:rPr>
              <a:t>Epithelium: </a:t>
            </a:r>
            <a:r>
              <a:rPr b="0" i="0" lang="en-US" sz="1050" u="none" cap="none" strike="noStrike">
                <a:solidFill>
                  <a:srgbClr val="1B2E4B"/>
                </a:solidFill>
                <a:latin typeface="Calibri"/>
                <a:ea typeface="Calibri"/>
                <a:cs typeface="Calibri"/>
                <a:sym typeface="Calibri"/>
              </a:rPr>
              <a:t>pseudostratified ciliated columnar + goblet cells = mucociliary escalator</a:t>
            </a:r>
            <a:br>
              <a:rPr b="0" i="0" lang="en-US" sz="1050" u="none" cap="none" strike="noStrike">
                <a:solidFill>
                  <a:srgbClr val="1B2E4B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2E4B"/>
              </a:buClr>
              <a:buSzPts val="1050"/>
              <a:buFont typeface="Calibri"/>
              <a:buNone/>
            </a:pPr>
            <a:r>
              <a:rPr b="1" i="0" lang="en-US" sz="1050" u="none" cap="none" strike="noStrike">
                <a:solidFill>
                  <a:srgbClr val="1B2E4B"/>
                </a:solidFill>
                <a:latin typeface="Calibri"/>
                <a:ea typeface="Calibri"/>
                <a:cs typeface="Calibri"/>
                <a:sym typeface="Calibri"/>
              </a:rPr>
              <a:t>Carina: </a:t>
            </a:r>
            <a:r>
              <a:rPr b="0" i="0" lang="en-US" sz="1050" u="none" cap="none" strike="noStrike">
                <a:solidFill>
                  <a:srgbClr val="1B2E4B"/>
                </a:solidFill>
                <a:latin typeface="Calibri"/>
                <a:ea typeface="Calibri"/>
                <a:cs typeface="Calibri"/>
                <a:sym typeface="Calibri"/>
              </a:rPr>
              <a:t>bifurcation point (T4–T5); rich in cough receptors</a:t>
            </a:r>
            <a:br>
              <a:rPr b="0" i="0" lang="en-US" sz="1050" u="none" cap="none" strike="noStrike">
                <a:solidFill>
                  <a:srgbClr val="1B2E4B"/>
                </a:solidFill>
                <a:latin typeface="Calibri"/>
                <a:ea typeface="Calibri"/>
                <a:cs typeface="Calibri"/>
                <a:sym typeface="Calibri"/>
              </a:rPr>
            </a:br>
            <a:br>
              <a:rPr b="0" i="0" lang="en-US" sz="1050" u="none" cap="none" strike="noStrike">
                <a:solidFill>
                  <a:srgbClr val="1B2E4B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D7377"/>
              </a:buClr>
              <a:buSzPts val="1050"/>
              <a:buFont typeface="Calibri"/>
              <a:buNone/>
            </a:pPr>
            <a:r>
              <a:rPr b="1" i="0" lang="en-US" sz="1050" u="none" cap="none" strike="noStrike">
                <a:solidFill>
                  <a:srgbClr val="0D7377"/>
                </a:solidFill>
                <a:latin typeface="Calibri"/>
                <a:ea typeface="Calibri"/>
                <a:cs typeface="Calibri"/>
                <a:sym typeface="Calibri"/>
              </a:rPr>
              <a:t>KNOW THIS: </a:t>
            </a:r>
            <a:r>
              <a:rPr b="0" i="0" lang="en-US" sz="1050" u="none" cap="none" strike="noStrike">
                <a:solidFill>
                  <a:srgbClr val="1B2E4B"/>
                </a:solidFill>
                <a:latin typeface="Calibri"/>
                <a:ea typeface="Calibri"/>
                <a:cs typeface="Calibri"/>
                <a:sym typeface="Calibri"/>
              </a:rPr>
              <a:t>What connects larynx to bronchi? → TRACHEA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4" name="Google Shape;104;p7"/>
          <p:cNvSpPr/>
          <p:nvPr/>
        </p:nvSpPr>
        <p:spPr>
          <a:xfrm>
            <a:off x="228600" y="3246120"/>
            <a:ext cx="4160520" cy="329184"/>
          </a:xfrm>
          <a:prstGeom prst="rect">
            <a:avLst/>
          </a:prstGeom>
          <a:solidFill>
            <a:srgbClr val="C9A84C"/>
          </a:solidFill>
          <a:ln cap="flat" cmpd="sng" w="12700">
            <a:solidFill>
              <a:srgbClr val="C9A84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5" name="Google Shape;105;p7"/>
          <p:cNvSpPr/>
          <p:nvPr/>
        </p:nvSpPr>
        <p:spPr>
          <a:xfrm>
            <a:off x="256032" y="3246120"/>
            <a:ext cx="4114800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2E4B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1B2E4B"/>
                </a:solidFill>
                <a:latin typeface="Calibri"/>
                <a:ea typeface="Calibri"/>
                <a:cs typeface="Calibri"/>
                <a:sym typeface="Calibri"/>
              </a:rPr>
              <a:t>Clinical: Right Bronchus Aspiration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6" name="Google Shape;106;p7"/>
          <p:cNvSpPr/>
          <p:nvPr/>
        </p:nvSpPr>
        <p:spPr>
          <a:xfrm>
            <a:off x="256032" y="3611880"/>
            <a:ext cx="4069080" cy="56692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2E4B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1B2E4B"/>
                </a:solidFill>
                <a:latin typeface="Calibri"/>
                <a:ea typeface="Calibri"/>
                <a:cs typeface="Calibri"/>
                <a:sym typeface="Calibri"/>
              </a:rPr>
              <a:t>Right main bronchus: wider, shorter, more vertical → aspiration pneumonia and foreign bodies preferentially enter right lower lobe first.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7" name="Google Shape;107;p7"/>
          <p:cNvSpPr/>
          <p:nvPr/>
        </p:nvSpPr>
        <p:spPr>
          <a:xfrm>
            <a:off x="4498848" y="658368"/>
            <a:ext cx="4434840" cy="329184"/>
          </a:xfrm>
          <a:prstGeom prst="rect">
            <a:avLst/>
          </a:prstGeom>
          <a:solidFill>
            <a:srgbClr val="1B2E4B"/>
          </a:solidFill>
          <a:ln cap="flat" cmpd="sng" w="12700">
            <a:solidFill>
              <a:srgbClr val="1B2E4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8" name="Google Shape;108;p7"/>
          <p:cNvSpPr/>
          <p:nvPr/>
        </p:nvSpPr>
        <p:spPr>
          <a:xfrm>
            <a:off x="4526280" y="658368"/>
            <a:ext cx="4389120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Bronchial Tree — Sequence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9" name="Google Shape;109;p7"/>
          <p:cNvSpPr/>
          <p:nvPr/>
        </p:nvSpPr>
        <p:spPr>
          <a:xfrm>
            <a:off x="4498848" y="1024128"/>
            <a:ext cx="4434840" cy="457200"/>
          </a:xfrm>
          <a:prstGeom prst="rect">
            <a:avLst/>
          </a:prstGeom>
          <a:solidFill>
            <a:srgbClr val="E8EEF4"/>
          </a:solidFill>
          <a:ln cap="flat" cmpd="sng" w="12700">
            <a:solidFill>
              <a:srgbClr val="D0D8E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0" name="Google Shape;110;p7"/>
          <p:cNvSpPr/>
          <p:nvPr/>
        </p:nvSpPr>
        <p:spPr>
          <a:xfrm>
            <a:off x="4544568" y="1051560"/>
            <a:ext cx="1920240" cy="40233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2E4B"/>
              </a:buClr>
              <a:buSzPts val="900"/>
              <a:buFont typeface="Calibri"/>
              <a:buNone/>
            </a:pPr>
            <a:r>
              <a:rPr b="1" i="0" lang="en-US" sz="900" u="none" cap="none" strike="noStrike">
                <a:solidFill>
                  <a:srgbClr val="1B2E4B"/>
                </a:solidFill>
                <a:latin typeface="Calibri"/>
                <a:ea typeface="Calibri"/>
                <a:cs typeface="Calibri"/>
                <a:sym typeface="Calibri"/>
              </a:rPr>
              <a:t>Primary (Main) Bronchi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1" name="Google Shape;111;p7"/>
          <p:cNvSpPr/>
          <p:nvPr/>
        </p:nvSpPr>
        <p:spPr>
          <a:xfrm>
            <a:off x="6492240" y="1051560"/>
            <a:ext cx="2377440" cy="40233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2E4B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1B2E4B"/>
                </a:solidFill>
                <a:latin typeface="Calibri"/>
                <a:ea typeface="Calibri"/>
                <a:cs typeface="Calibri"/>
                <a:sym typeface="Calibri"/>
              </a:rPr>
              <a:t>Right: wider, shorter, more vertical. Left: narrower, more horizontal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2" name="Google Shape;112;p7"/>
          <p:cNvSpPr/>
          <p:nvPr/>
        </p:nvSpPr>
        <p:spPr>
          <a:xfrm>
            <a:off x="4498848" y="1508760"/>
            <a:ext cx="4434840" cy="457200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D0D8E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3" name="Google Shape;113;p7"/>
          <p:cNvSpPr/>
          <p:nvPr/>
        </p:nvSpPr>
        <p:spPr>
          <a:xfrm>
            <a:off x="4544568" y="1536192"/>
            <a:ext cx="1920240" cy="40233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2E4B"/>
              </a:buClr>
              <a:buSzPts val="900"/>
              <a:buFont typeface="Calibri"/>
              <a:buNone/>
            </a:pPr>
            <a:r>
              <a:rPr b="1" i="0" lang="en-US" sz="900" u="none" cap="none" strike="noStrike">
                <a:solidFill>
                  <a:srgbClr val="1B2E4B"/>
                </a:solidFill>
                <a:latin typeface="Calibri"/>
                <a:ea typeface="Calibri"/>
                <a:cs typeface="Calibri"/>
                <a:sym typeface="Calibri"/>
              </a:rPr>
              <a:t>Lobar (Secondary) Bronchi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4" name="Google Shape;114;p7"/>
          <p:cNvSpPr/>
          <p:nvPr/>
        </p:nvSpPr>
        <p:spPr>
          <a:xfrm>
            <a:off x="6492240" y="1536192"/>
            <a:ext cx="2377440" cy="40233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2E4B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1B2E4B"/>
                </a:solidFill>
                <a:latin typeface="Calibri"/>
                <a:ea typeface="Calibri"/>
                <a:cs typeface="Calibri"/>
                <a:sym typeface="Calibri"/>
              </a:rPr>
              <a:t>1 per lobe: 3 right, 2 left; still have cartilage rings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5" name="Google Shape;115;p7"/>
          <p:cNvSpPr/>
          <p:nvPr/>
        </p:nvSpPr>
        <p:spPr>
          <a:xfrm>
            <a:off x="4498848" y="1993392"/>
            <a:ext cx="4434840" cy="457200"/>
          </a:xfrm>
          <a:prstGeom prst="rect">
            <a:avLst/>
          </a:prstGeom>
          <a:solidFill>
            <a:srgbClr val="E8EEF4"/>
          </a:solidFill>
          <a:ln cap="flat" cmpd="sng" w="12700">
            <a:solidFill>
              <a:srgbClr val="D0D8E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6" name="Google Shape;116;p7"/>
          <p:cNvSpPr/>
          <p:nvPr/>
        </p:nvSpPr>
        <p:spPr>
          <a:xfrm>
            <a:off x="4544568" y="2020824"/>
            <a:ext cx="1920240" cy="40233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2E4B"/>
              </a:buClr>
              <a:buSzPts val="900"/>
              <a:buFont typeface="Calibri"/>
              <a:buNone/>
            </a:pPr>
            <a:r>
              <a:rPr b="1" i="0" lang="en-US" sz="900" u="none" cap="none" strike="noStrike">
                <a:solidFill>
                  <a:srgbClr val="1B2E4B"/>
                </a:solidFill>
                <a:latin typeface="Calibri"/>
                <a:ea typeface="Calibri"/>
                <a:cs typeface="Calibri"/>
                <a:sym typeface="Calibri"/>
              </a:rPr>
              <a:t>Segmental (Tertiary) Bronchi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7" name="Google Shape;117;p7"/>
          <p:cNvSpPr/>
          <p:nvPr/>
        </p:nvSpPr>
        <p:spPr>
          <a:xfrm>
            <a:off x="6492240" y="2020824"/>
            <a:ext cx="2377440" cy="40233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2E4B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1B2E4B"/>
                </a:solidFill>
                <a:latin typeface="Calibri"/>
                <a:ea typeface="Calibri"/>
                <a:cs typeface="Calibri"/>
                <a:sym typeface="Calibri"/>
              </a:rPr>
              <a:t>Supply bronchopulmonary segments; independently resectable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8" name="Google Shape;118;p7"/>
          <p:cNvSpPr/>
          <p:nvPr/>
        </p:nvSpPr>
        <p:spPr>
          <a:xfrm>
            <a:off x="4498848" y="2478024"/>
            <a:ext cx="4434840" cy="457200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D0D8E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9" name="Google Shape;119;p7"/>
          <p:cNvSpPr/>
          <p:nvPr/>
        </p:nvSpPr>
        <p:spPr>
          <a:xfrm>
            <a:off x="4544568" y="2505456"/>
            <a:ext cx="1920240" cy="40233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2E4B"/>
              </a:buClr>
              <a:buSzPts val="900"/>
              <a:buFont typeface="Calibri"/>
              <a:buNone/>
            </a:pPr>
            <a:r>
              <a:rPr b="1" i="0" lang="en-US" sz="900" u="none" cap="none" strike="noStrike">
                <a:solidFill>
                  <a:srgbClr val="1B2E4B"/>
                </a:solidFill>
                <a:latin typeface="Calibri"/>
                <a:ea typeface="Calibri"/>
                <a:cs typeface="Calibri"/>
                <a:sym typeface="Calibri"/>
              </a:rPr>
              <a:t>Bronchioles → Terminal Bronchioles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0" name="Google Shape;120;p7"/>
          <p:cNvSpPr/>
          <p:nvPr/>
        </p:nvSpPr>
        <p:spPr>
          <a:xfrm>
            <a:off x="6492240" y="2505456"/>
            <a:ext cx="2377440" cy="40233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2E4B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1B2E4B"/>
                </a:solidFill>
                <a:latin typeface="Calibri"/>
                <a:ea typeface="Calibri"/>
                <a:cs typeface="Calibri"/>
                <a:sym typeface="Calibri"/>
              </a:rPr>
              <a:t>No cartilage; smooth muscle; end of conducting zone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1" name="Google Shape;121;p7"/>
          <p:cNvSpPr/>
          <p:nvPr/>
        </p:nvSpPr>
        <p:spPr>
          <a:xfrm>
            <a:off x="4498848" y="2962656"/>
            <a:ext cx="4434840" cy="457200"/>
          </a:xfrm>
          <a:prstGeom prst="rect">
            <a:avLst/>
          </a:prstGeom>
          <a:solidFill>
            <a:srgbClr val="E8EEF4"/>
          </a:solidFill>
          <a:ln cap="flat" cmpd="sng" w="12700">
            <a:solidFill>
              <a:srgbClr val="D0D8E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2" name="Google Shape;122;p7"/>
          <p:cNvSpPr/>
          <p:nvPr/>
        </p:nvSpPr>
        <p:spPr>
          <a:xfrm>
            <a:off x="4544568" y="2990088"/>
            <a:ext cx="1920240" cy="40233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2E4B"/>
              </a:buClr>
              <a:buSzPts val="900"/>
              <a:buFont typeface="Calibri"/>
              <a:buNone/>
            </a:pPr>
            <a:r>
              <a:rPr b="1" i="0" lang="en-US" sz="900" u="none" cap="none" strike="noStrike">
                <a:solidFill>
                  <a:srgbClr val="1B2E4B"/>
                </a:solidFill>
                <a:latin typeface="Calibri"/>
                <a:ea typeface="Calibri"/>
                <a:cs typeface="Calibri"/>
                <a:sym typeface="Calibri"/>
              </a:rPr>
              <a:t>Respiratory Bronchioles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3" name="Google Shape;123;p7"/>
          <p:cNvSpPr/>
          <p:nvPr/>
        </p:nvSpPr>
        <p:spPr>
          <a:xfrm>
            <a:off x="6492240" y="2990088"/>
            <a:ext cx="2377440" cy="40233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2E4B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1B2E4B"/>
                </a:solidFill>
                <a:latin typeface="Calibri"/>
                <a:ea typeface="Calibri"/>
                <a:cs typeface="Calibri"/>
                <a:sym typeface="Calibri"/>
              </a:rPr>
              <a:t>START of respiratory zone; scattered alveoli in walls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4" name="Google Shape;124;p7"/>
          <p:cNvSpPr/>
          <p:nvPr/>
        </p:nvSpPr>
        <p:spPr>
          <a:xfrm>
            <a:off x="4498848" y="3447288"/>
            <a:ext cx="4434840" cy="457200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D0D8E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5" name="Google Shape;125;p7"/>
          <p:cNvSpPr/>
          <p:nvPr/>
        </p:nvSpPr>
        <p:spPr>
          <a:xfrm>
            <a:off x="4544568" y="3474720"/>
            <a:ext cx="1920240" cy="40233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2E4B"/>
              </a:buClr>
              <a:buSzPts val="900"/>
              <a:buFont typeface="Calibri"/>
              <a:buNone/>
            </a:pPr>
            <a:r>
              <a:rPr b="1" i="0" lang="en-US" sz="900" u="none" cap="none" strike="noStrike">
                <a:solidFill>
                  <a:srgbClr val="1B2E4B"/>
                </a:solidFill>
                <a:latin typeface="Calibri"/>
                <a:ea typeface="Calibri"/>
                <a:cs typeface="Calibri"/>
                <a:sym typeface="Calibri"/>
              </a:rPr>
              <a:t>Alveolar Ducts → Alveolar Sacs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6" name="Google Shape;126;p7"/>
          <p:cNvSpPr/>
          <p:nvPr/>
        </p:nvSpPr>
        <p:spPr>
          <a:xfrm>
            <a:off x="6492240" y="3474720"/>
            <a:ext cx="2377440" cy="40233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2E4B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1B2E4B"/>
                </a:solidFill>
                <a:latin typeface="Calibri"/>
                <a:ea typeface="Calibri"/>
                <a:cs typeface="Calibri"/>
                <a:sym typeface="Calibri"/>
              </a:rPr>
              <a:t>Branch from respiratory bronchioles → lead to alveoli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7" name="Google Shape;127;p7"/>
          <p:cNvSpPr/>
          <p:nvPr/>
        </p:nvSpPr>
        <p:spPr>
          <a:xfrm>
            <a:off x="4498848" y="3950208"/>
            <a:ext cx="4434840" cy="4754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D7377"/>
              </a:buClr>
              <a:buSzPts val="950"/>
              <a:buFont typeface="Calibri"/>
              <a:buNone/>
            </a:pPr>
            <a:r>
              <a:rPr b="1" i="0" lang="en-US" sz="950" u="none" cap="none" strike="noStrike">
                <a:solidFill>
                  <a:srgbClr val="0D7377"/>
                </a:solidFill>
                <a:latin typeface="Calibri"/>
                <a:ea typeface="Calibri"/>
                <a:cs typeface="Calibri"/>
                <a:sym typeface="Calibri"/>
              </a:rPr>
              <a:t>KNOW THIS: </a:t>
            </a:r>
            <a:r>
              <a:rPr b="0" i="0" lang="en-US" sz="950" u="none" cap="none" strike="noStrike">
                <a:solidFill>
                  <a:srgbClr val="1B2E4B"/>
                </a:solidFill>
                <a:latin typeface="Calibri"/>
                <a:ea typeface="Calibri"/>
                <a:cs typeface="Calibri"/>
                <a:sym typeface="Calibri"/>
              </a:rPr>
              <a:t>Which branches into alveolar ducts? → Respiratory bronchioles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D7377"/>
              </a:buClr>
              <a:buSzPts val="950"/>
              <a:buFont typeface="Calibri"/>
              <a:buNone/>
            </a:pPr>
            <a:r>
              <a:rPr b="1" i="0" lang="en-US" sz="950" u="none" cap="none" strike="noStrike">
                <a:solidFill>
                  <a:srgbClr val="0D7377"/>
                </a:solidFill>
                <a:latin typeface="Calibri"/>
                <a:ea typeface="Calibri"/>
                <a:cs typeface="Calibri"/>
                <a:sym typeface="Calibri"/>
              </a:rPr>
              <a:t>KNOW THIS: </a:t>
            </a:r>
            <a:r>
              <a:rPr b="0" i="0" lang="en-US" sz="950" u="none" cap="none" strike="noStrike">
                <a:solidFill>
                  <a:srgbClr val="1B2E4B"/>
                </a:solidFill>
                <a:latin typeface="Calibri"/>
                <a:ea typeface="Calibri"/>
                <a:cs typeface="Calibri"/>
                <a:sym typeface="Calibri"/>
              </a:rPr>
              <a:t>Small airway leading directly to alveoli? → Bronchioles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4F6F8"/>
        </a:solidFill>
      </p:bgPr>
    </p:bg>
    <p:spTree>
      <p:nvGrpSpPr>
        <p:cNvPr id="132" name="Shape 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Google Shape;133;p8"/>
          <p:cNvSpPr/>
          <p:nvPr/>
        </p:nvSpPr>
        <p:spPr>
          <a:xfrm>
            <a:off x="0" y="0"/>
            <a:ext cx="164592" cy="4796028"/>
          </a:xfrm>
          <a:prstGeom prst="rect">
            <a:avLst/>
          </a:prstGeom>
          <a:solidFill>
            <a:srgbClr val="0D7377"/>
          </a:solidFill>
          <a:ln cap="flat" cmpd="sng" w="12700">
            <a:solidFill>
              <a:srgbClr val="0D737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4" name="Google Shape;134;p8"/>
          <p:cNvSpPr/>
          <p:nvPr/>
        </p:nvSpPr>
        <p:spPr>
          <a:xfrm>
            <a:off x="0" y="4796028"/>
            <a:ext cx="9144000" cy="347472"/>
          </a:xfrm>
          <a:prstGeom prst="rect">
            <a:avLst/>
          </a:prstGeom>
          <a:solidFill>
            <a:srgbClr val="C9A84C"/>
          </a:solidFill>
          <a:ln cap="flat" cmpd="sng" w="12700">
            <a:solidFill>
              <a:srgbClr val="C9A84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5" name="Google Shape;135;p8"/>
          <p:cNvSpPr/>
          <p:nvPr/>
        </p:nvSpPr>
        <p:spPr>
          <a:xfrm>
            <a:off x="182880" y="4814316"/>
            <a:ext cx="877824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B2E4B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1B2E4B"/>
                </a:solidFill>
                <a:latin typeface="Calibri"/>
                <a:ea typeface="Calibri"/>
                <a:cs typeface="Calibri"/>
                <a:sym typeface="Calibri"/>
              </a:rPr>
              <a:t>BIOS 255  ·  Respiratory Anatomy  ·  Laura Bates, DC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6" name="Google Shape;136;p8"/>
          <p:cNvSpPr/>
          <p:nvPr/>
        </p:nvSpPr>
        <p:spPr>
          <a:xfrm>
            <a:off x="164592" y="0"/>
            <a:ext cx="8979408" cy="594360"/>
          </a:xfrm>
          <a:prstGeom prst="rect">
            <a:avLst/>
          </a:prstGeom>
          <a:solidFill>
            <a:srgbClr val="1B2E4B"/>
          </a:solidFill>
          <a:ln cap="flat" cmpd="sng" w="12700">
            <a:solidFill>
              <a:srgbClr val="1B2E4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7" name="Google Shape;137;p8"/>
          <p:cNvSpPr/>
          <p:nvPr/>
        </p:nvSpPr>
        <p:spPr>
          <a:xfrm>
            <a:off x="320040" y="0"/>
            <a:ext cx="8046720" cy="5943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Calibri"/>
              <a:buNone/>
            </a:pPr>
            <a:r>
              <a:rPr b="1" i="0" lang="en-US" sz="1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The Lungs — Gross Anatomy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8" name="Google Shape;138;p8"/>
          <p:cNvSpPr/>
          <p:nvPr/>
        </p:nvSpPr>
        <p:spPr>
          <a:xfrm>
            <a:off x="7315200" y="54864"/>
            <a:ext cx="1600200" cy="475488"/>
          </a:xfrm>
          <a:prstGeom prst="rect">
            <a:avLst/>
          </a:prstGeom>
          <a:solidFill>
            <a:srgbClr val="C9A84C"/>
          </a:solidFill>
          <a:ln cap="flat" cmpd="sng" w="12700">
            <a:solidFill>
              <a:srgbClr val="C9A84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9" name="Google Shape;139;p8"/>
          <p:cNvSpPr/>
          <p:nvPr/>
        </p:nvSpPr>
        <p:spPr>
          <a:xfrm>
            <a:off x="7333488" y="64008"/>
            <a:ext cx="155448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B2E4B"/>
              </a:buClr>
              <a:buSzPts val="900"/>
              <a:buFont typeface="Calibri"/>
              <a:buNone/>
            </a:pPr>
            <a:r>
              <a:rPr b="1" i="0" lang="en-US" sz="900" u="none" cap="none" strike="noStrike">
                <a:solidFill>
                  <a:srgbClr val="1B2E4B"/>
                </a:solidFill>
                <a:latin typeface="Calibri"/>
                <a:ea typeface="Calibri"/>
                <a:cs typeface="Calibri"/>
                <a:sym typeface="Calibri"/>
              </a:rPr>
              <a:t>Lecture Slide 11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0" name="Google Shape;140;p8"/>
          <p:cNvSpPr/>
          <p:nvPr/>
        </p:nvSpPr>
        <p:spPr>
          <a:xfrm>
            <a:off x="228600" y="658368"/>
            <a:ext cx="4160520" cy="329184"/>
          </a:xfrm>
          <a:prstGeom prst="rect">
            <a:avLst/>
          </a:prstGeom>
          <a:solidFill>
            <a:srgbClr val="0D7377"/>
          </a:solidFill>
          <a:ln cap="flat" cmpd="sng" w="12700">
            <a:solidFill>
              <a:srgbClr val="0D737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1" name="Google Shape;141;p8"/>
          <p:cNvSpPr/>
          <p:nvPr/>
        </p:nvSpPr>
        <p:spPr>
          <a:xfrm>
            <a:off x="256032" y="658368"/>
            <a:ext cx="4114800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Right Lung — 3 Lobes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2" name="Google Shape;142;p8"/>
          <p:cNvSpPr/>
          <p:nvPr/>
        </p:nvSpPr>
        <p:spPr>
          <a:xfrm>
            <a:off x="256032" y="1024128"/>
            <a:ext cx="4069080" cy="14630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2E4B"/>
              </a:buClr>
              <a:buSzPts val="1050"/>
              <a:buFont typeface="Calibri"/>
              <a:buNone/>
            </a:pPr>
            <a:r>
              <a:rPr b="1" i="0" lang="en-US" sz="1050" u="none" cap="none" strike="noStrike">
                <a:solidFill>
                  <a:srgbClr val="1B2E4B"/>
                </a:solidFill>
                <a:latin typeface="Calibri"/>
                <a:ea typeface="Calibri"/>
                <a:cs typeface="Calibri"/>
                <a:sym typeface="Calibri"/>
              </a:rPr>
              <a:t>Lobes: </a:t>
            </a:r>
            <a:r>
              <a:rPr b="0" i="0" lang="en-US" sz="1050" u="none" cap="none" strike="noStrike">
                <a:solidFill>
                  <a:srgbClr val="1B2E4B"/>
                </a:solidFill>
                <a:latin typeface="Calibri"/>
                <a:ea typeface="Calibri"/>
                <a:cs typeface="Calibri"/>
                <a:sym typeface="Calibri"/>
              </a:rPr>
              <a:t>Superior, Middle, Inferior</a:t>
            </a:r>
            <a:br>
              <a:rPr b="0" i="0" lang="en-US" sz="1050" u="none" cap="none" strike="noStrike">
                <a:solidFill>
                  <a:srgbClr val="1B2E4B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2E4B"/>
              </a:buClr>
              <a:buSzPts val="1050"/>
              <a:buFont typeface="Calibri"/>
              <a:buNone/>
            </a:pPr>
            <a:r>
              <a:rPr b="0" i="0" lang="en-US" sz="1050" u="none" cap="none" strike="noStrike">
                <a:solidFill>
                  <a:srgbClr val="1B2E4B"/>
                </a:solidFill>
                <a:latin typeface="Calibri"/>
                <a:ea typeface="Calibri"/>
                <a:cs typeface="Calibri"/>
                <a:sym typeface="Calibri"/>
              </a:rPr>
              <a:t>Shorter and wider: liver elevates right side; heart is left of center</a:t>
            </a:r>
            <a:br>
              <a:rPr b="0" i="0" lang="en-US" sz="1050" u="none" cap="none" strike="noStrike">
                <a:solidFill>
                  <a:srgbClr val="1B2E4B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2E4B"/>
              </a:buClr>
              <a:buSzPts val="1050"/>
              <a:buFont typeface="Calibri"/>
              <a:buNone/>
            </a:pPr>
            <a:r>
              <a:rPr b="0" i="0" lang="en-US" sz="1050" u="none" cap="none" strike="noStrike">
                <a:solidFill>
                  <a:srgbClr val="1B2E4B"/>
                </a:solidFill>
                <a:latin typeface="Calibri"/>
                <a:ea typeface="Calibri"/>
                <a:cs typeface="Calibri"/>
                <a:sym typeface="Calibri"/>
              </a:rPr>
              <a:t>3 lobar bronchi supply each lobe</a:t>
            </a:r>
            <a:br>
              <a:rPr b="0" i="0" lang="en-US" sz="1050" u="none" cap="none" strike="noStrike">
                <a:solidFill>
                  <a:srgbClr val="1B2E4B"/>
                </a:solidFill>
                <a:latin typeface="Calibri"/>
                <a:ea typeface="Calibri"/>
                <a:cs typeface="Calibri"/>
                <a:sym typeface="Calibri"/>
              </a:rPr>
            </a:br>
            <a:br>
              <a:rPr b="0" i="0" lang="en-US" sz="1050" u="none" cap="none" strike="noStrike">
                <a:solidFill>
                  <a:srgbClr val="1B2E4B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D7377"/>
              </a:buClr>
              <a:buSzPts val="1050"/>
              <a:buFont typeface="Calibri"/>
              <a:buNone/>
            </a:pPr>
            <a:r>
              <a:rPr b="1" i="0" lang="en-US" sz="1050" u="none" cap="none" strike="noStrike">
                <a:solidFill>
                  <a:srgbClr val="0D7377"/>
                </a:solidFill>
                <a:latin typeface="Calibri"/>
                <a:ea typeface="Calibri"/>
                <a:cs typeface="Calibri"/>
                <a:sym typeface="Calibri"/>
              </a:rPr>
              <a:t>KNOW THIS: </a:t>
            </a:r>
            <a:r>
              <a:rPr b="0" i="0" lang="en-US" sz="1050" u="none" cap="none" strike="noStrike">
                <a:solidFill>
                  <a:srgbClr val="1B2E4B"/>
                </a:solidFill>
                <a:latin typeface="Calibri"/>
                <a:ea typeface="Calibri"/>
                <a:cs typeface="Calibri"/>
                <a:sym typeface="Calibri"/>
              </a:rPr>
              <a:t>Which lobe is absent in the LEFT lung? → Middle lobe (left has only superior &amp; inferior)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3" name="Google Shape;143;p8"/>
          <p:cNvSpPr/>
          <p:nvPr/>
        </p:nvSpPr>
        <p:spPr>
          <a:xfrm>
            <a:off x="228600" y="2542032"/>
            <a:ext cx="4160520" cy="329184"/>
          </a:xfrm>
          <a:prstGeom prst="rect">
            <a:avLst/>
          </a:prstGeom>
          <a:solidFill>
            <a:srgbClr val="1B2E4B"/>
          </a:solidFill>
          <a:ln cap="flat" cmpd="sng" w="12700">
            <a:solidFill>
              <a:srgbClr val="1B2E4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4" name="Google Shape;144;p8"/>
          <p:cNvSpPr/>
          <p:nvPr/>
        </p:nvSpPr>
        <p:spPr>
          <a:xfrm>
            <a:off x="256032" y="2542032"/>
            <a:ext cx="4114800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Left Lung — 2 Lobes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5" name="Google Shape;145;p8"/>
          <p:cNvSpPr/>
          <p:nvPr/>
        </p:nvSpPr>
        <p:spPr>
          <a:xfrm>
            <a:off x="256032" y="2907792"/>
            <a:ext cx="4069080" cy="12801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2E4B"/>
              </a:buClr>
              <a:buSzPts val="1050"/>
              <a:buFont typeface="Calibri"/>
              <a:buNone/>
            </a:pPr>
            <a:r>
              <a:rPr b="1" i="0" lang="en-US" sz="1050" u="none" cap="none" strike="noStrike">
                <a:solidFill>
                  <a:srgbClr val="1B2E4B"/>
                </a:solidFill>
                <a:latin typeface="Calibri"/>
                <a:ea typeface="Calibri"/>
                <a:cs typeface="Calibri"/>
                <a:sym typeface="Calibri"/>
              </a:rPr>
              <a:t>Lobes: </a:t>
            </a:r>
            <a:r>
              <a:rPr b="0" i="0" lang="en-US" sz="1050" u="none" cap="none" strike="noStrike">
                <a:solidFill>
                  <a:srgbClr val="1B2E4B"/>
                </a:solidFill>
                <a:latin typeface="Calibri"/>
                <a:ea typeface="Calibri"/>
                <a:cs typeface="Calibri"/>
                <a:sym typeface="Calibri"/>
              </a:rPr>
              <a:t>Superior, Inferior (NO middle lobe)</a:t>
            </a:r>
            <a:br>
              <a:rPr b="0" i="0" lang="en-US" sz="1050" u="none" cap="none" strike="noStrike">
                <a:solidFill>
                  <a:srgbClr val="1B2E4B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2E4B"/>
              </a:buClr>
              <a:buSzPts val="1050"/>
              <a:buFont typeface="Calibri"/>
              <a:buNone/>
            </a:pPr>
            <a:r>
              <a:rPr b="0" i="0" lang="en-US" sz="1050" u="none" cap="none" strike="noStrike">
                <a:solidFill>
                  <a:srgbClr val="1B2E4B"/>
                </a:solidFill>
                <a:latin typeface="Calibri"/>
                <a:ea typeface="Calibri"/>
                <a:cs typeface="Calibri"/>
                <a:sym typeface="Calibri"/>
              </a:rPr>
              <a:t>Taller and narrower: cardiac notch accommodates heart</a:t>
            </a:r>
            <a:br>
              <a:rPr b="0" i="0" lang="en-US" sz="1050" u="none" cap="none" strike="noStrike">
                <a:solidFill>
                  <a:srgbClr val="1B2E4B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2E4B"/>
              </a:buClr>
              <a:buSzPts val="1050"/>
              <a:buFont typeface="Calibri"/>
              <a:buNone/>
            </a:pPr>
            <a:r>
              <a:rPr b="0" i="0" lang="en-US" sz="1050" u="none" cap="none" strike="noStrike">
                <a:solidFill>
                  <a:srgbClr val="1B2E4B"/>
                </a:solidFill>
                <a:latin typeface="Calibri"/>
                <a:ea typeface="Calibri"/>
                <a:cs typeface="Calibri"/>
                <a:sym typeface="Calibri"/>
              </a:rPr>
              <a:t>Lingula: tongue-like tip of superior lobe</a:t>
            </a:r>
            <a:br>
              <a:rPr b="0" i="0" lang="en-US" sz="1050" u="none" cap="none" strike="noStrike">
                <a:solidFill>
                  <a:srgbClr val="1B2E4B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2E4B"/>
              </a:buClr>
              <a:buSzPts val="1050"/>
              <a:buFont typeface="Calibri"/>
              <a:buNone/>
            </a:pPr>
            <a:r>
              <a:rPr b="0" i="0" lang="en-US" sz="1050" u="none" cap="none" strike="noStrike">
                <a:solidFill>
                  <a:srgbClr val="1B2E4B"/>
                </a:solidFill>
                <a:latin typeface="Calibri"/>
                <a:ea typeface="Calibri"/>
                <a:cs typeface="Calibri"/>
                <a:sym typeface="Calibri"/>
              </a:rPr>
              <a:t>2 lobar bronchi supply each lobe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6" name="Google Shape;146;p8"/>
          <p:cNvSpPr/>
          <p:nvPr/>
        </p:nvSpPr>
        <p:spPr>
          <a:xfrm>
            <a:off x="4498848" y="658368"/>
            <a:ext cx="4434840" cy="329184"/>
          </a:xfrm>
          <a:prstGeom prst="rect">
            <a:avLst/>
          </a:prstGeom>
          <a:solidFill>
            <a:srgbClr val="0D7377"/>
          </a:solidFill>
          <a:ln cap="flat" cmpd="sng" w="12700">
            <a:solidFill>
              <a:srgbClr val="0D737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7" name="Google Shape;147;p8"/>
          <p:cNvSpPr/>
          <p:nvPr/>
        </p:nvSpPr>
        <p:spPr>
          <a:xfrm>
            <a:off x="4526280" y="658368"/>
            <a:ext cx="4389120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Lung Surface Anatomy &amp; Hilum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8" name="Google Shape;148;p8"/>
          <p:cNvSpPr/>
          <p:nvPr/>
        </p:nvSpPr>
        <p:spPr>
          <a:xfrm>
            <a:off x="4498848" y="1024128"/>
            <a:ext cx="4434840" cy="438912"/>
          </a:xfrm>
          <a:prstGeom prst="rect">
            <a:avLst/>
          </a:prstGeom>
          <a:solidFill>
            <a:srgbClr val="E8EEF4"/>
          </a:solidFill>
          <a:ln cap="flat" cmpd="sng" w="12700">
            <a:solidFill>
              <a:srgbClr val="D0D8E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9" name="Google Shape;149;p8"/>
          <p:cNvSpPr/>
          <p:nvPr/>
        </p:nvSpPr>
        <p:spPr>
          <a:xfrm>
            <a:off x="4544568" y="1042416"/>
            <a:ext cx="1371600" cy="40233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2E4B"/>
              </a:buClr>
              <a:buSzPts val="950"/>
              <a:buFont typeface="Calibri"/>
              <a:buNone/>
            </a:pPr>
            <a:r>
              <a:rPr b="1" i="0" lang="en-US" sz="950" u="none" cap="none" strike="noStrike">
                <a:solidFill>
                  <a:srgbClr val="1B2E4B"/>
                </a:solidFill>
                <a:latin typeface="Calibri"/>
                <a:ea typeface="Calibri"/>
                <a:cs typeface="Calibri"/>
                <a:sym typeface="Calibri"/>
              </a:rPr>
              <a:t>Apex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0" name="Google Shape;150;p8"/>
          <p:cNvSpPr/>
          <p:nvPr/>
        </p:nvSpPr>
        <p:spPr>
          <a:xfrm>
            <a:off x="5943600" y="1042416"/>
            <a:ext cx="2926080" cy="40233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2E4B"/>
              </a:buClr>
              <a:buSzPts val="950"/>
              <a:buFont typeface="Calibri"/>
              <a:buNone/>
            </a:pPr>
            <a:r>
              <a:rPr b="0" i="0" lang="en-US" sz="950" u="none" cap="none" strike="noStrike">
                <a:solidFill>
                  <a:srgbClr val="1B2E4B"/>
                </a:solidFill>
                <a:latin typeface="Calibri"/>
                <a:ea typeface="Calibri"/>
                <a:cs typeface="Calibri"/>
                <a:sym typeface="Calibri"/>
              </a:rPr>
              <a:t>Superior tip; projects ~2.5 cm above clavicle; supraclavicular trauma risk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1" name="Google Shape;151;p8"/>
          <p:cNvSpPr/>
          <p:nvPr/>
        </p:nvSpPr>
        <p:spPr>
          <a:xfrm>
            <a:off x="4498848" y="1499616"/>
            <a:ext cx="4434840" cy="438912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D0D8E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2" name="Google Shape;152;p8"/>
          <p:cNvSpPr/>
          <p:nvPr/>
        </p:nvSpPr>
        <p:spPr>
          <a:xfrm>
            <a:off x="4544568" y="1517904"/>
            <a:ext cx="1371600" cy="40233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2E4B"/>
              </a:buClr>
              <a:buSzPts val="950"/>
              <a:buFont typeface="Calibri"/>
              <a:buNone/>
            </a:pPr>
            <a:r>
              <a:rPr b="1" i="0" lang="en-US" sz="950" u="none" cap="none" strike="noStrike">
                <a:solidFill>
                  <a:srgbClr val="1B2E4B"/>
                </a:solidFill>
                <a:latin typeface="Calibri"/>
                <a:ea typeface="Calibri"/>
                <a:cs typeface="Calibri"/>
                <a:sym typeface="Calibri"/>
              </a:rPr>
              <a:t>Base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3" name="Google Shape;153;p8"/>
          <p:cNvSpPr/>
          <p:nvPr/>
        </p:nvSpPr>
        <p:spPr>
          <a:xfrm>
            <a:off x="5943600" y="1517904"/>
            <a:ext cx="2926080" cy="40233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2E4B"/>
              </a:buClr>
              <a:buSzPts val="950"/>
              <a:buFont typeface="Calibri"/>
              <a:buNone/>
            </a:pPr>
            <a:r>
              <a:rPr b="0" i="0" lang="en-US" sz="950" u="none" cap="none" strike="noStrike">
                <a:solidFill>
                  <a:srgbClr val="1B2E4B"/>
                </a:solidFill>
                <a:latin typeface="Calibri"/>
                <a:ea typeface="Calibri"/>
                <a:cs typeface="Calibri"/>
                <a:sym typeface="Calibri"/>
              </a:rPr>
              <a:t>Inferior concave surface; rests on diaphragm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4" name="Google Shape;154;p8"/>
          <p:cNvSpPr/>
          <p:nvPr/>
        </p:nvSpPr>
        <p:spPr>
          <a:xfrm>
            <a:off x="4498848" y="1975104"/>
            <a:ext cx="4434840" cy="438912"/>
          </a:xfrm>
          <a:prstGeom prst="rect">
            <a:avLst/>
          </a:prstGeom>
          <a:solidFill>
            <a:srgbClr val="E8EEF4"/>
          </a:solidFill>
          <a:ln cap="flat" cmpd="sng" w="12700">
            <a:solidFill>
              <a:srgbClr val="D0D8E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5" name="Google Shape;155;p8"/>
          <p:cNvSpPr/>
          <p:nvPr/>
        </p:nvSpPr>
        <p:spPr>
          <a:xfrm>
            <a:off x="4544568" y="1993392"/>
            <a:ext cx="1371600" cy="40233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2E4B"/>
              </a:buClr>
              <a:buSzPts val="950"/>
              <a:buFont typeface="Calibri"/>
              <a:buNone/>
            </a:pPr>
            <a:r>
              <a:rPr b="1" i="0" lang="en-US" sz="950" u="none" cap="none" strike="noStrike">
                <a:solidFill>
                  <a:srgbClr val="1B2E4B"/>
                </a:solidFill>
                <a:latin typeface="Calibri"/>
                <a:ea typeface="Calibri"/>
                <a:cs typeface="Calibri"/>
                <a:sym typeface="Calibri"/>
              </a:rPr>
              <a:t>Costal surface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6" name="Google Shape;156;p8"/>
          <p:cNvSpPr/>
          <p:nvPr/>
        </p:nvSpPr>
        <p:spPr>
          <a:xfrm>
            <a:off x="5943600" y="1993392"/>
            <a:ext cx="2926080" cy="40233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2E4B"/>
              </a:buClr>
              <a:buSzPts val="950"/>
              <a:buFont typeface="Calibri"/>
              <a:buNone/>
            </a:pPr>
            <a:r>
              <a:rPr b="0" i="0" lang="en-US" sz="950" u="none" cap="none" strike="noStrike">
                <a:solidFill>
                  <a:srgbClr val="1B2E4B"/>
                </a:solidFill>
                <a:latin typeface="Calibri"/>
                <a:ea typeface="Calibri"/>
                <a:cs typeface="Calibri"/>
                <a:sym typeface="Calibri"/>
              </a:rPr>
              <a:t>Convex lateral surface pressed against inner rib cage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7" name="Google Shape;157;p8"/>
          <p:cNvSpPr/>
          <p:nvPr/>
        </p:nvSpPr>
        <p:spPr>
          <a:xfrm>
            <a:off x="4498848" y="2450592"/>
            <a:ext cx="4434840" cy="438912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D0D8E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8" name="Google Shape;158;p8"/>
          <p:cNvSpPr/>
          <p:nvPr/>
        </p:nvSpPr>
        <p:spPr>
          <a:xfrm>
            <a:off x="4544568" y="2468880"/>
            <a:ext cx="1371600" cy="40233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2E4B"/>
              </a:buClr>
              <a:buSzPts val="950"/>
              <a:buFont typeface="Calibri"/>
              <a:buNone/>
            </a:pPr>
            <a:r>
              <a:rPr b="1" i="0" lang="en-US" sz="950" u="none" cap="none" strike="noStrike">
                <a:solidFill>
                  <a:srgbClr val="1B2E4B"/>
                </a:solidFill>
                <a:latin typeface="Calibri"/>
                <a:ea typeface="Calibri"/>
                <a:cs typeface="Calibri"/>
                <a:sym typeface="Calibri"/>
              </a:rPr>
              <a:t>Mediastinal surface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9" name="Google Shape;159;p8"/>
          <p:cNvSpPr/>
          <p:nvPr/>
        </p:nvSpPr>
        <p:spPr>
          <a:xfrm>
            <a:off x="5943600" y="2468880"/>
            <a:ext cx="2926080" cy="40233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2E4B"/>
              </a:buClr>
              <a:buSzPts val="950"/>
              <a:buFont typeface="Calibri"/>
              <a:buNone/>
            </a:pPr>
            <a:r>
              <a:rPr b="0" i="0" lang="en-US" sz="950" u="none" cap="none" strike="noStrike">
                <a:solidFill>
                  <a:srgbClr val="1B2E4B"/>
                </a:solidFill>
                <a:latin typeface="Calibri"/>
                <a:ea typeface="Calibri"/>
                <a:cs typeface="Calibri"/>
                <a:sym typeface="Calibri"/>
              </a:rPr>
              <a:t>Medial face; contacts heart, great vessels, esophagus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0" name="Google Shape;160;p8"/>
          <p:cNvSpPr/>
          <p:nvPr/>
        </p:nvSpPr>
        <p:spPr>
          <a:xfrm>
            <a:off x="4498848" y="2926080"/>
            <a:ext cx="4434840" cy="438912"/>
          </a:xfrm>
          <a:prstGeom prst="rect">
            <a:avLst/>
          </a:prstGeom>
          <a:solidFill>
            <a:srgbClr val="E8EEF4"/>
          </a:solidFill>
          <a:ln cap="flat" cmpd="sng" w="12700">
            <a:solidFill>
              <a:srgbClr val="D0D8E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1" name="Google Shape;161;p8"/>
          <p:cNvSpPr/>
          <p:nvPr/>
        </p:nvSpPr>
        <p:spPr>
          <a:xfrm>
            <a:off x="4544568" y="2944368"/>
            <a:ext cx="1371600" cy="40233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2E4B"/>
              </a:buClr>
              <a:buSzPts val="950"/>
              <a:buFont typeface="Calibri"/>
              <a:buNone/>
            </a:pPr>
            <a:r>
              <a:rPr b="1" i="0" lang="en-US" sz="950" u="none" cap="none" strike="noStrike">
                <a:solidFill>
                  <a:srgbClr val="1B2E4B"/>
                </a:solidFill>
                <a:latin typeface="Calibri"/>
                <a:ea typeface="Calibri"/>
                <a:cs typeface="Calibri"/>
                <a:sym typeface="Calibri"/>
              </a:rPr>
              <a:t>Hilum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2" name="Google Shape;162;p8"/>
          <p:cNvSpPr/>
          <p:nvPr/>
        </p:nvSpPr>
        <p:spPr>
          <a:xfrm>
            <a:off x="5943600" y="2944368"/>
            <a:ext cx="2926080" cy="40233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2E4B"/>
              </a:buClr>
              <a:buSzPts val="950"/>
              <a:buFont typeface="Calibri"/>
              <a:buNone/>
            </a:pPr>
            <a:r>
              <a:rPr b="0" i="0" lang="en-US" sz="950" u="none" cap="none" strike="noStrike">
                <a:solidFill>
                  <a:srgbClr val="1B2E4B"/>
                </a:solidFill>
                <a:latin typeface="Calibri"/>
                <a:ea typeface="Calibri"/>
                <a:cs typeface="Calibri"/>
                <a:sym typeface="Calibri"/>
              </a:rPr>
              <a:t>Slit where bronchus, pulmonary vessels, lymphatics, nerves enter/exit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B2E4B"/>
        </a:solidFill>
      </p:bgPr>
    </p:bg>
    <p:spTree>
      <p:nvGrpSpPr>
        <p:cNvPr id="167" name="Shape 1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" name="Google Shape;168;p9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D7377"/>
          </a:solidFill>
          <a:ln cap="flat" cmpd="sng" w="12700">
            <a:solidFill>
              <a:srgbClr val="0D737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9" name="Google Shape;169;p9"/>
          <p:cNvSpPr/>
          <p:nvPr/>
        </p:nvSpPr>
        <p:spPr>
          <a:xfrm>
            <a:off x="0" y="4796028"/>
            <a:ext cx="9144000" cy="347472"/>
          </a:xfrm>
          <a:prstGeom prst="rect">
            <a:avLst/>
          </a:prstGeom>
          <a:solidFill>
            <a:srgbClr val="C9A84C"/>
          </a:solidFill>
          <a:ln cap="flat" cmpd="sng" w="12700">
            <a:solidFill>
              <a:srgbClr val="C9A84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0" name="Google Shape;170;p9"/>
          <p:cNvSpPr/>
          <p:nvPr/>
        </p:nvSpPr>
        <p:spPr>
          <a:xfrm>
            <a:off x="457200" y="1463040"/>
            <a:ext cx="8229600" cy="1371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600"/>
              <a:buFont typeface="Calibri"/>
              <a:buNone/>
            </a:pPr>
            <a:r>
              <a:rPr b="1" i="0" lang="en-US" sz="36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Section 4</a:t>
            </a:r>
            <a:endParaRPr b="0" i="0" sz="3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600"/>
              <a:buFont typeface="Calibri"/>
              <a:buNone/>
            </a:pPr>
            <a:r>
              <a:rPr b="1" i="0" lang="en-US" sz="36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Alveoli, Cell Types &amp; Pleural Membranes</a:t>
            </a:r>
            <a:endParaRPr b="0" i="0" sz="3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1" name="Google Shape;171;p9"/>
          <p:cNvSpPr/>
          <p:nvPr/>
        </p:nvSpPr>
        <p:spPr>
          <a:xfrm>
            <a:off x="457200" y="2926080"/>
            <a:ext cx="82296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9A84C"/>
              </a:buClr>
              <a:buSzPts val="1400"/>
              <a:buFont typeface="Calibri"/>
              <a:buNone/>
            </a:pPr>
            <a:r>
              <a:rPr b="0" i="0" lang="en-US" sz="1400" u="none" cap="none" strike="noStrike">
                <a:solidFill>
                  <a:srgbClr val="C9A84C"/>
                </a:solidFill>
                <a:latin typeface="Calibri"/>
                <a:ea typeface="Calibri"/>
                <a:cs typeface="Calibri"/>
                <a:sym typeface="Calibri"/>
              </a:rPr>
              <a:t>Laura Bates, DC  ·  BIOS 255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4F6F8"/>
        </a:solidFill>
      </p:bgPr>
    </p:bg>
    <p:spTree>
      <p:nvGrpSpPr>
        <p:cNvPr id="176" name="Shape 1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7" name="Google Shape;177;p10"/>
          <p:cNvSpPr/>
          <p:nvPr/>
        </p:nvSpPr>
        <p:spPr>
          <a:xfrm>
            <a:off x="0" y="0"/>
            <a:ext cx="164592" cy="4796028"/>
          </a:xfrm>
          <a:prstGeom prst="rect">
            <a:avLst/>
          </a:prstGeom>
          <a:solidFill>
            <a:srgbClr val="0D7377"/>
          </a:solidFill>
          <a:ln cap="flat" cmpd="sng" w="12700">
            <a:solidFill>
              <a:srgbClr val="0D737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8" name="Google Shape;178;p10"/>
          <p:cNvSpPr/>
          <p:nvPr/>
        </p:nvSpPr>
        <p:spPr>
          <a:xfrm>
            <a:off x="0" y="4796028"/>
            <a:ext cx="9144000" cy="347472"/>
          </a:xfrm>
          <a:prstGeom prst="rect">
            <a:avLst/>
          </a:prstGeom>
          <a:solidFill>
            <a:srgbClr val="C9A84C"/>
          </a:solidFill>
          <a:ln cap="flat" cmpd="sng" w="12700">
            <a:solidFill>
              <a:srgbClr val="C9A84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9" name="Google Shape;179;p10"/>
          <p:cNvSpPr/>
          <p:nvPr/>
        </p:nvSpPr>
        <p:spPr>
          <a:xfrm>
            <a:off x="182880" y="4814316"/>
            <a:ext cx="877824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B2E4B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1B2E4B"/>
                </a:solidFill>
                <a:latin typeface="Calibri"/>
                <a:ea typeface="Calibri"/>
                <a:cs typeface="Calibri"/>
                <a:sym typeface="Calibri"/>
              </a:rPr>
              <a:t>BIOS 255  ·  Respiratory Anatomy  ·  Laura Bates, DC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0" name="Google Shape;180;p10"/>
          <p:cNvSpPr/>
          <p:nvPr/>
        </p:nvSpPr>
        <p:spPr>
          <a:xfrm>
            <a:off x="164592" y="0"/>
            <a:ext cx="8979408" cy="594360"/>
          </a:xfrm>
          <a:prstGeom prst="rect">
            <a:avLst/>
          </a:prstGeom>
          <a:solidFill>
            <a:srgbClr val="1B2E4B"/>
          </a:solidFill>
          <a:ln cap="flat" cmpd="sng" w="12700">
            <a:solidFill>
              <a:srgbClr val="1B2E4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1" name="Google Shape;181;p10"/>
          <p:cNvSpPr/>
          <p:nvPr/>
        </p:nvSpPr>
        <p:spPr>
          <a:xfrm>
            <a:off x="320040" y="0"/>
            <a:ext cx="8046720" cy="5943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Calibri"/>
              <a:buNone/>
            </a:pPr>
            <a:r>
              <a:rPr b="1" i="0" lang="en-US" sz="1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Alveolar Cell Types — Three You Must Know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2" name="Google Shape;182;p10"/>
          <p:cNvSpPr/>
          <p:nvPr/>
        </p:nvSpPr>
        <p:spPr>
          <a:xfrm>
            <a:off x="7132320" y="54864"/>
            <a:ext cx="1783080" cy="475488"/>
          </a:xfrm>
          <a:prstGeom prst="rect">
            <a:avLst/>
          </a:prstGeom>
          <a:solidFill>
            <a:srgbClr val="C9A84C"/>
          </a:solidFill>
          <a:ln cap="flat" cmpd="sng" w="12700">
            <a:solidFill>
              <a:srgbClr val="C9A84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3" name="Google Shape;183;p10"/>
          <p:cNvSpPr/>
          <p:nvPr/>
        </p:nvSpPr>
        <p:spPr>
          <a:xfrm>
            <a:off x="7150608" y="64008"/>
            <a:ext cx="173736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B2E4B"/>
              </a:buClr>
              <a:buSzPts val="900"/>
              <a:buFont typeface="Calibri"/>
              <a:buNone/>
            </a:pPr>
            <a:r>
              <a:rPr b="1" i="0" lang="en-US" sz="900" u="none" cap="none" strike="noStrike">
                <a:solidFill>
                  <a:srgbClr val="1B2E4B"/>
                </a:solidFill>
                <a:latin typeface="Calibri"/>
                <a:ea typeface="Calibri"/>
                <a:cs typeface="Calibri"/>
                <a:sym typeface="Calibri"/>
              </a:rPr>
              <a:t>Lecture Slide 12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4" name="Google Shape;184;p10"/>
          <p:cNvSpPr/>
          <p:nvPr/>
        </p:nvSpPr>
        <p:spPr>
          <a:xfrm>
            <a:off x="228600" y="658368"/>
            <a:ext cx="2715768" cy="329184"/>
          </a:xfrm>
          <a:prstGeom prst="rect">
            <a:avLst/>
          </a:prstGeom>
          <a:solidFill>
            <a:srgbClr val="0D7377"/>
          </a:solidFill>
          <a:ln cap="flat" cmpd="sng" w="12700">
            <a:solidFill>
              <a:srgbClr val="0D737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5" name="Google Shape;185;p10"/>
          <p:cNvSpPr/>
          <p:nvPr/>
        </p:nvSpPr>
        <p:spPr>
          <a:xfrm>
            <a:off x="274320" y="658368"/>
            <a:ext cx="2624328" cy="21031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Type I Alveolar Cells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6" name="Google Shape;186;p10"/>
          <p:cNvSpPr/>
          <p:nvPr/>
        </p:nvSpPr>
        <p:spPr>
          <a:xfrm>
            <a:off x="274320" y="850392"/>
            <a:ext cx="2624328" cy="14630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Calibri"/>
              <a:buNone/>
            </a:pPr>
            <a:r>
              <a:rPr b="0" i="1" lang="en-US" sz="9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(Squamous Pneumocytes)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7" name="Google Shape;187;p10"/>
          <p:cNvSpPr/>
          <p:nvPr/>
        </p:nvSpPr>
        <p:spPr>
          <a:xfrm>
            <a:off x="274320" y="1024128"/>
            <a:ext cx="2624328" cy="3200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1B2E4B"/>
              </a:buClr>
              <a:buSzPts val="950"/>
              <a:buFont typeface="Calibri"/>
              <a:buChar char="•"/>
            </a:pPr>
            <a:r>
              <a:rPr b="0" i="0" lang="en-US" sz="950" u="none" cap="none" strike="noStrike">
                <a:solidFill>
                  <a:srgbClr val="1B2E4B"/>
                </a:solidFill>
                <a:latin typeface="Calibri"/>
                <a:ea typeface="Calibri"/>
                <a:cs typeface="Calibri"/>
                <a:sym typeface="Calibri"/>
              </a:rPr>
              <a:t>95% of alveolar surface area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1B2E4B"/>
              </a:buClr>
              <a:buSzPts val="950"/>
              <a:buFont typeface="Calibri"/>
              <a:buChar char="•"/>
            </a:pPr>
            <a:r>
              <a:rPr b="0" i="0" lang="en-US" sz="950" u="none" cap="none" strike="noStrike">
                <a:solidFill>
                  <a:srgbClr val="1B2E4B"/>
                </a:solidFill>
                <a:latin typeface="Calibri"/>
                <a:ea typeface="Calibri"/>
                <a:cs typeface="Calibri"/>
                <a:sym typeface="Calibri"/>
              </a:rPr>
              <a:t>Ultra-thin simple squamous epithelium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1B2E4B"/>
              </a:buClr>
              <a:buSzPts val="950"/>
              <a:buFont typeface="Calibri"/>
              <a:buChar char="•"/>
            </a:pPr>
            <a:r>
              <a:rPr b="0" i="0" lang="en-US" sz="950" u="none" cap="none" strike="noStrike">
                <a:solidFill>
                  <a:srgbClr val="1B2E4B"/>
                </a:solidFill>
                <a:latin typeface="Calibri"/>
                <a:ea typeface="Calibri"/>
                <a:cs typeface="Calibri"/>
                <a:sym typeface="Calibri"/>
              </a:rPr>
              <a:t>Site of GAS EXCHANGE — O₂ in, CO₂ out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1B2E4B"/>
              </a:buClr>
              <a:buSzPts val="950"/>
              <a:buFont typeface="Calibri"/>
              <a:buChar char="•"/>
            </a:pPr>
            <a:r>
              <a:rPr b="0" i="0" lang="en-US" sz="950" u="none" cap="none" strike="noStrike">
                <a:solidFill>
                  <a:srgbClr val="1B2E4B"/>
                </a:solidFill>
                <a:latin typeface="Calibri"/>
                <a:ea typeface="Calibri"/>
                <a:cs typeface="Calibri"/>
                <a:sym typeface="Calibri"/>
              </a:rPr>
              <a:t>Cannot divide; replaced by Type II when damaged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1B2E4B"/>
              </a:buClr>
              <a:buSzPts val="950"/>
              <a:buFont typeface="Calibri"/>
              <a:buChar char="•"/>
            </a:pPr>
            <a:r>
              <a:rPr b="0" i="0" lang="en-US" sz="950" u="none" cap="none" strike="noStrike">
                <a:solidFill>
                  <a:srgbClr val="1B2E4B"/>
                </a:solidFill>
                <a:latin typeface="Calibri"/>
                <a:ea typeface="Calibri"/>
                <a:cs typeface="Calibri"/>
                <a:sym typeface="Calibri"/>
              </a:rPr>
              <a:t>Minimal diffusion distance = rapid exchange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1B2E4B"/>
              </a:buClr>
              <a:buSzPts val="950"/>
              <a:buFont typeface="Calibri"/>
              <a:buChar char="•"/>
            </a:pPr>
            <a:r>
              <a:rPr b="0" i="0" lang="en-US" sz="950" u="none" cap="none" strike="noStrike">
                <a:solidFill>
                  <a:srgbClr val="1B2E4B"/>
                </a:solidFill>
                <a:latin typeface="Calibri"/>
                <a:ea typeface="Calibri"/>
                <a:cs typeface="Calibri"/>
                <a:sym typeface="Calibri"/>
              </a:rPr>
              <a:t>KNOW THIS: Which alveolar cells are responsible for gas exchange? → Type I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8" name="Google Shape;188;p10"/>
          <p:cNvSpPr/>
          <p:nvPr/>
        </p:nvSpPr>
        <p:spPr>
          <a:xfrm>
            <a:off x="3099816" y="658368"/>
            <a:ext cx="2715768" cy="329184"/>
          </a:xfrm>
          <a:prstGeom prst="rect">
            <a:avLst/>
          </a:prstGeom>
          <a:solidFill>
            <a:srgbClr val="1B2E4B"/>
          </a:solidFill>
          <a:ln cap="flat" cmpd="sng" w="12700">
            <a:solidFill>
              <a:srgbClr val="1B2E4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9" name="Google Shape;189;p10"/>
          <p:cNvSpPr/>
          <p:nvPr/>
        </p:nvSpPr>
        <p:spPr>
          <a:xfrm>
            <a:off x="3145536" y="658368"/>
            <a:ext cx="2624328" cy="21031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Type II Alveolar Cells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0" name="Google Shape;190;p10"/>
          <p:cNvSpPr/>
          <p:nvPr/>
        </p:nvSpPr>
        <p:spPr>
          <a:xfrm>
            <a:off x="3145536" y="850392"/>
            <a:ext cx="2624328" cy="14630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Calibri"/>
              <a:buNone/>
            </a:pPr>
            <a:r>
              <a:rPr b="0" i="1" lang="en-US" sz="9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(Great/Cuboidal Pneumocytes)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1" name="Google Shape;191;p10"/>
          <p:cNvSpPr/>
          <p:nvPr/>
        </p:nvSpPr>
        <p:spPr>
          <a:xfrm>
            <a:off x="3145536" y="1024128"/>
            <a:ext cx="2624328" cy="3200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1B2E4B"/>
              </a:buClr>
              <a:buSzPts val="950"/>
              <a:buFont typeface="Calibri"/>
              <a:buChar char="•"/>
            </a:pPr>
            <a:r>
              <a:rPr b="0" i="0" lang="en-US" sz="950" u="none" cap="none" strike="noStrike">
                <a:solidFill>
                  <a:srgbClr val="1B2E4B"/>
                </a:solidFill>
                <a:latin typeface="Calibri"/>
                <a:ea typeface="Calibri"/>
                <a:cs typeface="Calibri"/>
                <a:sym typeface="Calibri"/>
              </a:rPr>
              <a:t>5% of alveolar surface area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1B2E4B"/>
              </a:buClr>
              <a:buSzPts val="950"/>
              <a:buFont typeface="Calibri"/>
              <a:buChar char="•"/>
            </a:pPr>
            <a:r>
              <a:rPr b="0" i="0" lang="en-US" sz="950" u="none" cap="none" strike="noStrike">
                <a:solidFill>
                  <a:srgbClr val="1B2E4B"/>
                </a:solidFill>
                <a:latin typeface="Calibri"/>
                <a:ea typeface="Calibri"/>
                <a:cs typeface="Calibri"/>
                <a:sym typeface="Calibri"/>
              </a:rPr>
              <a:t>Secrete SURFACTANT (phospholipids + proteins)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1B2E4B"/>
              </a:buClr>
              <a:buSzPts val="950"/>
              <a:buFont typeface="Calibri"/>
              <a:buChar char="•"/>
            </a:pPr>
            <a:r>
              <a:rPr b="0" i="0" lang="en-US" sz="950" u="none" cap="none" strike="noStrike">
                <a:solidFill>
                  <a:srgbClr val="1B2E4B"/>
                </a:solidFill>
                <a:latin typeface="Calibri"/>
                <a:ea typeface="Calibri"/>
                <a:cs typeface="Calibri"/>
                <a:sym typeface="Calibri"/>
              </a:rPr>
              <a:t>Surfactant ↓ surface tension → prevents collapse on exhalation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1B2E4B"/>
              </a:buClr>
              <a:buSzPts val="950"/>
              <a:buFont typeface="Calibri"/>
              <a:buChar char="•"/>
            </a:pPr>
            <a:r>
              <a:rPr b="0" i="0" lang="en-US" sz="950" u="none" cap="none" strike="noStrike">
                <a:solidFill>
                  <a:srgbClr val="1B2E4B"/>
                </a:solidFill>
                <a:latin typeface="Calibri"/>
                <a:ea typeface="Calibri"/>
                <a:cs typeface="Calibri"/>
                <a:sym typeface="Calibri"/>
              </a:rPr>
              <a:t>Stem cell of the alveolus — regenerates Type I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1B2E4B"/>
              </a:buClr>
              <a:buSzPts val="950"/>
              <a:buFont typeface="Calibri"/>
              <a:buChar char="•"/>
            </a:pPr>
            <a:r>
              <a:rPr b="0" i="0" lang="en-US" sz="950" u="none" cap="none" strike="noStrike">
                <a:solidFill>
                  <a:srgbClr val="1B2E4B"/>
                </a:solidFill>
                <a:latin typeface="Calibri"/>
                <a:ea typeface="Calibri"/>
                <a:cs typeface="Calibri"/>
                <a:sym typeface="Calibri"/>
              </a:rPr>
              <a:t>NRDS: premature infants lack surfactant → alveolar collapse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1B2E4B"/>
              </a:buClr>
              <a:buSzPts val="950"/>
              <a:buFont typeface="Calibri"/>
              <a:buChar char="•"/>
            </a:pPr>
            <a:r>
              <a:rPr b="0" i="0" lang="en-US" sz="950" u="none" cap="none" strike="noStrike">
                <a:solidFill>
                  <a:srgbClr val="1B2E4B"/>
                </a:solidFill>
                <a:latin typeface="Calibri"/>
                <a:ea typeface="Calibri"/>
                <a:cs typeface="Calibri"/>
                <a:sym typeface="Calibri"/>
              </a:rPr>
              <a:t>EXAM TIP: Type II makes surfactant; Type I does gas exchange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2" name="Google Shape;192;p10"/>
          <p:cNvSpPr/>
          <p:nvPr/>
        </p:nvSpPr>
        <p:spPr>
          <a:xfrm>
            <a:off x="5961888" y="658368"/>
            <a:ext cx="2971800" cy="329184"/>
          </a:xfrm>
          <a:prstGeom prst="rect">
            <a:avLst/>
          </a:prstGeom>
          <a:solidFill>
            <a:srgbClr val="0D7377"/>
          </a:solidFill>
          <a:ln cap="flat" cmpd="sng" w="12700">
            <a:solidFill>
              <a:srgbClr val="0D737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3" name="Google Shape;193;p10"/>
          <p:cNvSpPr/>
          <p:nvPr/>
        </p:nvSpPr>
        <p:spPr>
          <a:xfrm>
            <a:off x="6007608" y="658368"/>
            <a:ext cx="2880360" cy="21031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Alveolar Macrophages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4" name="Google Shape;194;p10"/>
          <p:cNvSpPr/>
          <p:nvPr/>
        </p:nvSpPr>
        <p:spPr>
          <a:xfrm>
            <a:off x="6007608" y="850392"/>
            <a:ext cx="2880360" cy="14630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Calibri"/>
              <a:buNone/>
            </a:pPr>
            <a:r>
              <a:rPr b="0" i="1" lang="en-US" sz="9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(Dust Cells)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5" name="Google Shape;195;p10"/>
          <p:cNvSpPr/>
          <p:nvPr/>
        </p:nvSpPr>
        <p:spPr>
          <a:xfrm>
            <a:off x="6007608" y="1024128"/>
            <a:ext cx="2880360" cy="3200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1B2E4B"/>
              </a:buClr>
              <a:buSzPts val="950"/>
              <a:buFont typeface="Calibri"/>
              <a:buChar char="•"/>
            </a:pPr>
            <a:r>
              <a:rPr b="0" i="0" lang="en-US" sz="950" u="none" cap="none" strike="noStrike">
                <a:solidFill>
                  <a:srgbClr val="1B2E4B"/>
                </a:solidFill>
                <a:latin typeface="Calibri"/>
                <a:ea typeface="Calibri"/>
                <a:cs typeface="Calibri"/>
                <a:sym typeface="Calibri"/>
              </a:rPr>
              <a:t>Most numerous lung cell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1B2E4B"/>
              </a:buClr>
              <a:buSzPts val="950"/>
              <a:buFont typeface="Calibri"/>
              <a:buChar char="•"/>
            </a:pPr>
            <a:r>
              <a:rPr b="0" i="0" lang="en-US" sz="950" u="none" cap="none" strike="noStrike">
                <a:solidFill>
                  <a:srgbClr val="1B2E4B"/>
                </a:solidFill>
                <a:latin typeface="Calibri"/>
                <a:ea typeface="Calibri"/>
                <a:cs typeface="Calibri"/>
                <a:sym typeface="Calibri"/>
              </a:rPr>
              <a:t>Patrol alveolar lumen; phagocytize dust, bacteria, debris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1B2E4B"/>
              </a:buClr>
              <a:buSzPts val="950"/>
              <a:buFont typeface="Calibri"/>
              <a:buChar char="•"/>
            </a:pPr>
            <a:r>
              <a:rPr b="0" i="0" lang="en-US" sz="950" u="none" cap="none" strike="noStrike">
                <a:solidFill>
                  <a:srgbClr val="1B2E4B"/>
                </a:solidFill>
                <a:latin typeface="Calibri"/>
                <a:ea typeface="Calibri"/>
                <a:cs typeface="Calibri"/>
                <a:sym typeface="Calibri"/>
              </a:rPr>
              <a:t>Also called 'dust cells'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1B2E4B"/>
              </a:buClr>
              <a:buSzPts val="950"/>
              <a:buFont typeface="Calibri"/>
              <a:buChar char="•"/>
            </a:pPr>
            <a:r>
              <a:rPr b="0" i="0" lang="en-US" sz="950" u="none" cap="none" strike="noStrike">
                <a:solidFill>
                  <a:srgbClr val="1B2E4B"/>
                </a:solidFill>
                <a:latin typeface="Calibri"/>
                <a:ea typeface="Calibri"/>
                <a:cs typeface="Calibri"/>
                <a:sym typeface="Calibri"/>
              </a:rPr>
              <a:t>Cannot break down inorganic material (coal dust, asbestos) → chronic inflammation → fibrosis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1B2E4B"/>
              </a:buClr>
              <a:buSzPts val="950"/>
              <a:buFont typeface="Calibri"/>
              <a:buChar char="•"/>
            </a:pPr>
            <a:r>
              <a:rPr b="0" i="0" lang="en-US" sz="950" u="none" cap="none" strike="noStrike">
                <a:solidFill>
                  <a:srgbClr val="1B2E4B"/>
                </a:solidFill>
                <a:latin typeface="Calibri"/>
                <a:ea typeface="Calibri"/>
                <a:cs typeface="Calibri"/>
                <a:sym typeface="Calibri"/>
              </a:rPr>
              <a:t>NOT responsible for gas exchange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1B2E4B"/>
              </a:buClr>
              <a:buSzPts val="950"/>
              <a:buFont typeface="Calibri"/>
              <a:buChar char="•"/>
            </a:pPr>
            <a:r>
              <a:rPr b="0" i="0" lang="en-US" sz="950" u="none" cap="none" strike="noStrike">
                <a:solidFill>
                  <a:srgbClr val="1B2E4B"/>
                </a:solidFill>
                <a:latin typeface="Calibri"/>
                <a:ea typeface="Calibri"/>
                <a:cs typeface="Calibri"/>
                <a:sym typeface="Calibri"/>
              </a:rPr>
              <a:t>EXAM TIP: Dust cells ≠ gas exchange cells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6" name="Google Shape;196;p10"/>
          <p:cNvSpPr/>
          <p:nvPr/>
        </p:nvSpPr>
        <p:spPr>
          <a:xfrm>
            <a:off x="228600" y="4279392"/>
            <a:ext cx="8686800" cy="137160"/>
          </a:xfrm>
          <a:prstGeom prst="rect">
            <a:avLst/>
          </a:prstGeom>
          <a:solidFill>
            <a:srgbClr val="C9A84C"/>
          </a:solidFill>
          <a:ln cap="flat" cmpd="sng" w="12700">
            <a:solidFill>
              <a:srgbClr val="C9A84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7" name="Google Shape;197;p10"/>
          <p:cNvSpPr/>
          <p:nvPr/>
        </p:nvSpPr>
        <p:spPr>
          <a:xfrm>
            <a:off x="256032" y="4236720"/>
            <a:ext cx="8641200" cy="255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2E4B"/>
              </a:buClr>
              <a:buSzPts val="1000"/>
              <a:buFont typeface="Calibri"/>
              <a:buNone/>
            </a:pPr>
            <a:r>
              <a:rPr b="1" i="0" lang="en-US" sz="1000" u="none" cap="none" strike="noStrike">
                <a:solidFill>
                  <a:srgbClr val="1B2E4B"/>
                </a:solidFill>
                <a:latin typeface="Calibri"/>
                <a:ea typeface="Calibri"/>
                <a:cs typeface="Calibri"/>
                <a:sym typeface="Calibri"/>
              </a:rPr>
              <a:t>KNOW THIS — Which structure is the primary site of gas exchange? → ALVEOLI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4F6F8"/>
        </a:solidFill>
      </p:bgPr>
    </p:bg>
    <p:spTree>
      <p:nvGrpSpPr>
        <p:cNvPr id="202" name="Shape 2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3" name="Google Shape;203;p11"/>
          <p:cNvSpPr/>
          <p:nvPr/>
        </p:nvSpPr>
        <p:spPr>
          <a:xfrm>
            <a:off x="0" y="0"/>
            <a:ext cx="164592" cy="4796028"/>
          </a:xfrm>
          <a:prstGeom prst="rect">
            <a:avLst/>
          </a:prstGeom>
          <a:solidFill>
            <a:srgbClr val="0D7377"/>
          </a:solidFill>
          <a:ln cap="flat" cmpd="sng" w="12700">
            <a:solidFill>
              <a:srgbClr val="0D737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4" name="Google Shape;204;p11"/>
          <p:cNvSpPr/>
          <p:nvPr/>
        </p:nvSpPr>
        <p:spPr>
          <a:xfrm>
            <a:off x="0" y="4796028"/>
            <a:ext cx="9144000" cy="347472"/>
          </a:xfrm>
          <a:prstGeom prst="rect">
            <a:avLst/>
          </a:prstGeom>
          <a:solidFill>
            <a:srgbClr val="C9A84C"/>
          </a:solidFill>
          <a:ln cap="flat" cmpd="sng" w="12700">
            <a:solidFill>
              <a:srgbClr val="C9A84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5" name="Google Shape;205;p11"/>
          <p:cNvSpPr/>
          <p:nvPr/>
        </p:nvSpPr>
        <p:spPr>
          <a:xfrm>
            <a:off x="182880" y="4814316"/>
            <a:ext cx="877824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B2E4B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1B2E4B"/>
                </a:solidFill>
                <a:latin typeface="Calibri"/>
                <a:ea typeface="Calibri"/>
                <a:cs typeface="Calibri"/>
                <a:sym typeface="Calibri"/>
              </a:rPr>
              <a:t>BIOS 255  ·  Respiratory Anatomy  ·  Laura Bates, DC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6" name="Google Shape;206;p11"/>
          <p:cNvSpPr/>
          <p:nvPr/>
        </p:nvSpPr>
        <p:spPr>
          <a:xfrm>
            <a:off x="164592" y="0"/>
            <a:ext cx="8979408" cy="594360"/>
          </a:xfrm>
          <a:prstGeom prst="rect">
            <a:avLst/>
          </a:prstGeom>
          <a:solidFill>
            <a:srgbClr val="1B2E4B"/>
          </a:solidFill>
          <a:ln cap="flat" cmpd="sng" w="12700">
            <a:solidFill>
              <a:srgbClr val="1B2E4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7" name="Google Shape;207;p11"/>
          <p:cNvSpPr/>
          <p:nvPr/>
        </p:nvSpPr>
        <p:spPr>
          <a:xfrm>
            <a:off x="320040" y="0"/>
            <a:ext cx="8046720" cy="5943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Calibri"/>
              <a:buNone/>
            </a:pPr>
            <a:r>
              <a:rPr b="1" i="0" lang="en-US" sz="1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Pleural Membranes — Structure &amp; Pressure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8" name="Google Shape;208;p11"/>
          <p:cNvSpPr/>
          <p:nvPr/>
        </p:nvSpPr>
        <p:spPr>
          <a:xfrm>
            <a:off x="7132320" y="54864"/>
            <a:ext cx="1783080" cy="475488"/>
          </a:xfrm>
          <a:prstGeom prst="rect">
            <a:avLst/>
          </a:prstGeom>
          <a:solidFill>
            <a:srgbClr val="C9A84C"/>
          </a:solidFill>
          <a:ln cap="flat" cmpd="sng" w="12700">
            <a:solidFill>
              <a:srgbClr val="C9A84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9" name="Google Shape;209;p11"/>
          <p:cNvSpPr/>
          <p:nvPr/>
        </p:nvSpPr>
        <p:spPr>
          <a:xfrm>
            <a:off x="7150608" y="64008"/>
            <a:ext cx="173736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B2E4B"/>
              </a:buClr>
              <a:buSzPts val="900"/>
              <a:buFont typeface="Calibri"/>
              <a:buNone/>
            </a:pPr>
            <a:r>
              <a:rPr b="1" i="0" lang="en-US" sz="900" u="none" cap="none" strike="noStrike">
                <a:solidFill>
                  <a:srgbClr val="1B2E4B"/>
                </a:solidFill>
                <a:latin typeface="Calibri"/>
                <a:ea typeface="Calibri"/>
                <a:cs typeface="Calibri"/>
                <a:sym typeface="Calibri"/>
              </a:rPr>
              <a:t>Lecture Slide 15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0" name="Google Shape;210;p11"/>
          <p:cNvSpPr/>
          <p:nvPr/>
        </p:nvSpPr>
        <p:spPr>
          <a:xfrm>
            <a:off x="228600" y="658368"/>
            <a:ext cx="4160520" cy="329184"/>
          </a:xfrm>
          <a:prstGeom prst="rect">
            <a:avLst/>
          </a:prstGeom>
          <a:solidFill>
            <a:srgbClr val="0D7377"/>
          </a:solidFill>
          <a:ln cap="flat" cmpd="sng" w="12700">
            <a:solidFill>
              <a:srgbClr val="0D737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1" name="Google Shape;211;p11"/>
          <p:cNvSpPr/>
          <p:nvPr/>
        </p:nvSpPr>
        <p:spPr>
          <a:xfrm>
            <a:off x="256032" y="658368"/>
            <a:ext cx="4114800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Pleural Membrane Anatomy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2" name="Google Shape;212;p11"/>
          <p:cNvSpPr/>
          <p:nvPr/>
        </p:nvSpPr>
        <p:spPr>
          <a:xfrm>
            <a:off x="256032" y="1024128"/>
            <a:ext cx="4069080" cy="3200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2E4B"/>
              </a:buClr>
              <a:buSzPts val="1050"/>
              <a:buFont typeface="Calibri"/>
              <a:buNone/>
            </a:pPr>
            <a:r>
              <a:rPr b="1" i="0" lang="en-US" sz="1050" u="none" cap="none" strike="noStrike">
                <a:solidFill>
                  <a:srgbClr val="1B2E4B"/>
                </a:solidFill>
                <a:latin typeface="Calibri"/>
                <a:ea typeface="Calibri"/>
                <a:cs typeface="Calibri"/>
                <a:sym typeface="Calibri"/>
              </a:rPr>
              <a:t>Visceral pleura: </a:t>
            </a:r>
            <a:r>
              <a:rPr b="0" i="0" lang="en-US" sz="1050" u="none" cap="none" strike="noStrike">
                <a:solidFill>
                  <a:srgbClr val="1B2E4B"/>
                </a:solidFill>
                <a:latin typeface="Calibri"/>
                <a:ea typeface="Calibri"/>
                <a:cs typeface="Calibri"/>
                <a:sym typeface="Calibri"/>
              </a:rPr>
              <a:t>inner layer; adheres directly to lung surface</a:t>
            </a:r>
            <a:br>
              <a:rPr b="0" i="0" lang="en-US" sz="1050" u="none" cap="none" strike="noStrike">
                <a:solidFill>
                  <a:srgbClr val="1B2E4B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2E4B"/>
              </a:buClr>
              <a:buSzPts val="1050"/>
              <a:buFont typeface="Calibri"/>
              <a:buNone/>
            </a:pPr>
            <a:r>
              <a:rPr b="1" i="0" lang="en-US" sz="1050" u="none" cap="none" strike="noStrike">
                <a:solidFill>
                  <a:srgbClr val="1B2E4B"/>
                </a:solidFill>
                <a:latin typeface="Calibri"/>
                <a:ea typeface="Calibri"/>
                <a:cs typeface="Calibri"/>
                <a:sym typeface="Calibri"/>
              </a:rPr>
              <a:t>Parietal pleura: </a:t>
            </a:r>
            <a:r>
              <a:rPr b="0" i="0" lang="en-US" sz="1050" u="none" cap="none" strike="noStrike">
                <a:solidFill>
                  <a:srgbClr val="1B2E4B"/>
                </a:solidFill>
                <a:latin typeface="Calibri"/>
                <a:ea typeface="Calibri"/>
                <a:cs typeface="Calibri"/>
                <a:sym typeface="Calibri"/>
              </a:rPr>
              <a:t>outer layer; lines thoracic wall, diaphragm, mediastinum</a:t>
            </a:r>
            <a:br>
              <a:rPr b="0" i="0" lang="en-US" sz="1050" u="none" cap="none" strike="noStrike">
                <a:solidFill>
                  <a:srgbClr val="1B2E4B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2E4B"/>
              </a:buClr>
              <a:buSzPts val="1050"/>
              <a:buFont typeface="Calibri"/>
              <a:buNone/>
            </a:pPr>
            <a:r>
              <a:rPr b="1" i="0" lang="en-US" sz="1050" u="none" cap="none" strike="noStrike">
                <a:solidFill>
                  <a:srgbClr val="1B2E4B"/>
                </a:solidFill>
                <a:latin typeface="Calibri"/>
                <a:ea typeface="Calibri"/>
                <a:cs typeface="Calibri"/>
                <a:sym typeface="Calibri"/>
              </a:rPr>
              <a:t>Pleural cavity: </a:t>
            </a:r>
            <a:r>
              <a:rPr b="0" i="0" lang="en-US" sz="1050" u="none" cap="none" strike="noStrike">
                <a:solidFill>
                  <a:srgbClr val="1B2E4B"/>
                </a:solidFill>
                <a:latin typeface="Calibri"/>
                <a:ea typeface="Calibri"/>
                <a:cs typeface="Calibri"/>
                <a:sym typeface="Calibri"/>
              </a:rPr>
              <a:t>potential space between layers; contains 5–15 mL pleural fluid</a:t>
            </a:r>
            <a:br>
              <a:rPr b="0" i="0" lang="en-US" sz="1050" u="none" cap="none" strike="noStrike">
                <a:solidFill>
                  <a:srgbClr val="1B2E4B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2E4B"/>
              </a:buClr>
              <a:buSzPts val="1050"/>
              <a:buFont typeface="Calibri"/>
              <a:buNone/>
            </a:pPr>
            <a:r>
              <a:rPr b="1" i="0" lang="en-US" sz="1050" u="none" cap="none" strike="noStrike">
                <a:solidFill>
                  <a:srgbClr val="1B2E4B"/>
                </a:solidFill>
                <a:latin typeface="Calibri"/>
                <a:ea typeface="Calibri"/>
                <a:cs typeface="Calibri"/>
                <a:sym typeface="Calibri"/>
              </a:rPr>
              <a:t>Pleural fluid function: </a:t>
            </a:r>
            <a:r>
              <a:rPr b="0" i="0" lang="en-US" sz="1050" u="none" cap="none" strike="noStrike">
                <a:solidFill>
                  <a:srgbClr val="1B2E4B"/>
                </a:solidFill>
                <a:latin typeface="Calibri"/>
                <a:ea typeface="Calibri"/>
                <a:cs typeface="Calibri"/>
                <a:sym typeface="Calibri"/>
              </a:rPr>
              <a:t>lubricant + adhesion → layers glide freely but cannot be pulled apart</a:t>
            </a:r>
            <a:br>
              <a:rPr b="0" i="0" lang="en-US" sz="1050" u="none" cap="none" strike="noStrike">
                <a:solidFill>
                  <a:srgbClr val="1B2E4B"/>
                </a:solidFill>
                <a:latin typeface="Calibri"/>
                <a:ea typeface="Calibri"/>
                <a:cs typeface="Calibri"/>
                <a:sym typeface="Calibri"/>
              </a:rPr>
            </a:br>
            <a:br>
              <a:rPr b="0" i="0" lang="en-US" sz="1050" u="none" cap="none" strike="noStrike">
                <a:solidFill>
                  <a:srgbClr val="1B2E4B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D7377"/>
              </a:buClr>
              <a:buSzPts val="1050"/>
              <a:buFont typeface="Calibri"/>
              <a:buNone/>
            </a:pPr>
            <a:r>
              <a:rPr b="1" i="0" lang="en-US" sz="1050" u="none" cap="none" strike="noStrike">
                <a:solidFill>
                  <a:srgbClr val="0D7377"/>
                </a:solidFill>
                <a:latin typeface="Calibri"/>
                <a:ea typeface="Calibri"/>
                <a:cs typeface="Calibri"/>
                <a:sym typeface="Calibri"/>
              </a:rPr>
              <a:t>KNOW THIS: </a:t>
            </a:r>
            <a:r>
              <a:rPr b="0" i="0" lang="en-US" sz="1050" u="none" cap="none" strike="noStrike">
                <a:solidFill>
                  <a:srgbClr val="1B2E4B"/>
                </a:solidFill>
                <a:latin typeface="Calibri"/>
                <a:ea typeface="Calibri"/>
                <a:cs typeface="Calibri"/>
                <a:sym typeface="Calibri"/>
              </a:rPr>
              <a:t>Which pleural layer covers the lungs directly? → Visceral pleura</a:t>
            </a:r>
            <a:br>
              <a:rPr b="0" i="0" lang="en-US" sz="1050" u="none" cap="none" strike="noStrike">
                <a:solidFill>
                  <a:srgbClr val="1B2E4B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D7377"/>
              </a:buClr>
              <a:buSzPts val="1050"/>
              <a:buFont typeface="Calibri"/>
              <a:buNone/>
            </a:pPr>
            <a:r>
              <a:rPr b="1" i="0" lang="en-US" sz="1050" u="none" cap="none" strike="noStrike">
                <a:solidFill>
                  <a:srgbClr val="0D7377"/>
                </a:solidFill>
                <a:latin typeface="Calibri"/>
                <a:ea typeface="Calibri"/>
                <a:cs typeface="Calibri"/>
                <a:sym typeface="Calibri"/>
              </a:rPr>
              <a:t>KNOW THIS: </a:t>
            </a:r>
            <a:r>
              <a:rPr b="0" i="0" lang="en-US" sz="1050" u="none" cap="none" strike="noStrike">
                <a:solidFill>
                  <a:srgbClr val="1B2E4B"/>
                </a:solidFill>
                <a:latin typeface="Calibri"/>
                <a:ea typeface="Calibri"/>
                <a:cs typeface="Calibri"/>
                <a:sym typeface="Calibri"/>
              </a:rPr>
              <a:t>Does the pleural cavity contain air? → NO. Fluid only (air = pneumothorax).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3" name="Google Shape;213;p11"/>
          <p:cNvSpPr/>
          <p:nvPr/>
        </p:nvSpPr>
        <p:spPr>
          <a:xfrm>
            <a:off x="4498848" y="658368"/>
            <a:ext cx="4434840" cy="329184"/>
          </a:xfrm>
          <a:prstGeom prst="rect">
            <a:avLst/>
          </a:prstGeom>
          <a:solidFill>
            <a:srgbClr val="1B2E4B"/>
          </a:solidFill>
          <a:ln cap="flat" cmpd="sng" w="12700">
            <a:solidFill>
              <a:srgbClr val="1B2E4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4" name="Google Shape;214;p11"/>
          <p:cNvSpPr/>
          <p:nvPr/>
        </p:nvSpPr>
        <p:spPr>
          <a:xfrm>
            <a:off x="4526280" y="658368"/>
            <a:ext cx="4389120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Intrapleural Pressure &amp; Pathology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5" name="Google Shape;215;p11"/>
          <p:cNvSpPr/>
          <p:nvPr/>
        </p:nvSpPr>
        <p:spPr>
          <a:xfrm>
            <a:off x="4526280" y="1024128"/>
            <a:ext cx="4343400" cy="3200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2E4B"/>
              </a:buClr>
              <a:buSzPts val="1050"/>
              <a:buFont typeface="Calibri"/>
              <a:buNone/>
            </a:pPr>
            <a:r>
              <a:rPr b="1" i="0" lang="en-US" sz="1050" u="none" cap="none" strike="noStrike">
                <a:solidFill>
                  <a:srgbClr val="1B2E4B"/>
                </a:solidFill>
                <a:latin typeface="Calibri"/>
                <a:ea typeface="Calibri"/>
                <a:cs typeface="Calibri"/>
                <a:sym typeface="Calibri"/>
              </a:rPr>
              <a:t>Intrapleural pressure: </a:t>
            </a:r>
            <a:r>
              <a:rPr b="0" i="0" lang="en-US" sz="1050" u="none" cap="none" strike="noStrike">
                <a:solidFill>
                  <a:srgbClr val="1B2E4B"/>
                </a:solidFill>
                <a:latin typeface="Calibri"/>
                <a:ea typeface="Calibri"/>
                <a:cs typeface="Calibri"/>
                <a:sym typeface="Calibri"/>
              </a:rPr>
              <a:t>always NEGATIVE relative to atmospheric (≈ –4 mmHg at rest)</a:t>
            </a:r>
            <a:br>
              <a:rPr b="0" i="0" lang="en-US" sz="1050" u="none" cap="none" strike="noStrike">
                <a:solidFill>
                  <a:srgbClr val="1B2E4B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2E4B"/>
              </a:buClr>
              <a:buSzPts val="1050"/>
              <a:buFont typeface="Calibri"/>
              <a:buNone/>
            </a:pPr>
            <a:r>
              <a:rPr b="1" i="0" lang="en-US" sz="1050" u="none" cap="none" strike="noStrike">
                <a:solidFill>
                  <a:srgbClr val="1B2E4B"/>
                </a:solidFill>
                <a:latin typeface="Calibri"/>
                <a:ea typeface="Calibri"/>
                <a:cs typeface="Calibri"/>
                <a:sym typeface="Calibri"/>
              </a:rPr>
              <a:t>Why negative? </a:t>
            </a:r>
            <a:r>
              <a:rPr b="0" i="0" lang="en-US" sz="1050" u="none" cap="none" strike="noStrike">
                <a:solidFill>
                  <a:srgbClr val="1B2E4B"/>
                </a:solidFill>
                <a:latin typeface="Calibri"/>
                <a:ea typeface="Calibri"/>
                <a:cs typeface="Calibri"/>
                <a:sym typeface="Calibri"/>
              </a:rPr>
              <a:t>Lungs want to recoil inward; chest wall wants to spring outward. Negative pressure is the tug-of-war result — keeps lungs inflated</a:t>
            </a:r>
            <a:br>
              <a:rPr b="0" i="0" lang="en-US" sz="1050" u="none" cap="none" strike="noStrike">
                <a:solidFill>
                  <a:srgbClr val="1B2E4B"/>
                </a:solidFill>
                <a:latin typeface="Calibri"/>
                <a:ea typeface="Calibri"/>
                <a:cs typeface="Calibri"/>
                <a:sym typeface="Calibri"/>
              </a:rPr>
            </a:br>
            <a:br>
              <a:rPr b="0" i="0" lang="en-US" sz="1050" u="none" cap="none" strike="noStrike">
                <a:solidFill>
                  <a:srgbClr val="1B2E4B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2E4B"/>
              </a:buClr>
              <a:buSzPts val="1050"/>
              <a:buFont typeface="Calibri"/>
              <a:buNone/>
            </a:pPr>
            <a:r>
              <a:rPr b="1" i="0" lang="en-US" sz="1050" u="none" cap="none" strike="noStrike">
                <a:solidFill>
                  <a:srgbClr val="1B2E4B"/>
                </a:solidFill>
                <a:latin typeface="Calibri"/>
                <a:ea typeface="Calibri"/>
                <a:cs typeface="Calibri"/>
                <a:sym typeface="Calibri"/>
              </a:rPr>
              <a:t>Pneumothorax: </a:t>
            </a:r>
            <a:r>
              <a:rPr b="0" i="0" lang="en-US" sz="1050" u="none" cap="none" strike="noStrike">
                <a:solidFill>
                  <a:srgbClr val="1B2E4B"/>
                </a:solidFill>
                <a:latin typeface="Calibri"/>
                <a:ea typeface="Calibri"/>
                <a:cs typeface="Calibri"/>
                <a:sym typeface="Calibri"/>
              </a:rPr>
              <a:t>air enters pleural cavity → pressure rises → lung collapses. Tx: needle decompression, chest tube</a:t>
            </a:r>
            <a:br>
              <a:rPr b="0" i="0" lang="en-US" sz="1050" u="none" cap="none" strike="noStrike">
                <a:solidFill>
                  <a:srgbClr val="1B2E4B"/>
                </a:solidFill>
                <a:latin typeface="Calibri"/>
                <a:ea typeface="Calibri"/>
                <a:cs typeface="Calibri"/>
                <a:sym typeface="Calibri"/>
              </a:rPr>
            </a:br>
            <a:br>
              <a:rPr b="0" i="0" lang="en-US" sz="1050" u="none" cap="none" strike="noStrike">
                <a:solidFill>
                  <a:srgbClr val="1B2E4B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2E4B"/>
              </a:buClr>
              <a:buSzPts val="1050"/>
              <a:buFont typeface="Calibri"/>
              <a:buNone/>
            </a:pPr>
            <a:r>
              <a:rPr b="1" i="0" lang="en-US" sz="1050" u="none" cap="none" strike="noStrike">
                <a:solidFill>
                  <a:srgbClr val="1B2E4B"/>
                </a:solidFill>
                <a:latin typeface="Calibri"/>
                <a:ea typeface="Calibri"/>
                <a:cs typeface="Calibri"/>
                <a:sym typeface="Calibri"/>
              </a:rPr>
              <a:t>Pleural effusion: </a:t>
            </a:r>
            <a:r>
              <a:rPr b="0" i="0" lang="en-US" sz="1050" u="none" cap="none" strike="noStrike">
                <a:solidFill>
                  <a:srgbClr val="1B2E4B"/>
                </a:solidFill>
                <a:latin typeface="Calibri"/>
                <a:ea typeface="Calibri"/>
                <a:cs typeface="Calibri"/>
                <a:sym typeface="Calibri"/>
              </a:rPr>
              <a:t>excess fluid compresses lung. Causes: CHF, infection, malignancy</a:t>
            </a:r>
            <a:br>
              <a:rPr b="0" i="0" lang="en-US" sz="1050" u="none" cap="none" strike="noStrike">
                <a:solidFill>
                  <a:srgbClr val="1B2E4B"/>
                </a:solidFill>
                <a:latin typeface="Calibri"/>
                <a:ea typeface="Calibri"/>
                <a:cs typeface="Calibri"/>
                <a:sym typeface="Calibri"/>
              </a:rPr>
            </a:br>
            <a:br>
              <a:rPr b="0" i="0" lang="en-US" sz="1050" u="none" cap="none" strike="noStrike">
                <a:solidFill>
                  <a:srgbClr val="1B2E4B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9A84C"/>
              </a:buClr>
              <a:buSzPts val="1050"/>
              <a:buFont typeface="Calibri"/>
              <a:buNone/>
            </a:pPr>
            <a:r>
              <a:rPr b="1" i="0" lang="en-US" sz="1050" u="none" cap="none" strike="noStrike">
                <a:solidFill>
                  <a:srgbClr val="C9A84C"/>
                </a:solidFill>
                <a:latin typeface="Calibri"/>
                <a:ea typeface="Calibri"/>
                <a:cs typeface="Calibri"/>
                <a:sym typeface="Calibri"/>
              </a:rPr>
              <a:t>EXAM TIP: </a:t>
            </a:r>
            <a:r>
              <a:rPr b="0" i="0" lang="en-US" sz="1050" u="none" cap="none" strike="noStrike">
                <a:solidFill>
                  <a:srgbClr val="1B2E4B"/>
                </a:solidFill>
                <a:latin typeface="Calibri"/>
                <a:ea typeface="Calibri"/>
                <a:cs typeface="Calibri"/>
                <a:sym typeface="Calibri"/>
              </a:rPr>
              <a:t>Intrapleural pressure is always sub-atmospheric. Loss of negative pressure = lung collapse.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B2E4B"/>
        </a:solidFill>
      </p:bgPr>
    </p:bg>
    <p:spTree>
      <p:nvGrpSpPr>
        <p:cNvPr id="220" name="Shape 2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1" name="Google Shape;221;p12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D7377"/>
          </a:solidFill>
          <a:ln cap="flat" cmpd="sng" w="12700">
            <a:solidFill>
              <a:srgbClr val="0D737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2" name="Google Shape;222;p12"/>
          <p:cNvSpPr/>
          <p:nvPr/>
        </p:nvSpPr>
        <p:spPr>
          <a:xfrm>
            <a:off x="0" y="4796028"/>
            <a:ext cx="9144000" cy="347472"/>
          </a:xfrm>
          <a:prstGeom prst="rect">
            <a:avLst/>
          </a:prstGeom>
          <a:solidFill>
            <a:srgbClr val="C9A84C"/>
          </a:solidFill>
          <a:ln cap="flat" cmpd="sng" w="12700">
            <a:solidFill>
              <a:srgbClr val="C9A84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3" name="Google Shape;223;p12"/>
          <p:cNvSpPr/>
          <p:nvPr/>
        </p:nvSpPr>
        <p:spPr>
          <a:xfrm>
            <a:off x="457200" y="1463040"/>
            <a:ext cx="8229600" cy="1371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600"/>
              <a:buFont typeface="Calibri"/>
              <a:buNone/>
            </a:pPr>
            <a:r>
              <a:rPr b="1" i="0" lang="en-US" sz="36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Section 5</a:t>
            </a:r>
            <a:endParaRPr b="0" i="0" sz="3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600"/>
              <a:buFont typeface="Calibri"/>
              <a:buNone/>
            </a:pPr>
            <a:r>
              <a:rPr b="1" i="0" lang="en-US" sz="36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Muscles of Respiration</a:t>
            </a:r>
            <a:endParaRPr b="0" i="0" sz="3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4" name="Google Shape;224;p12"/>
          <p:cNvSpPr/>
          <p:nvPr/>
        </p:nvSpPr>
        <p:spPr>
          <a:xfrm>
            <a:off x="457200" y="2926080"/>
            <a:ext cx="82296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9A84C"/>
              </a:buClr>
              <a:buSzPts val="1400"/>
              <a:buFont typeface="Calibri"/>
              <a:buNone/>
            </a:pPr>
            <a:r>
              <a:rPr b="0" i="0" lang="en-US" sz="1400" u="none" cap="none" strike="noStrike">
                <a:solidFill>
                  <a:srgbClr val="C9A84C"/>
                </a:solidFill>
                <a:latin typeface="Calibri"/>
                <a:ea typeface="Calibri"/>
                <a:cs typeface="Calibri"/>
                <a:sym typeface="Calibri"/>
              </a:rPr>
              <a:t>Laura Bates, DC  ·  BIOS 255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4F6F8"/>
        </a:solidFill>
      </p:bgPr>
    </p:bg>
    <p:spTree>
      <p:nvGrpSpPr>
        <p:cNvPr id="229" name="Shape 2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0" name="Google Shape;230;p13"/>
          <p:cNvSpPr/>
          <p:nvPr/>
        </p:nvSpPr>
        <p:spPr>
          <a:xfrm>
            <a:off x="0" y="0"/>
            <a:ext cx="164592" cy="4796028"/>
          </a:xfrm>
          <a:prstGeom prst="rect">
            <a:avLst/>
          </a:prstGeom>
          <a:solidFill>
            <a:srgbClr val="0D7377"/>
          </a:solidFill>
          <a:ln cap="flat" cmpd="sng" w="12700">
            <a:solidFill>
              <a:srgbClr val="0D737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1" name="Google Shape;231;p13"/>
          <p:cNvSpPr/>
          <p:nvPr/>
        </p:nvSpPr>
        <p:spPr>
          <a:xfrm>
            <a:off x="0" y="4796028"/>
            <a:ext cx="9144000" cy="347472"/>
          </a:xfrm>
          <a:prstGeom prst="rect">
            <a:avLst/>
          </a:prstGeom>
          <a:solidFill>
            <a:srgbClr val="C9A84C"/>
          </a:solidFill>
          <a:ln cap="flat" cmpd="sng" w="12700">
            <a:solidFill>
              <a:srgbClr val="C9A84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2" name="Google Shape;232;p13"/>
          <p:cNvSpPr/>
          <p:nvPr/>
        </p:nvSpPr>
        <p:spPr>
          <a:xfrm>
            <a:off x="182880" y="4814316"/>
            <a:ext cx="877824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B2E4B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1B2E4B"/>
                </a:solidFill>
                <a:latin typeface="Calibri"/>
                <a:ea typeface="Calibri"/>
                <a:cs typeface="Calibri"/>
                <a:sym typeface="Calibri"/>
              </a:rPr>
              <a:t>BIOS 255  ·  Respiratory Anatomy  ·  Laura Bates, DC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3" name="Google Shape;233;p13"/>
          <p:cNvSpPr/>
          <p:nvPr/>
        </p:nvSpPr>
        <p:spPr>
          <a:xfrm>
            <a:off x="164592" y="0"/>
            <a:ext cx="8979408" cy="594360"/>
          </a:xfrm>
          <a:prstGeom prst="rect">
            <a:avLst/>
          </a:prstGeom>
          <a:solidFill>
            <a:srgbClr val="1B2E4B"/>
          </a:solidFill>
          <a:ln cap="flat" cmpd="sng" w="12700">
            <a:solidFill>
              <a:srgbClr val="1B2E4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4" name="Google Shape;234;p13"/>
          <p:cNvSpPr/>
          <p:nvPr/>
        </p:nvSpPr>
        <p:spPr>
          <a:xfrm>
            <a:off x="320040" y="0"/>
            <a:ext cx="8046720" cy="5943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Calibri"/>
              <a:buNone/>
            </a:pPr>
            <a:r>
              <a:rPr b="1" i="0" lang="en-US" sz="1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Muscles of Respiration — Primary &amp; Accessory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5" name="Google Shape;235;p13"/>
          <p:cNvSpPr/>
          <p:nvPr/>
        </p:nvSpPr>
        <p:spPr>
          <a:xfrm>
            <a:off x="7132320" y="54864"/>
            <a:ext cx="1783080" cy="475488"/>
          </a:xfrm>
          <a:prstGeom prst="rect">
            <a:avLst/>
          </a:prstGeom>
          <a:solidFill>
            <a:srgbClr val="C9A84C"/>
          </a:solidFill>
          <a:ln cap="flat" cmpd="sng" w="12700">
            <a:solidFill>
              <a:srgbClr val="C9A84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6" name="Google Shape;236;p13"/>
          <p:cNvSpPr/>
          <p:nvPr/>
        </p:nvSpPr>
        <p:spPr>
          <a:xfrm>
            <a:off x="7150608" y="64008"/>
            <a:ext cx="173736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B2E4B"/>
              </a:buClr>
              <a:buSzPts val="900"/>
              <a:buFont typeface="Calibri"/>
              <a:buNone/>
            </a:pPr>
            <a:r>
              <a:rPr b="1" i="0" lang="en-US" sz="900" u="none" cap="none" strike="noStrike">
                <a:solidFill>
                  <a:srgbClr val="1B2E4B"/>
                </a:solidFill>
                <a:latin typeface="Calibri"/>
                <a:ea typeface="Calibri"/>
                <a:cs typeface="Calibri"/>
                <a:sym typeface="Calibri"/>
              </a:rPr>
              <a:t>Lecture Slide 18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7" name="Google Shape;237;p13"/>
          <p:cNvSpPr/>
          <p:nvPr/>
        </p:nvSpPr>
        <p:spPr>
          <a:xfrm>
            <a:off x="228600" y="658368"/>
            <a:ext cx="8686800" cy="347472"/>
          </a:xfrm>
          <a:prstGeom prst="rect">
            <a:avLst/>
          </a:prstGeom>
          <a:solidFill>
            <a:srgbClr val="1B2E4B"/>
          </a:solidFill>
          <a:ln cap="flat" cmpd="sng" w="12700">
            <a:solidFill>
              <a:srgbClr val="1B2E4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8" name="Google Shape;238;p13"/>
          <p:cNvSpPr/>
          <p:nvPr/>
        </p:nvSpPr>
        <p:spPr>
          <a:xfrm>
            <a:off x="274320" y="658368"/>
            <a:ext cx="169164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</a:pPr>
            <a:r>
              <a:rPr b="1" i="0" lang="en-US" sz="10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Muscle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9" name="Google Shape;239;p13"/>
          <p:cNvSpPr/>
          <p:nvPr/>
        </p:nvSpPr>
        <p:spPr>
          <a:xfrm>
            <a:off x="2148840" y="658368"/>
            <a:ext cx="242316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</a:pPr>
            <a:r>
              <a:rPr b="1" i="0" lang="en-US" sz="10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Role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0" name="Google Shape;240;p13"/>
          <p:cNvSpPr/>
          <p:nvPr/>
        </p:nvSpPr>
        <p:spPr>
          <a:xfrm>
            <a:off x="4754880" y="658368"/>
            <a:ext cx="192024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</a:pPr>
            <a:r>
              <a:rPr b="1" i="0" lang="en-US" sz="10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Inspiration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1" name="Google Shape;241;p13"/>
          <p:cNvSpPr/>
          <p:nvPr/>
        </p:nvSpPr>
        <p:spPr>
          <a:xfrm>
            <a:off x="6858000" y="658368"/>
            <a:ext cx="201168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</a:pPr>
            <a:r>
              <a:rPr b="1" i="0" lang="en-US" sz="10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Expiration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2" name="Google Shape;242;p13"/>
          <p:cNvSpPr/>
          <p:nvPr/>
        </p:nvSpPr>
        <p:spPr>
          <a:xfrm>
            <a:off x="228600" y="1042416"/>
            <a:ext cx="8686800" cy="484632"/>
          </a:xfrm>
          <a:prstGeom prst="rect">
            <a:avLst/>
          </a:prstGeom>
          <a:solidFill>
            <a:srgbClr val="E8EEF4"/>
          </a:solidFill>
          <a:ln cap="flat" cmpd="sng" w="12700">
            <a:solidFill>
              <a:srgbClr val="D0D8E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3" name="Google Shape;243;p13"/>
          <p:cNvSpPr/>
          <p:nvPr/>
        </p:nvSpPr>
        <p:spPr>
          <a:xfrm>
            <a:off x="274320" y="1060704"/>
            <a:ext cx="1691640" cy="44805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2E4B"/>
              </a:buClr>
              <a:buSzPts val="850"/>
              <a:buFont typeface="Calibri"/>
              <a:buNone/>
            </a:pPr>
            <a:r>
              <a:rPr b="1" i="0" lang="en-US" sz="850" u="none" cap="none" strike="noStrike">
                <a:solidFill>
                  <a:srgbClr val="1B2E4B"/>
                </a:solidFill>
                <a:latin typeface="Calibri"/>
                <a:ea typeface="Calibri"/>
                <a:cs typeface="Calibri"/>
                <a:sym typeface="Calibri"/>
              </a:rPr>
              <a:t>Diaphragm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4" name="Google Shape;244;p13"/>
          <p:cNvSpPr/>
          <p:nvPr/>
        </p:nvSpPr>
        <p:spPr>
          <a:xfrm>
            <a:off x="2148840" y="1060704"/>
            <a:ext cx="2423160" cy="44805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2E4B"/>
              </a:buClr>
              <a:buSzPts val="850"/>
              <a:buFont typeface="Calibri"/>
              <a:buNone/>
            </a:pPr>
            <a:r>
              <a:rPr b="0" i="0" lang="en-US" sz="850" u="none" cap="none" strike="noStrike">
                <a:solidFill>
                  <a:srgbClr val="1B2E4B"/>
                </a:solidFill>
                <a:latin typeface="Calibri"/>
                <a:ea typeface="Calibri"/>
                <a:cs typeface="Calibri"/>
                <a:sym typeface="Calibri"/>
              </a:rPr>
              <a:t>PRIMARY — 2/3 of airflow; phrenic nerve C3,4,5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5" name="Google Shape;245;p13"/>
          <p:cNvSpPr/>
          <p:nvPr/>
        </p:nvSpPr>
        <p:spPr>
          <a:xfrm>
            <a:off x="4754880" y="1060704"/>
            <a:ext cx="1920240" cy="44805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2E4B"/>
              </a:buClr>
              <a:buSzPts val="850"/>
              <a:buFont typeface="Calibri"/>
              <a:buNone/>
            </a:pPr>
            <a:r>
              <a:rPr b="0" i="0" lang="en-US" sz="850" u="none" cap="none" strike="noStrike">
                <a:solidFill>
                  <a:srgbClr val="1B2E4B"/>
                </a:solidFill>
                <a:latin typeface="Calibri"/>
                <a:ea typeface="Calibri"/>
                <a:cs typeface="Calibri"/>
                <a:sym typeface="Calibri"/>
              </a:rPr>
              <a:t>Contracts (flattens) → ↑ thoracic volume vertically → air IN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6" name="Google Shape;246;p13"/>
          <p:cNvSpPr/>
          <p:nvPr/>
        </p:nvSpPr>
        <p:spPr>
          <a:xfrm>
            <a:off x="6858000" y="1060704"/>
            <a:ext cx="2011680" cy="44805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2E4B"/>
              </a:buClr>
              <a:buSzPts val="850"/>
              <a:buFont typeface="Calibri"/>
              <a:buNone/>
            </a:pPr>
            <a:r>
              <a:rPr b="0" i="0" lang="en-US" sz="850" u="none" cap="none" strike="noStrike">
                <a:solidFill>
                  <a:srgbClr val="1B2E4B"/>
                </a:solidFill>
                <a:latin typeface="Calibri"/>
                <a:ea typeface="Calibri"/>
                <a:cs typeface="Calibri"/>
                <a:sym typeface="Calibri"/>
              </a:rPr>
              <a:t>Relaxes (domes up) → ↓ volume → air OUT (passive)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7" name="Google Shape;247;p13"/>
          <p:cNvSpPr/>
          <p:nvPr/>
        </p:nvSpPr>
        <p:spPr>
          <a:xfrm>
            <a:off x="228600" y="1554480"/>
            <a:ext cx="8686800" cy="484632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D0D8E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8" name="Google Shape;248;p13"/>
          <p:cNvSpPr/>
          <p:nvPr/>
        </p:nvSpPr>
        <p:spPr>
          <a:xfrm>
            <a:off x="274320" y="1572768"/>
            <a:ext cx="1691640" cy="44805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2E4B"/>
              </a:buClr>
              <a:buSzPts val="850"/>
              <a:buFont typeface="Calibri"/>
              <a:buNone/>
            </a:pPr>
            <a:r>
              <a:rPr b="1" i="0" lang="en-US" sz="850" u="none" cap="none" strike="noStrike">
                <a:solidFill>
                  <a:srgbClr val="1B2E4B"/>
                </a:solidFill>
                <a:latin typeface="Calibri"/>
                <a:ea typeface="Calibri"/>
                <a:cs typeface="Calibri"/>
                <a:sym typeface="Calibri"/>
              </a:rPr>
              <a:t>External Intercostals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9" name="Google Shape;249;p13"/>
          <p:cNvSpPr/>
          <p:nvPr/>
        </p:nvSpPr>
        <p:spPr>
          <a:xfrm>
            <a:off x="2148840" y="1572768"/>
            <a:ext cx="2423160" cy="44805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2E4B"/>
              </a:buClr>
              <a:buSzPts val="850"/>
              <a:buFont typeface="Calibri"/>
              <a:buNone/>
            </a:pPr>
            <a:r>
              <a:rPr b="0" i="0" lang="en-US" sz="850" u="none" cap="none" strike="noStrike">
                <a:solidFill>
                  <a:srgbClr val="1B2E4B"/>
                </a:solidFill>
                <a:latin typeface="Calibri"/>
                <a:ea typeface="Calibri"/>
                <a:cs typeface="Calibri"/>
                <a:sym typeface="Calibri"/>
              </a:rPr>
              <a:t>PRIMARY — 1/3 of airflow; intercostal nerves T1–T11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0" name="Google Shape;250;p13"/>
          <p:cNvSpPr/>
          <p:nvPr/>
        </p:nvSpPr>
        <p:spPr>
          <a:xfrm>
            <a:off x="4754880" y="1572768"/>
            <a:ext cx="1920240" cy="44805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2E4B"/>
              </a:buClr>
              <a:buSzPts val="850"/>
              <a:buFont typeface="Calibri"/>
              <a:buNone/>
            </a:pPr>
            <a:r>
              <a:rPr b="0" i="0" lang="en-US" sz="850" u="none" cap="none" strike="noStrike">
                <a:solidFill>
                  <a:srgbClr val="1B2E4B"/>
                </a:solidFill>
                <a:latin typeface="Calibri"/>
                <a:ea typeface="Calibri"/>
                <a:cs typeface="Calibri"/>
                <a:sym typeface="Calibri"/>
              </a:rPr>
              <a:t>Contract → elevate ribs up &amp; out → ↑ A-P diameter → air IN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1" name="Google Shape;251;p13"/>
          <p:cNvSpPr/>
          <p:nvPr/>
        </p:nvSpPr>
        <p:spPr>
          <a:xfrm>
            <a:off x="6858000" y="1572768"/>
            <a:ext cx="2011680" cy="44805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2E4B"/>
              </a:buClr>
              <a:buSzPts val="850"/>
              <a:buFont typeface="Calibri"/>
              <a:buNone/>
            </a:pPr>
            <a:r>
              <a:rPr b="0" i="0" lang="en-US" sz="850" u="none" cap="none" strike="noStrike">
                <a:solidFill>
                  <a:srgbClr val="1B2E4B"/>
                </a:solidFill>
                <a:latin typeface="Calibri"/>
                <a:ea typeface="Calibri"/>
                <a:cs typeface="Calibri"/>
                <a:sym typeface="Calibri"/>
              </a:rPr>
              <a:t>Relax during quiet exhalation (passive elastic recoil)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2" name="Google Shape;252;p13"/>
          <p:cNvSpPr/>
          <p:nvPr/>
        </p:nvSpPr>
        <p:spPr>
          <a:xfrm>
            <a:off x="228600" y="2066544"/>
            <a:ext cx="8686800" cy="484632"/>
          </a:xfrm>
          <a:prstGeom prst="rect">
            <a:avLst/>
          </a:prstGeom>
          <a:solidFill>
            <a:srgbClr val="E8EEF4"/>
          </a:solidFill>
          <a:ln cap="flat" cmpd="sng" w="12700">
            <a:solidFill>
              <a:srgbClr val="D0D8E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3" name="Google Shape;253;p13"/>
          <p:cNvSpPr/>
          <p:nvPr/>
        </p:nvSpPr>
        <p:spPr>
          <a:xfrm>
            <a:off x="274320" y="2084832"/>
            <a:ext cx="1691640" cy="44805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2E4B"/>
              </a:buClr>
              <a:buSzPts val="850"/>
              <a:buFont typeface="Calibri"/>
              <a:buNone/>
            </a:pPr>
            <a:r>
              <a:rPr b="1" i="0" lang="en-US" sz="850" u="none" cap="none" strike="noStrike">
                <a:solidFill>
                  <a:srgbClr val="1B2E4B"/>
                </a:solidFill>
                <a:latin typeface="Calibri"/>
                <a:ea typeface="Calibri"/>
                <a:cs typeface="Calibri"/>
                <a:sym typeface="Calibri"/>
              </a:rPr>
              <a:t>Internal Intercostals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4" name="Google Shape;254;p13"/>
          <p:cNvSpPr/>
          <p:nvPr/>
        </p:nvSpPr>
        <p:spPr>
          <a:xfrm>
            <a:off x="2148840" y="2084832"/>
            <a:ext cx="2423160" cy="44805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2E4B"/>
              </a:buClr>
              <a:buSzPts val="850"/>
              <a:buFont typeface="Calibri"/>
              <a:buNone/>
            </a:pPr>
            <a:r>
              <a:rPr b="0" i="0" lang="en-US" sz="850" u="none" cap="none" strike="noStrike">
                <a:solidFill>
                  <a:srgbClr val="1B2E4B"/>
                </a:solidFill>
                <a:latin typeface="Calibri"/>
                <a:ea typeface="Calibri"/>
                <a:cs typeface="Calibri"/>
                <a:sym typeface="Calibri"/>
              </a:rPr>
              <a:t>Active (forced) expiration only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5" name="Google Shape;255;p13"/>
          <p:cNvSpPr/>
          <p:nvPr/>
        </p:nvSpPr>
        <p:spPr>
          <a:xfrm>
            <a:off x="4754880" y="2084832"/>
            <a:ext cx="1920240" cy="44805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2E4B"/>
              </a:buClr>
              <a:buSzPts val="850"/>
              <a:buFont typeface="Calibri"/>
              <a:buNone/>
            </a:pPr>
            <a:r>
              <a:rPr b="0" i="0" lang="en-US" sz="850" u="none" cap="none" strike="noStrike">
                <a:solidFill>
                  <a:srgbClr val="1B2E4B"/>
                </a:solidFill>
                <a:latin typeface="Calibri"/>
                <a:ea typeface="Calibri"/>
                <a:cs typeface="Calibri"/>
                <a:sym typeface="Calibri"/>
              </a:rPr>
              <a:t>Inactive during quiet inspiration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6" name="Google Shape;256;p13"/>
          <p:cNvSpPr/>
          <p:nvPr/>
        </p:nvSpPr>
        <p:spPr>
          <a:xfrm>
            <a:off x="6858000" y="2084832"/>
            <a:ext cx="2011680" cy="44805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2E4B"/>
              </a:buClr>
              <a:buSzPts val="850"/>
              <a:buFont typeface="Calibri"/>
              <a:buNone/>
            </a:pPr>
            <a:r>
              <a:rPr b="0" i="0" lang="en-US" sz="850" u="none" cap="none" strike="noStrike">
                <a:solidFill>
                  <a:srgbClr val="1B2E4B"/>
                </a:solidFill>
                <a:latin typeface="Calibri"/>
                <a:ea typeface="Calibri"/>
                <a:cs typeface="Calibri"/>
                <a:sym typeface="Calibri"/>
              </a:rPr>
              <a:t>Contract → depress ribs inward → ↓ volume → force air OUT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7" name="Google Shape;257;p13"/>
          <p:cNvSpPr/>
          <p:nvPr/>
        </p:nvSpPr>
        <p:spPr>
          <a:xfrm>
            <a:off x="228600" y="2578608"/>
            <a:ext cx="8686800" cy="484632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D0D8E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8" name="Google Shape;258;p13"/>
          <p:cNvSpPr/>
          <p:nvPr/>
        </p:nvSpPr>
        <p:spPr>
          <a:xfrm>
            <a:off x="274320" y="2596896"/>
            <a:ext cx="1691640" cy="44805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2E4B"/>
              </a:buClr>
              <a:buSzPts val="850"/>
              <a:buFont typeface="Calibri"/>
              <a:buNone/>
            </a:pPr>
            <a:r>
              <a:rPr b="1" i="0" lang="en-US" sz="850" u="none" cap="none" strike="noStrike">
                <a:solidFill>
                  <a:srgbClr val="1B2E4B"/>
                </a:solidFill>
                <a:latin typeface="Calibri"/>
                <a:ea typeface="Calibri"/>
                <a:cs typeface="Calibri"/>
                <a:sym typeface="Calibri"/>
              </a:rPr>
              <a:t>Scalenes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9" name="Google Shape;259;p13"/>
          <p:cNvSpPr/>
          <p:nvPr/>
        </p:nvSpPr>
        <p:spPr>
          <a:xfrm>
            <a:off x="2148840" y="2596896"/>
            <a:ext cx="2423160" cy="44805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2E4B"/>
              </a:buClr>
              <a:buSzPts val="850"/>
              <a:buFont typeface="Calibri"/>
              <a:buNone/>
            </a:pPr>
            <a:r>
              <a:rPr b="0" i="0" lang="en-US" sz="850" u="none" cap="none" strike="noStrike">
                <a:solidFill>
                  <a:srgbClr val="1B2E4B"/>
                </a:solidFill>
                <a:latin typeface="Calibri"/>
                <a:ea typeface="Calibri"/>
                <a:cs typeface="Calibri"/>
                <a:sym typeface="Calibri"/>
              </a:rPr>
              <a:t>Accessory (forced inspiration)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0" name="Google Shape;260;p13"/>
          <p:cNvSpPr/>
          <p:nvPr/>
        </p:nvSpPr>
        <p:spPr>
          <a:xfrm>
            <a:off x="4754880" y="2596896"/>
            <a:ext cx="1920240" cy="44805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2E4B"/>
              </a:buClr>
              <a:buSzPts val="850"/>
              <a:buFont typeface="Calibri"/>
              <a:buNone/>
            </a:pPr>
            <a:r>
              <a:rPr b="0" i="0" lang="en-US" sz="850" u="none" cap="none" strike="noStrike">
                <a:solidFill>
                  <a:srgbClr val="1B2E4B"/>
                </a:solidFill>
                <a:latin typeface="Calibri"/>
                <a:ea typeface="Calibri"/>
                <a:cs typeface="Calibri"/>
                <a:sym typeface="Calibri"/>
              </a:rPr>
              <a:t>Elevate 1st &amp; 2nd ribs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1" name="Google Shape;261;p13"/>
          <p:cNvSpPr/>
          <p:nvPr/>
        </p:nvSpPr>
        <p:spPr>
          <a:xfrm>
            <a:off x="6858000" y="2596896"/>
            <a:ext cx="2011680" cy="44805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2E4B"/>
              </a:buClr>
              <a:buSzPts val="850"/>
              <a:buFont typeface="Calibri"/>
              <a:buNone/>
            </a:pPr>
            <a:r>
              <a:rPr b="0" i="0" lang="en-US" sz="850" u="none" cap="none" strike="noStrike">
                <a:solidFill>
                  <a:srgbClr val="1B2E4B"/>
                </a:solidFill>
                <a:latin typeface="Calibri"/>
                <a:ea typeface="Calibri"/>
                <a:cs typeface="Calibri"/>
                <a:sym typeface="Calibri"/>
              </a:rPr>
              <a:t>Not used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2" name="Google Shape;262;p13"/>
          <p:cNvSpPr/>
          <p:nvPr/>
        </p:nvSpPr>
        <p:spPr>
          <a:xfrm>
            <a:off x="228600" y="3090672"/>
            <a:ext cx="8686800" cy="484632"/>
          </a:xfrm>
          <a:prstGeom prst="rect">
            <a:avLst/>
          </a:prstGeom>
          <a:solidFill>
            <a:srgbClr val="E8EEF4"/>
          </a:solidFill>
          <a:ln cap="flat" cmpd="sng" w="12700">
            <a:solidFill>
              <a:srgbClr val="D0D8E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3" name="Google Shape;263;p13"/>
          <p:cNvSpPr/>
          <p:nvPr/>
        </p:nvSpPr>
        <p:spPr>
          <a:xfrm>
            <a:off x="274320" y="3108960"/>
            <a:ext cx="1691640" cy="44805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2E4B"/>
              </a:buClr>
              <a:buSzPts val="850"/>
              <a:buFont typeface="Calibri"/>
              <a:buNone/>
            </a:pPr>
            <a:r>
              <a:rPr b="1" i="0" lang="en-US" sz="850" u="none" cap="none" strike="noStrike">
                <a:solidFill>
                  <a:srgbClr val="1B2E4B"/>
                </a:solidFill>
                <a:latin typeface="Calibri"/>
                <a:ea typeface="Calibri"/>
                <a:cs typeface="Calibri"/>
                <a:sym typeface="Calibri"/>
              </a:rPr>
              <a:t>SCM (Sternocleidomastoid)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4" name="Google Shape;264;p13"/>
          <p:cNvSpPr/>
          <p:nvPr/>
        </p:nvSpPr>
        <p:spPr>
          <a:xfrm>
            <a:off x="2148840" y="3108960"/>
            <a:ext cx="2423160" cy="44805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2E4B"/>
              </a:buClr>
              <a:buSzPts val="850"/>
              <a:buFont typeface="Calibri"/>
              <a:buNone/>
            </a:pPr>
            <a:r>
              <a:rPr b="0" i="0" lang="en-US" sz="850" u="none" cap="none" strike="noStrike">
                <a:solidFill>
                  <a:srgbClr val="1B2E4B"/>
                </a:solidFill>
                <a:latin typeface="Calibri"/>
                <a:ea typeface="Calibri"/>
                <a:cs typeface="Calibri"/>
                <a:sym typeface="Calibri"/>
              </a:rPr>
              <a:t>Accessory (respiratory distress)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5" name="Google Shape;265;p13"/>
          <p:cNvSpPr/>
          <p:nvPr/>
        </p:nvSpPr>
        <p:spPr>
          <a:xfrm>
            <a:off x="4754880" y="3108960"/>
            <a:ext cx="1920240" cy="44805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2E4B"/>
              </a:buClr>
              <a:buSzPts val="850"/>
              <a:buFont typeface="Calibri"/>
              <a:buNone/>
            </a:pPr>
            <a:r>
              <a:rPr b="0" i="0" lang="en-US" sz="850" u="none" cap="none" strike="noStrike">
                <a:solidFill>
                  <a:srgbClr val="1B2E4B"/>
                </a:solidFill>
                <a:latin typeface="Calibri"/>
                <a:ea typeface="Calibri"/>
                <a:cs typeface="Calibri"/>
                <a:sym typeface="Calibri"/>
              </a:rPr>
              <a:t>Elevates sternum; visible neck tension = clinical sign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6" name="Google Shape;266;p13"/>
          <p:cNvSpPr/>
          <p:nvPr/>
        </p:nvSpPr>
        <p:spPr>
          <a:xfrm>
            <a:off x="6858000" y="3108960"/>
            <a:ext cx="2011680" cy="44805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2E4B"/>
              </a:buClr>
              <a:buSzPts val="850"/>
              <a:buFont typeface="Calibri"/>
              <a:buNone/>
            </a:pPr>
            <a:r>
              <a:rPr b="0" i="0" lang="en-US" sz="850" u="none" cap="none" strike="noStrike">
                <a:solidFill>
                  <a:srgbClr val="1B2E4B"/>
                </a:solidFill>
                <a:latin typeface="Calibri"/>
                <a:ea typeface="Calibri"/>
                <a:cs typeface="Calibri"/>
                <a:sym typeface="Calibri"/>
              </a:rPr>
              <a:t>Not used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7" name="Google Shape;267;p13"/>
          <p:cNvSpPr/>
          <p:nvPr/>
        </p:nvSpPr>
        <p:spPr>
          <a:xfrm>
            <a:off x="228600" y="3602736"/>
            <a:ext cx="8686800" cy="484632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D0D8E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8" name="Google Shape;268;p13"/>
          <p:cNvSpPr/>
          <p:nvPr/>
        </p:nvSpPr>
        <p:spPr>
          <a:xfrm>
            <a:off x="274320" y="3621024"/>
            <a:ext cx="1691640" cy="44805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2E4B"/>
              </a:buClr>
              <a:buSzPts val="850"/>
              <a:buFont typeface="Calibri"/>
              <a:buNone/>
            </a:pPr>
            <a:r>
              <a:rPr b="1" i="0" lang="en-US" sz="850" u="none" cap="none" strike="noStrike">
                <a:solidFill>
                  <a:srgbClr val="1B2E4B"/>
                </a:solidFill>
                <a:latin typeface="Calibri"/>
                <a:ea typeface="Calibri"/>
                <a:cs typeface="Calibri"/>
                <a:sym typeface="Calibri"/>
              </a:rPr>
              <a:t>Abdominals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9" name="Google Shape;269;p13"/>
          <p:cNvSpPr/>
          <p:nvPr/>
        </p:nvSpPr>
        <p:spPr>
          <a:xfrm>
            <a:off x="2148840" y="3621024"/>
            <a:ext cx="2423160" cy="44805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2E4B"/>
              </a:buClr>
              <a:buSzPts val="850"/>
              <a:buFont typeface="Calibri"/>
              <a:buNone/>
            </a:pPr>
            <a:r>
              <a:rPr b="0" i="0" lang="en-US" sz="850" u="none" cap="none" strike="noStrike">
                <a:solidFill>
                  <a:srgbClr val="1B2E4B"/>
                </a:solidFill>
                <a:latin typeface="Calibri"/>
                <a:ea typeface="Calibri"/>
                <a:cs typeface="Calibri"/>
                <a:sym typeface="Calibri"/>
              </a:rPr>
              <a:t>Accessory (forced expiration)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0" name="Google Shape;270;p13"/>
          <p:cNvSpPr/>
          <p:nvPr/>
        </p:nvSpPr>
        <p:spPr>
          <a:xfrm>
            <a:off x="4754880" y="3621024"/>
            <a:ext cx="1920240" cy="44805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2E4B"/>
              </a:buClr>
              <a:buSzPts val="850"/>
              <a:buFont typeface="Calibri"/>
              <a:buNone/>
            </a:pPr>
            <a:r>
              <a:rPr b="0" i="0" lang="en-US" sz="850" u="none" cap="none" strike="noStrike">
                <a:solidFill>
                  <a:srgbClr val="1B2E4B"/>
                </a:solidFill>
                <a:latin typeface="Calibri"/>
                <a:ea typeface="Calibri"/>
                <a:cs typeface="Calibri"/>
                <a:sym typeface="Calibri"/>
              </a:rPr>
              <a:t>Not used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1" name="Google Shape;271;p13"/>
          <p:cNvSpPr/>
          <p:nvPr/>
        </p:nvSpPr>
        <p:spPr>
          <a:xfrm>
            <a:off x="6858000" y="3621024"/>
            <a:ext cx="2011680" cy="44805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2E4B"/>
              </a:buClr>
              <a:buSzPts val="850"/>
              <a:buFont typeface="Calibri"/>
              <a:buNone/>
            </a:pPr>
            <a:r>
              <a:rPr b="0" i="0" lang="en-US" sz="850" u="none" cap="none" strike="noStrike">
                <a:solidFill>
                  <a:srgbClr val="1B2E4B"/>
                </a:solidFill>
                <a:latin typeface="Calibri"/>
                <a:ea typeface="Calibri"/>
                <a:cs typeface="Calibri"/>
                <a:sym typeface="Calibri"/>
              </a:rPr>
              <a:t>Compress abdomen → push diaphragm up → force air OUT; Valsalva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2" name="Google Shape;272;p13"/>
          <p:cNvSpPr/>
          <p:nvPr/>
        </p:nvSpPr>
        <p:spPr>
          <a:xfrm>
            <a:off x="256032" y="4114800"/>
            <a:ext cx="864108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D7377"/>
              </a:buClr>
              <a:buSzPts val="900"/>
              <a:buFont typeface="Calibri"/>
              <a:buNone/>
            </a:pPr>
            <a:r>
              <a:rPr b="1" i="0" lang="en-US" sz="900" u="none" cap="none" strike="noStrike">
                <a:solidFill>
                  <a:srgbClr val="0D7377"/>
                </a:solidFill>
                <a:latin typeface="Calibri"/>
                <a:ea typeface="Calibri"/>
                <a:cs typeface="Calibri"/>
                <a:sym typeface="Calibri"/>
              </a:rPr>
              <a:t>KNOW THIS: </a:t>
            </a:r>
            <a:r>
              <a:rPr b="0" i="0" lang="en-US" sz="900" u="none" cap="none" strike="noStrike">
                <a:solidFill>
                  <a:srgbClr val="1B2E4B"/>
                </a:solidFill>
                <a:latin typeface="Calibri"/>
                <a:ea typeface="Calibri"/>
                <a:cs typeface="Calibri"/>
                <a:sym typeface="Calibri"/>
              </a:rPr>
              <a:t>Primary muscles of quiet inspiration? → Diaphragm + External Intercostals   </a:t>
            </a:r>
            <a:r>
              <a:rPr b="1" i="0" lang="en-US" sz="900" u="none" cap="none" strike="noStrike">
                <a:solidFill>
                  <a:srgbClr val="0D7377"/>
                </a:solidFill>
                <a:latin typeface="Calibri"/>
                <a:ea typeface="Calibri"/>
                <a:cs typeface="Calibri"/>
                <a:sym typeface="Calibri"/>
              </a:rPr>
              <a:t>KNOW THIS: </a:t>
            </a:r>
            <a:r>
              <a:rPr b="0" i="0" lang="en-US" sz="900" u="none" cap="none" strike="noStrike">
                <a:solidFill>
                  <a:srgbClr val="1B2E4B"/>
                </a:solidFill>
                <a:latin typeface="Calibri"/>
                <a:ea typeface="Calibri"/>
                <a:cs typeface="Calibri"/>
                <a:sym typeface="Calibri"/>
              </a:rPr>
              <a:t>Active expiration muscles? → Internal Intercostals + Abdominals   </a:t>
            </a:r>
            <a:r>
              <a:rPr b="1" i="0" lang="en-US" sz="900" u="none" cap="none" strike="noStrike">
                <a:solidFill>
                  <a:srgbClr val="0D7377"/>
                </a:solidFill>
                <a:latin typeface="Calibri"/>
                <a:ea typeface="Calibri"/>
                <a:cs typeface="Calibri"/>
                <a:sym typeface="Calibri"/>
              </a:rPr>
              <a:t>KNOW THIS: </a:t>
            </a:r>
            <a:r>
              <a:rPr b="0" i="0" lang="en-US" sz="900" u="none" cap="none" strike="noStrike">
                <a:solidFill>
                  <a:srgbClr val="1B2E4B"/>
                </a:solidFill>
                <a:latin typeface="Calibri"/>
                <a:ea typeface="Calibri"/>
                <a:cs typeface="Calibri"/>
                <a:sym typeface="Calibri"/>
              </a:rPr>
              <a:t>Diaphragm during expiration? → RELAXES (rises back to dome shape)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B2E4B"/>
        </a:solidFill>
      </p:bgPr>
    </p:bg>
    <p:spTree>
      <p:nvGrpSpPr>
        <p:cNvPr id="277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p14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D7377"/>
          </a:solidFill>
          <a:ln cap="flat" cmpd="sng" w="12700">
            <a:solidFill>
              <a:srgbClr val="0D737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9" name="Google Shape;279;p14"/>
          <p:cNvSpPr/>
          <p:nvPr/>
        </p:nvSpPr>
        <p:spPr>
          <a:xfrm>
            <a:off x="0" y="4796028"/>
            <a:ext cx="9144000" cy="347472"/>
          </a:xfrm>
          <a:prstGeom prst="rect">
            <a:avLst/>
          </a:prstGeom>
          <a:solidFill>
            <a:srgbClr val="C9A84C"/>
          </a:solidFill>
          <a:ln cap="flat" cmpd="sng" w="12700">
            <a:solidFill>
              <a:srgbClr val="C9A84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0" name="Google Shape;280;p14"/>
          <p:cNvSpPr/>
          <p:nvPr/>
        </p:nvSpPr>
        <p:spPr>
          <a:xfrm>
            <a:off x="457200" y="1463040"/>
            <a:ext cx="8229600" cy="1371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600"/>
              <a:buFont typeface="Calibri"/>
              <a:buNone/>
            </a:pPr>
            <a:r>
              <a:rPr b="1" i="0" lang="en-US" sz="36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Section 6</a:t>
            </a:r>
            <a:endParaRPr b="0" i="0" sz="3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600"/>
              <a:buFont typeface="Calibri"/>
              <a:buNone/>
            </a:pPr>
            <a:r>
              <a:rPr b="1" i="0" lang="en-US" sz="36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Lung Volumes &amp; Capacities</a:t>
            </a:r>
            <a:endParaRPr b="0" i="0" sz="3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1" name="Google Shape;281;p14"/>
          <p:cNvSpPr/>
          <p:nvPr/>
        </p:nvSpPr>
        <p:spPr>
          <a:xfrm>
            <a:off x="457200" y="2926080"/>
            <a:ext cx="82296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9A84C"/>
              </a:buClr>
              <a:buSzPts val="1400"/>
              <a:buFont typeface="Calibri"/>
              <a:buNone/>
            </a:pPr>
            <a:r>
              <a:rPr b="0" i="0" lang="en-US" sz="1400" u="none" cap="none" strike="noStrike">
                <a:solidFill>
                  <a:srgbClr val="C9A84C"/>
                </a:solidFill>
                <a:latin typeface="Calibri"/>
                <a:ea typeface="Calibri"/>
                <a:cs typeface="Calibri"/>
                <a:sym typeface="Calibri"/>
              </a:rPr>
              <a:t>Laura Bates, DC  ·  BIOS 255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4F6F8"/>
        </a:solidFill>
      </p:bgPr>
    </p:bg>
    <p:spTree>
      <p:nvGrpSpPr>
        <p:cNvPr id="286" name="Shape 2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7" name="Google Shape;287;p15"/>
          <p:cNvSpPr/>
          <p:nvPr/>
        </p:nvSpPr>
        <p:spPr>
          <a:xfrm>
            <a:off x="0" y="0"/>
            <a:ext cx="164592" cy="4796028"/>
          </a:xfrm>
          <a:prstGeom prst="rect">
            <a:avLst/>
          </a:prstGeom>
          <a:solidFill>
            <a:srgbClr val="0D7377"/>
          </a:solidFill>
          <a:ln cap="flat" cmpd="sng" w="12700">
            <a:solidFill>
              <a:srgbClr val="0D737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8" name="Google Shape;288;p15"/>
          <p:cNvSpPr/>
          <p:nvPr/>
        </p:nvSpPr>
        <p:spPr>
          <a:xfrm>
            <a:off x="0" y="4796028"/>
            <a:ext cx="9144000" cy="347472"/>
          </a:xfrm>
          <a:prstGeom prst="rect">
            <a:avLst/>
          </a:prstGeom>
          <a:solidFill>
            <a:srgbClr val="C9A84C"/>
          </a:solidFill>
          <a:ln cap="flat" cmpd="sng" w="12700">
            <a:solidFill>
              <a:srgbClr val="C9A84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9" name="Google Shape;289;p15"/>
          <p:cNvSpPr/>
          <p:nvPr/>
        </p:nvSpPr>
        <p:spPr>
          <a:xfrm>
            <a:off x="182880" y="4814316"/>
            <a:ext cx="877824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B2E4B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1B2E4B"/>
                </a:solidFill>
                <a:latin typeface="Calibri"/>
                <a:ea typeface="Calibri"/>
                <a:cs typeface="Calibri"/>
                <a:sym typeface="Calibri"/>
              </a:rPr>
              <a:t>BIOS 255  ·  Respiratory Anatomy  ·  Laura Bates, DC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0" name="Google Shape;290;p15"/>
          <p:cNvSpPr/>
          <p:nvPr/>
        </p:nvSpPr>
        <p:spPr>
          <a:xfrm>
            <a:off x="164592" y="0"/>
            <a:ext cx="8979408" cy="594360"/>
          </a:xfrm>
          <a:prstGeom prst="rect">
            <a:avLst/>
          </a:prstGeom>
          <a:solidFill>
            <a:srgbClr val="1B2E4B"/>
          </a:solidFill>
          <a:ln cap="flat" cmpd="sng" w="12700">
            <a:solidFill>
              <a:srgbClr val="1B2E4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1" name="Google Shape;291;p15"/>
          <p:cNvSpPr/>
          <p:nvPr/>
        </p:nvSpPr>
        <p:spPr>
          <a:xfrm>
            <a:off x="320040" y="0"/>
            <a:ext cx="8046720" cy="5943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Calibri"/>
              <a:buNone/>
            </a:pPr>
            <a:r>
              <a:rPr b="1" i="0" lang="en-US" sz="1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Lung Volumes &amp; Capacities — The Spirogram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2" name="Google Shape;292;p15"/>
          <p:cNvSpPr/>
          <p:nvPr/>
        </p:nvSpPr>
        <p:spPr>
          <a:xfrm>
            <a:off x="7132320" y="54864"/>
            <a:ext cx="1783080" cy="475488"/>
          </a:xfrm>
          <a:prstGeom prst="rect">
            <a:avLst/>
          </a:prstGeom>
          <a:solidFill>
            <a:srgbClr val="C9A84C"/>
          </a:solidFill>
          <a:ln cap="flat" cmpd="sng" w="12700">
            <a:solidFill>
              <a:srgbClr val="C9A84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3" name="Google Shape;293;p15"/>
          <p:cNvSpPr/>
          <p:nvPr/>
        </p:nvSpPr>
        <p:spPr>
          <a:xfrm>
            <a:off x="7150608" y="64008"/>
            <a:ext cx="173736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B2E4B"/>
              </a:buClr>
              <a:buSzPts val="900"/>
              <a:buFont typeface="Calibri"/>
              <a:buNone/>
            </a:pPr>
            <a:r>
              <a:rPr b="1" i="0" lang="en-US" sz="900" u="none" cap="none" strike="noStrike">
                <a:solidFill>
                  <a:srgbClr val="1B2E4B"/>
                </a:solidFill>
                <a:latin typeface="Calibri"/>
                <a:ea typeface="Calibri"/>
                <a:cs typeface="Calibri"/>
                <a:sym typeface="Calibri"/>
              </a:rPr>
              <a:t>Lecture Slide 23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4" name="Google Shape;294;p15"/>
          <p:cNvSpPr/>
          <p:nvPr/>
        </p:nvSpPr>
        <p:spPr>
          <a:xfrm>
            <a:off x="228600" y="658368"/>
            <a:ext cx="4160520" cy="329184"/>
          </a:xfrm>
          <a:prstGeom prst="rect">
            <a:avLst/>
          </a:prstGeom>
          <a:solidFill>
            <a:srgbClr val="0D7377"/>
          </a:solidFill>
          <a:ln cap="flat" cmpd="sng" w="12700">
            <a:solidFill>
              <a:srgbClr val="0D737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5" name="Google Shape;295;p15"/>
          <p:cNvSpPr/>
          <p:nvPr/>
        </p:nvSpPr>
        <p:spPr>
          <a:xfrm>
            <a:off x="256032" y="658368"/>
            <a:ext cx="4114800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VOLUMES (four independent measures)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6" name="Google Shape;296;p15"/>
          <p:cNvSpPr/>
          <p:nvPr/>
        </p:nvSpPr>
        <p:spPr>
          <a:xfrm>
            <a:off x="228600" y="1024128"/>
            <a:ext cx="4160520" cy="640080"/>
          </a:xfrm>
          <a:prstGeom prst="rect">
            <a:avLst/>
          </a:prstGeom>
          <a:solidFill>
            <a:srgbClr val="E8EEF4"/>
          </a:solidFill>
          <a:ln cap="flat" cmpd="sng" w="12700">
            <a:solidFill>
              <a:srgbClr val="D0D8E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7" name="Google Shape;297;p15"/>
          <p:cNvSpPr/>
          <p:nvPr/>
        </p:nvSpPr>
        <p:spPr>
          <a:xfrm>
            <a:off x="274320" y="1042416"/>
            <a:ext cx="146304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2E4B"/>
              </a:buClr>
              <a:buSzPts val="950"/>
              <a:buFont typeface="Calibri"/>
              <a:buNone/>
            </a:pPr>
            <a:r>
              <a:rPr b="1" i="0" lang="en-US" sz="950" u="none" cap="none" strike="noStrike">
                <a:solidFill>
                  <a:srgbClr val="1B2E4B"/>
                </a:solidFill>
                <a:latin typeface="Calibri"/>
                <a:ea typeface="Calibri"/>
                <a:cs typeface="Calibri"/>
                <a:sym typeface="Calibri"/>
              </a:rPr>
              <a:t>TV — Tidal Volume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8" name="Google Shape;298;p15"/>
          <p:cNvSpPr/>
          <p:nvPr/>
        </p:nvSpPr>
        <p:spPr>
          <a:xfrm>
            <a:off x="274320" y="1316736"/>
            <a:ext cx="118872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D7377"/>
              </a:buClr>
              <a:buSzPts val="950"/>
              <a:buFont typeface="Calibri"/>
              <a:buNone/>
            </a:pPr>
            <a:r>
              <a:rPr b="1" i="0" lang="en-US" sz="950" u="none" cap="none" strike="noStrike">
                <a:solidFill>
                  <a:srgbClr val="0D7377"/>
                </a:solidFill>
                <a:latin typeface="Calibri"/>
                <a:ea typeface="Calibri"/>
                <a:cs typeface="Calibri"/>
                <a:sym typeface="Calibri"/>
              </a:rPr>
              <a:t>~500 mL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9" name="Google Shape;299;p15"/>
          <p:cNvSpPr/>
          <p:nvPr/>
        </p:nvSpPr>
        <p:spPr>
          <a:xfrm>
            <a:off x="1536192" y="1060704"/>
            <a:ext cx="2788920" cy="56692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2E4B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1B2E4B"/>
                </a:solidFill>
                <a:latin typeface="Calibri"/>
                <a:ea typeface="Calibri"/>
                <a:cs typeface="Calibri"/>
                <a:sym typeface="Calibri"/>
              </a:rPr>
              <a:t>Air moved per quiet breath; normal resting rhythm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0" name="Google Shape;300;p15"/>
          <p:cNvSpPr/>
          <p:nvPr/>
        </p:nvSpPr>
        <p:spPr>
          <a:xfrm>
            <a:off x="228600" y="1691640"/>
            <a:ext cx="4160520" cy="640080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D0D8E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1" name="Google Shape;301;p15"/>
          <p:cNvSpPr/>
          <p:nvPr/>
        </p:nvSpPr>
        <p:spPr>
          <a:xfrm>
            <a:off x="274320" y="1709928"/>
            <a:ext cx="146304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2E4B"/>
              </a:buClr>
              <a:buSzPts val="950"/>
              <a:buFont typeface="Calibri"/>
              <a:buNone/>
            </a:pPr>
            <a:r>
              <a:rPr b="1" i="0" lang="en-US" sz="950" u="none" cap="none" strike="noStrike">
                <a:solidFill>
                  <a:srgbClr val="1B2E4B"/>
                </a:solidFill>
                <a:latin typeface="Calibri"/>
                <a:ea typeface="Calibri"/>
                <a:cs typeface="Calibri"/>
                <a:sym typeface="Calibri"/>
              </a:rPr>
              <a:t>IRV — Inspiratory Reserve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2" name="Google Shape;302;p15"/>
          <p:cNvSpPr/>
          <p:nvPr/>
        </p:nvSpPr>
        <p:spPr>
          <a:xfrm>
            <a:off x="274320" y="1984248"/>
            <a:ext cx="118872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D7377"/>
              </a:buClr>
              <a:buSzPts val="950"/>
              <a:buFont typeface="Calibri"/>
              <a:buNone/>
            </a:pPr>
            <a:r>
              <a:rPr b="1" i="0" lang="en-US" sz="950" u="none" cap="none" strike="noStrike">
                <a:solidFill>
                  <a:srgbClr val="0D7377"/>
                </a:solidFill>
                <a:latin typeface="Calibri"/>
                <a:ea typeface="Calibri"/>
                <a:cs typeface="Calibri"/>
                <a:sym typeface="Calibri"/>
              </a:rPr>
              <a:t>~3,100 mL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3" name="Google Shape;303;p15"/>
          <p:cNvSpPr/>
          <p:nvPr/>
        </p:nvSpPr>
        <p:spPr>
          <a:xfrm>
            <a:off x="1536192" y="1728216"/>
            <a:ext cx="2788920" cy="56692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2E4B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1B2E4B"/>
                </a:solidFill>
                <a:latin typeface="Calibri"/>
                <a:ea typeface="Calibri"/>
                <a:cs typeface="Calibri"/>
                <a:sym typeface="Calibri"/>
              </a:rPr>
              <a:t>Extra air inhaled BEYOND TV during deep breath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4" name="Google Shape;304;p15"/>
          <p:cNvSpPr/>
          <p:nvPr/>
        </p:nvSpPr>
        <p:spPr>
          <a:xfrm>
            <a:off x="228600" y="2359152"/>
            <a:ext cx="4160520" cy="640080"/>
          </a:xfrm>
          <a:prstGeom prst="rect">
            <a:avLst/>
          </a:prstGeom>
          <a:solidFill>
            <a:srgbClr val="E8EEF4"/>
          </a:solidFill>
          <a:ln cap="flat" cmpd="sng" w="12700">
            <a:solidFill>
              <a:srgbClr val="D0D8E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5" name="Google Shape;305;p15"/>
          <p:cNvSpPr/>
          <p:nvPr/>
        </p:nvSpPr>
        <p:spPr>
          <a:xfrm>
            <a:off x="274320" y="2377440"/>
            <a:ext cx="146304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2E4B"/>
              </a:buClr>
              <a:buSzPts val="950"/>
              <a:buFont typeface="Calibri"/>
              <a:buNone/>
            </a:pPr>
            <a:r>
              <a:rPr b="1" i="0" lang="en-US" sz="950" u="none" cap="none" strike="noStrike">
                <a:solidFill>
                  <a:srgbClr val="1B2E4B"/>
                </a:solidFill>
                <a:latin typeface="Calibri"/>
                <a:ea typeface="Calibri"/>
                <a:cs typeface="Calibri"/>
                <a:sym typeface="Calibri"/>
              </a:rPr>
              <a:t>ERV — Expiratory Reserve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6" name="Google Shape;306;p15"/>
          <p:cNvSpPr/>
          <p:nvPr/>
        </p:nvSpPr>
        <p:spPr>
          <a:xfrm>
            <a:off x="274320" y="2651760"/>
            <a:ext cx="118872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D7377"/>
              </a:buClr>
              <a:buSzPts val="950"/>
              <a:buFont typeface="Calibri"/>
              <a:buNone/>
            </a:pPr>
            <a:r>
              <a:rPr b="1" i="0" lang="en-US" sz="950" u="none" cap="none" strike="noStrike">
                <a:solidFill>
                  <a:srgbClr val="0D7377"/>
                </a:solidFill>
                <a:latin typeface="Calibri"/>
                <a:ea typeface="Calibri"/>
                <a:cs typeface="Calibri"/>
                <a:sym typeface="Calibri"/>
              </a:rPr>
              <a:t>~1,200 mL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7" name="Google Shape;307;p15"/>
          <p:cNvSpPr/>
          <p:nvPr/>
        </p:nvSpPr>
        <p:spPr>
          <a:xfrm>
            <a:off x="1536192" y="2395728"/>
            <a:ext cx="2788920" cy="56692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2E4B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1B2E4B"/>
                </a:solidFill>
                <a:latin typeface="Calibri"/>
                <a:ea typeface="Calibri"/>
                <a:cs typeface="Calibri"/>
                <a:sym typeface="Calibri"/>
              </a:rPr>
              <a:t>Extra air FORCIBLY exhaled after normal exhalation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8" name="Google Shape;308;p15"/>
          <p:cNvSpPr/>
          <p:nvPr/>
        </p:nvSpPr>
        <p:spPr>
          <a:xfrm>
            <a:off x="228600" y="3026664"/>
            <a:ext cx="4160520" cy="640080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D0D8E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9" name="Google Shape;309;p15"/>
          <p:cNvSpPr/>
          <p:nvPr/>
        </p:nvSpPr>
        <p:spPr>
          <a:xfrm>
            <a:off x="274320" y="3044952"/>
            <a:ext cx="146304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2E4B"/>
              </a:buClr>
              <a:buSzPts val="950"/>
              <a:buFont typeface="Calibri"/>
              <a:buNone/>
            </a:pPr>
            <a:r>
              <a:rPr b="1" i="0" lang="en-US" sz="950" u="none" cap="none" strike="noStrike">
                <a:solidFill>
                  <a:srgbClr val="1B2E4B"/>
                </a:solidFill>
                <a:latin typeface="Calibri"/>
                <a:ea typeface="Calibri"/>
                <a:cs typeface="Calibri"/>
                <a:sym typeface="Calibri"/>
              </a:rPr>
              <a:t>RV — Residual Volume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0" name="Google Shape;310;p15"/>
          <p:cNvSpPr/>
          <p:nvPr/>
        </p:nvSpPr>
        <p:spPr>
          <a:xfrm>
            <a:off x="274320" y="3319272"/>
            <a:ext cx="118872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D7377"/>
              </a:buClr>
              <a:buSzPts val="950"/>
              <a:buFont typeface="Calibri"/>
              <a:buNone/>
            </a:pPr>
            <a:r>
              <a:rPr b="1" i="0" lang="en-US" sz="950" u="none" cap="none" strike="noStrike">
                <a:solidFill>
                  <a:srgbClr val="0D7377"/>
                </a:solidFill>
                <a:latin typeface="Calibri"/>
                <a:ea typeface="Calibri"/>
                <a:cs typeface="Calibri"/>
                <a:sym typeface="Calibri"/>
              </a:rPr>
              <a:t>~1,200 mL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1" name="Google Shape;311;p15"/>
          <p:cNvSpPr/>
          <p:nvPr/>
        </p:nvSpPr>
        <p:spPr>
          <a:xfrm>
            <a:off x="1536192" y="3063240"/>
            <a:ext cx="2788920" cy="56692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2E4B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1B2E4B"/>
                </a:solidFill>
                <a:latin typeface="Calibri"/>
                <a:ea typeface="Calibri"/>
                <a:cs typeface="Calibri"/>
                <a:sym typeface="Calibri"/>
              </a:rPr>
              <a:t>Air REMAINING after maximum exhalation; cannot be measured by spirometer alone; keeps alveoli open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2" name="Google Shape;312;p15"/>
          <p:cNvSpPr/>
          <p:nvPr/>
        </p:nvSpPr>
        <p:spPr>
          <a:xfrm>
            <a:off x="4498848" y="658368"/>
            <a:ext cx="4434840" cy="329184"/>
          </a:xfrm>
          <a:prstGeom prst="rect">
            <a:avLst/>
          </a:prstGeom>
          <a:solidFill>
            <a:srgbClr val="1B2E4B"/>
          </a:solidFill>
          <a:ln cap="flat" cmpd="sng" w="12700">
            <a:solidFill>
              <a:srgbClr val="1B2E4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3" name="Google Shape;313;p15"/>
          <p:cNvSpPr/>
          <p:nvPr/>
        </p:nvSpPr>
        <p:spPr>
          <a:xfrm>
            <a:off x="4526280" y="658368"/>
            <a:ext cx="4389120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CAPACITIES (combinations of volumes)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4" name="Google Shape;314;p15"/>
          <p:cNvSpPr/>
          <p:nvPr/>
        </p:nvSpPr>
        <p:spPr>
          <a:xfrm>
            <a:off x="4498848" y="1024128"/>
            <a:ext cx="4434840" cy="640080"/>
          </a:xfrm>
          <a:prstGeom prst="rect">
            <a:avLst/>
          </a:prstGeom>
          <a:solidFill>
            <a:srgbClr val="E8EEF4"/>
          </a:solidFill>
          <a:ln cap="flat" cmpd="sng" w="12700">
            <a:solidFill>
              <a:srgbClr val="D0D8E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5" name="Google Shape;315;p15"/>
          <p:cNvSpPr/>
          <p:nvPr/>
        </p:nvSpPr>
        <p:spPr>
          <a:xfrm>
            <a:off x="4544568" y="1042416"/>
            <a:ext cx="224028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2E4B"/>
              </a:buClr>
              <a:buSzPts val="950"/>
              <a:buFont typeface="Calibri"/>
              <a:buNone/>
            </a:pPr>
            <a:r>
              <a:rPr b="1" i="0" lang="en-US" sz="950" u="none" cap="none" strike="noStrike">
                <a:solidFill>
                  <a:srgbClr val="1B2E4B"/>
                </a:solidFill>
                <a:latin typeface="Calibri"/>
                <a:ea typeface="Calibri"/>
                <a:cs typeface="Calibri"/>
                <a:sym typeface="Calibri"/>
              </a:rPr>
              <a:t>FRC — Functional Residual Capacity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6" name="Google Shape;316;p15"/>
          <p:cNvSpPr/>
          <p:nvPr/>
        </p:nvSpPr>
        <p:spPr>
          <a:xfrm>
            <a:off x="4544568" y="1316736"/>
            <a:ext cx="192024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D7377"/>
              </a:buClr>
              <a:buSzPts val="950"/>
              <a:buFont typeface="Calibri"/>
              <a:buNone/>
            </a:pPr>
            <a:r>
              <a:rPr b="1" i="0" lang="en-US" sz="950" u="none" cap="none" strike="noStrike">
                <a:solidFill>
                  <a:srgbClr val="0D7377"/>
                </a:solidFill>
                <a:latin typeface="Calibri"/>
                <a:ea typeface="Calibri"/>
                <a:cs typeface="Calibri"/>
                <a:sym typeface="Calibri"/>
              </a:rPr>
              <a:t>ERV + RV = ~2,400 mL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7" name="Google Shape;317;p15"/>
          <p:cNvSpPr/>
          <p:nvPr/>
        </p:nvSpPr>
        <p:spPr>
          <a:xfrm>
            <a:off x="6812280" y="1060704"/>
            <a:ext cx="2057400" cy="56692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2E4B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1B2E4B"/>
                </a:solidFill>
                <a:latin typeface="Calibri"/>
                <a:ea typeface="Calibri"/>
                <a:cs typeface="Calibri"/>
                <a:sym typeface="Calibri"/>
              </a:rPr>
              <a:t>Air REMAINING after QUIET (normal) exhalation; maintains gas exchange between breaths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8" name="Google Shape;318;p15"/>
          <p:cNvSpPr/>
          <p:nvPr/>
        </p:nvSpPr>
        <p:spPr>
          <a:xfrm>
            <a:off x="4498848" y="1691640"/>
            <a:ext cx="4434840" cy="640080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D0D8E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9" name="Google Shape;319;p15"/>
          <p:cNvSpPr/>
          <p:nvPr/>
        </p:nvSpPr>
        <p:spPr>
          <a:xfrm>
            <a:off x="4544568" y="1709928"/>
            <a:ext cx="224028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2E4B"/>
              </a:buClr>
              <a:buSzPts val="950"/>
              <a:buFont typeface="Calibri"/>
              <a:buNone/>
            </a:pPr>
            <a:r>
              <a:rPr b="1" i="0" lang="en-US" sz="950" u="none" cap="none" strike="noStrike">
                <a:solidFill>
                  <a:srgbClr val="1B2E4B"/>
                </a:solidFill>
                <a:latin typeface="Calibri"/>
                <a:ea typeface="Calibri"/>
                <a:cs typeface="Calibri"/>
                <a:sym typeface="Calibri"/>
              </a:rPr>
              <a:t>IC — Inspiratory Capacity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0" name="Google Shape;320;p15"/>
          <p:cNvSpPr/>
          <p:nvPr/>
        </p:nvSpPr>
        <p:spPr>
          <a:xfrm>
            <a:off x="4544568" y="1984248"/>
            <a:ext cx="192024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D7377"/>
              </a:buClr>
              <a:buSzPts val="950"/>
              <a:buFont typeface="Calibri"/>
              <a:buNone/>
            </a:pPr>
            <a:r>
              <a:rPr b="1" i="0" lang="en-US" sz="950" u="none" cap="none" strike="noStrike">
                <a:solidFill>
                  <a:srgbClr val="0D7377"/>
                </a:solidFill>
                <a:latin typeface="Calibri"/>
                <a:ea typeface="Calibri"/>
                <a:cs typeface="Calibri"/>
                <a:sym typeface="Calibri"/>
              </a:rPr>
              <a:t>TV + IRV = ~3,600 mL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1" name="Google Shape;321;p15"/>
          <p:cNvSpPr/>
          <p:nvPr/>
        </p:nvSpPr>
        <p:spPr>
          <a:xfrm>
            <a:off x="6812280" y="1728216"/>
            <a:ext cx="2057400" cy="56692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2E4B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1B2E4B"/>
                </a:solidFill>
                <a:latin typeface="Calibri"/>
                <a:ea typeface="Calibri"/>
                <a:cs typeface="Calibri"/>
                <a:sym typeface="Calibri"/>
              </a:rPr>
              <a:t>Max air inhaled from end of quiet exhalation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2" name="Google Shape;322;p15"/>
          <p:cNvSpPr/>
          <p:nvPr/>
        </p:nvSpPr>
        <p:spPr>
          <a:xfrm>
            <a:off x="4498848" y="2359152"/>
            <a:ext cx="4434840" cy="640080"/>
          </a:xfrm>
          <a:prstGeom prst="rect">
            <a:avLst/>
          </a:prstGeom>
          <a:solidFill>
            <a:srgbClr val="E8EEF4"/>
          </a:solidFill>
          <a:ln cap="flat" cmpd="sng" w="12700">
            <a:solidFill>
              <a:srgbClr val="D0D8E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3" name="Google Shape;323;p15"/>
          <p:cNvSpPr/>
          <p:nvPr/>
        </p:nvSpPr>
        <p:spPr>
          <a:xfrm>
            <a:off x="4544568" y="2377440"/>
            <a:ext cx="224028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2E4B"/>
              </a:buClr>
              <a:buSzPts val="950"/>
              <a:buFont typeface="Calibri"/>
              <a:buNone/>
            </a:pPr>
            <a:r>
              <a:rPr b="1" i="0" lang="en-US" sz="950" u="none" cap="none" strike="noStrike">
                <a:solidFill>
                  <a:srgbClr val="1B2E4B"/>
                </a:solidFill>
                <a:latin typeface="Calibri"/>
                <a:ea typeface="Calibri"/>
                <a:cs typeface="Calibri"/>
                <a:sym typeface="Calibri"/>
              </a:rPr>
              <a:t>VC — Vital Capacity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4" name="Google Shape;324;p15"/>
          <p:cNvSpPr/>
          <p:nvPr/>
        </p:nvSpPr>
        <p:spPr>
          <a:xfrm>
            <a:off x="4544568" y="2651760"/>
            <a:ext cx="192024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D7377"/>
              </a:buClr>
              <a:buSzPts val="950"/>
              <a:buFont typeface="Calibri"/>
              <a:buNone/>
            </a:pPr>
            <a:r>
              <a:rPr b="1" i="0" lang="en-US" sz="950" u="none" cap="none" strike="noStrike">
                <a:solidFill>
                  <a:srgbClr val="0D7377"/>
                </a:solidFill>
                <a:latin typeface="Calibri"/>
                <a:ea typeface="Calibri"/>
                <a:cs typeface="Calibri"/>
                <a:sym typeface="Calibri"/>
              </a:rPr>
              <a:t>IRV + TV + ERV = ~4,800 mL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5" name="Google Shape;325;p15"/>
          <p:cNvSpPr/>
          <p:nvPr/>
        </p:nvSpPr>
        <p:spPr>
          <a:xfrm>
            <a:off x="6812280" y="2395728"/>
            <a:ext cx="2057400" cy="56692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2E4B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1B2E4B"/>
                </a:solidFill>
                <a:latin typeface="Calibri"/>
                <a:ea typeface="Calibri"/>
                <a:cs typeface="Calibri"/>
                <a:sym typeface="Calibri"/>
              </a:rPr>
              <a:t>Max air moved in ONE breath; reduced in restrictive disease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6" name="Google Shape;326;p15"/>
          <p:cNvSpPr/>
          <p:nvPr/>
        </p:nvSpPr>
        <p:spPr>
          <a:xfrm>
            <a:off x="4498848" y="3026664"/>
            <a:ext cx="4434840" cy="640080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D0D8E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7" name="Google Shape;327;p15"/>
          <p:cNvSpPr/>
          <p:nvPr/>
        </p:nvSpPr>
        <p:spPr>
          <a:xfrm>
            <a:off x="4544568" y="3044952"/>
            <a:ext cx="224028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2E4B"/>
              </a:buClr>
              <a:buSzPts val="950"/>
              <a:buFont typeface="Calibri"/>
              <a:buNone/>
            </a:pPr>
            <a:r>
              <a:rPr b="1" i="0" lang="en-US" sz="950" u="none" cap="none" strike="noStrike">
                <a:solidFill>
                  <a:srgbClr val="1B2E4B"/>
                </a:solidFill>
                <a:latin typeface="Calibri"/>
                <a:ea typeface="Calibri"/>
                <a:cs typeface="Calibri"/>
                <a:sym typeface="Calibri"/>
              </a:rPr>
              <a:t>TLC — Total Lung Capacity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8" name="Google Shape;328;p15"/>
          <p:cNvSpPr/>
          <p:nvPr/>
        </p:nvSpPr>
        <p:spPr>
          <a:xfrm>
            <a:off x="4544568" y="3319272"/>
            <a:ext cx="192024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D7377"/>
              </a:buClr>
              <a:buSzPts val="950"/>
              <a:buFont typeface="Calibri"/>
              <a:buNone/>
            </a:pPr>
            <a:r>
              <a:rPr b="1" i="0" lang="en-US" sz="950" u="none" cap="none" strike="noStrike">
                <a:solidFill>
                  <a:srgbClr val="0D7377"/>
                </a:solidFill>
                <a:latin typeface="Calibri"/>
                <a:ea typeface="Calibri"/>
                <a:cs typeface="Calibri"/>
                <a:sym typeface="Calibri"/>
              </a:rPr>
              <a:t>All 4 volumes = ~6,000 mL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9" name="Google Shape;329;p15"/>
          <p:cNvSpPr/>
          <p:nvPr/>
        </p:nvSpPr>
        <p:spPr>
          <a:xfrm>
            <a:off x="6812280" y="3063240"/>
            <a:ext cx="2057400" cy="56692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2E4B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1B2E4B"/>
                </a:solidFill>
                <a:latin typeface="Calibri"/>
                <a:ea typeface="Calibri"/>
                <a:cs typeface="Calibri"/>
                <a:sym typeface="Calibri"/>
              </a:rPr>
              <a:t>All air lungs can hold; ↑ in emphysema; ↓ in fibrosis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0" name="Google Shape;330;p15"/>
          <p:cNvSpPr/>
          <p:nvPr/>
        </p:nvSpPr>
        <p:spPr>
          <a:xfrm>
            <a:off x="256032" y="4114800"/>
            <a:ext cx="864108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D7377"/>
              </a:buClr>
              <a:buSzPts val="900"/>
              <a:buFont typeface="Calibri"/>
              <a:buNone/>
            </a:pPr>
            <a:r>
              <a:rPr b="1" i="0" lang="en-US" sz="900" u="none" cap="none" strike="noStrike">
                <a:solidFill>
                  <a:srgbClr val="0D7377"/>
                </a:solidFill>
                <a:latin typeface="Calibri"/>
                <a:ea typeface="Calibri"/>
                <a:cs typeface="Calibri"/>
                <a:sym typeface="Calibri"/>
              </a:rPr>
              <a:t>KNOW THIS: </a:t>
            </a:r>
            <a:r>
              <a:rPr b="0" i="0" lang="en-US" sz="900" u="none" cap="none" strike="noStrike">
                <a:solidFill>
                  <a:srgbClr val="1B2E4B"/>
                </a:solidFill>
                <a:latin typeface="Calibri"/>
                <a:ea typeface="Calibri"/>
                <a:cs typeface="Calibri"/>
                <a:sym typeface="Calibri"/>
              </a:rPr>
              <a:t>Air remaining after normal exhalation? → FRC   </a:t>
            </a:r>
            <a:r>
              <a:rPr b="1" i="0" lang="en-US" sz="900" u="none" cap="none" strike="noStrike">
                <a:solidFill>
                  <a:srgbClr val="0D7377"/>
                </a:solidFill>
                <a:latin typeface="Calibri"/>
                <a:ea typeface="Calibri"/>
                <a:cs typeface="Calibri"/>
                <a:sym typeface="Calibri"/>
              </a:rPr>
              <a:t>KNOW THIS: </a:t>
            </a:r>
            <a:r>
              <a:rPr b="0" i="0" lang="en-US" sz="900" u="none" cap="none" strike="noStrike">
                <a:solidFill>
                  <a:srgbClr val="1B2E4B"/>
                </a:solidFill>
                <a:latin typeface="Calibri"/>
                <a:ea typeface="Calibri"/>
                <a:cs typeface="Calibri"/>
                <a:sym typeface="Calibri"/>
              </a:rPr>
              <a:t>Air forcibly exhaled after normal exhalation? → ERV   </a:t>
            </a:r>
            <a:r>
              <a:rPr b="1" i="0" lang="en-US" sz="900" u="none" cap="none" strike="noStrike">
                <a:solidFill>
                  <a:srgbClr val="0D7377"/>
                </a:solidFill>
                <a:latin typeface="Calibri"/>
                <a:ea typeface="Calibri"/>
                <a:cs typeface="Calibri"/>
                <a:sym typeface="Calibri"/>
              </a:rPr>
              <a:t>KNOW THIS: </a:t>
            </a:r>
            <a:r>
              <a:rPr b="0" i="0" lang="en-US" sz="900" u="none" cap="none" strike="noStrike">
                <a:solidFill>
                  <a:srgbClr val="1B2E4B"/>
                </a:solidFill>
                <a:latin typeface="Calibri"/>
                <a:ea typeface="Calibri"/>
                <a:cs typeface="Calibri"/>
                <a:sym typeface="Calibri"/>
              </a:rPr>
              <a:t>Air inhaled or exhaled during normal breathing? → TV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B2E4B"/>
        </a:solidFill>
      </p:bgPr>
    </p:bg>
    <p:spTree>
      <p:nvGrpSpPr>
        <p:cNvPr id="335" name="Shape 3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6" name="Google Shape;336;p16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D7377"/>
          </a:solidFill>
          <a:ln cap="flat" cmpd="sng" w="12700">
            <a:solidFill>
              <a:srgbClr val="0D737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7" name="Google Shape;337;p16"/>
          <p:cNvSpPr/>
          <p:nvPr/>
        </p:nvSpPr>
        <p:spPr>
          <a:xfrm>
            <a:off x="0" y="4796028"/>
            <a:ext cx="9144000" cy="347472"/>
          </a:xfrm>
          <a:prstGeom prst="rect">
            <a:avLst/>
          </a:prstGeom>
          <a:solidFill>
            <a:srgbClr val="C9A84C"/>
          </a:solidFill>
          <a:ln cap="flat" cmpd="sng" w="12700">
            <a:solidFill>
              <a:srgbClr val="C9A84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8" name="Google Shape;338;p16"/>
          <p:cNvSpPr/>
          <p:nvPr/>
        </p:nvSpPr>
        <p:spPr>
          <a:xfrm>
            <a:off x="457200" y="1463040"/>
            <a:ext cx="8229600" cy="1371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600"/>
              <a:buFont typeface="Calibri"/>
              <a:buNone/>
            </a:pPr>
            <a:r>
              <a:rPr b="1" i="0" lang="en-US" sz="36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Section 7</a:t>
            </a:r>
            <a:endParaRPr b="0" i="0" sz="3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600"/>
              <a:buFont typeface="Calibri"/>
              <a:buNone/>
            </a:pPr>
            <a:r>
              <a:rPr b="1" i="0" lang="en-US" sz="36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High-Yield Quick Reference</a:t>
            </a:r>
            <a:endParaRPr b="0" i="0" sz="3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9" name="Google Shape;339;p16"/>
          <p:cNvSpPr/>
          <p:nvPr/>
        </p:nvSpPr>
        <p:spPr>
          <a:xfrm>
            <a:off x="457200" y="2926080"/>
            <a:ext cx="82296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9A84C"/>
              </a:buClr>
              <a:buSzPts val="1400"/>
              <a:buFont typeface="Calibri"/>
              <a:buNone/>
            </a:pPr>
            <a:r>
              <a:rPr b="0" i="0" lang="en-US" sz="1400" u="none" cap="none" strike="noStrike">
                <a:solidFill>
                  <a:srgbClr val="C9A84C"/>
                </a:solidFill>
                <a:latin typeface="Calibri"/>
                <a:ea typeface="Calibri"/>
                <a:cs typeface="Calibri"/>
                <a:sym typeface="Calibri"/>
              </a:rPr>
              <a:t>Laura Bates, DC  ·  BIOS 255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4F6F8"/>
        </a:solidFill>
      </p:bgPr>
    </p:bg>
    <p:spTree>
      <p:nvGrpSpPr>
        <p:cNvPr id="344" name="Shape 3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5" name="Google Shape;345;p17"/>
          <p:cNvSpPr/>
          <p:nvPr/>
        </p:nvSpPr>
        <p:spPr>
          <a:xfrm>
            <a:off x="0" y="0"/>
            <a:ext cx="164592" cy="4796028"/>
          </a:xfrm>
          <a:prstGeom prst="rect">
            <a:avLst/>
          </a:prstGeom>
          <a:solidFill>
            <a:srgbClr val="0D7377"/>
          </a:solidFill>
          <a:ln cap="flat" cmpd="sng" w="12700">
            <a:solidFill>
              <a:srgbClr val="0D737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6" name="Google Shape;346;p17"/>
          <p:cNvSpPr/>
          <p:nvPr/>
        </p:nvSpPr>
        <p:spPr>
          <a:xfrm>
            <a:off x="0" y="4796028"/>
            <a:ext cx="9144000" cy="347472"/>
          </a:xfrm>
          <a:prstGeom prst="rect">
            <a:avLst/>
          </a:prstGeom>
          <a:solidFill>
            <a:srgbClr val="C9A84C"/>
          </a:solidFill>
          <a:ln cap="flat" cmpd="sng" w="12700">
            <a:solidFill>
              <a:srgbClr val="C9A84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7" name="Google Shape;347;p17"/>
          <p:cNvSpPr/>
          <p:nvPr/>
        </p:nvSpPr>
        <p:spPr>
          <a:xfrm>
            <a:off x="182880" y="4814316"/>
            <a:ext cx="877824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B2E4B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1B2E4B"/>
                </a:solidFill>
                <a:latin typeface="Calibri"/>
                <a:ea typeface="Calibri"/>
                <a:cs typeface="Calibri"/>
                <a:sym typeface="Calibri"/>
              </a:rPr>
              <a:t>BIOS 255  ·  Respiratory Anatomy  ·  Laura Bates, DC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8" name="Google Shape;348;p17"/>
          <p:cNvSpPr/>
          <p:nvPr/>
        </p:nvSpPr>
        <p:spPr>
          <a:xfrm>
            <a:off x="164592" y="0"/>
            <a:ext cx="8979408" cy="594360"/>
          </a:xfrm>
          <a:prstGeom prst="rect">
            <a:avLst/>
          </a:prstGeom>
          <a:solidFill>
            <a:srgbClr val="1B2E4B"/>
          </a:solidFill>
          <a:ln cap="flat" cmpd="sng" w="12700">
            <a:solidFill>
              <a:srgbClr val="1B2E4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9" name="Google Shape;349;p17"/>
          <p:cNvSpPr/>
          <p:nvPr/>
        </p:nvSpPr>
        <p:spPr>
          <a:xfrm>
            <a:off x="320040" y="0"/>
            <a:ext cx="8046720" cy="5943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Calibri"/>
              <a:buNone/>
            </a:pPr>
            <a:r>
              <a:rPr b="1" i="0" lang="en-US" sz="1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Matching — Respiratory Structures to Functions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0" name="Google Shape;350;p17"/>
          <p:cNvSpPr/>
          <p:nvPr/>
        </p:nvSpPr>
        <p:spPr>
          <a:xfrm>
            <a:off x="6949440" y="54864"/>
            <a:ext cx="1965960" cy="475488"/>
          </a:xfrm>
          <a:prstGeom prst="rect">
            <a:avLst/>
          </a:prstGeom>
          <a:solidFill>
            <a:srgbClr val="C9A84C"/>
          </a:solidFill>
          <a:ln cap="flat" cmpd="sng" w="12700">
            <a:solidFill>
              <a:srgbClr val="C9A84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1" name="Google Shape;351;p17"/>
          <p:cNvSpPr/>
          <p:nvPr/>
        </p:nvSpPr>
        <p:spPr>
          <a:xfrm>
            <a:off x="6967728" y="64008"/>
            <a:ext cx="192024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B2E4B"/>
              </a:buClr>
              <a:buSzPts val="900"/>
              <a:buFont typeface="Calibri"/>
              <a:buNone/>
            </a:pPr>
            <a:r>
              <a:rPr b="1" i="0" lang="en-US" sz="900" u="none" cap="none" strike="noStrike">
                <a:solidFill>
                  <a:srgbClr val="1B2E4B"/>
                </a:solidFill>
                <a:latin typeface="Calibri"/>
                <a:ea typeface="Calibri"/>
                <a:cs typeface="Calibri"/>
                <a:sym typeface="Calibri"/>
              </a:rPr>
              <a:t>Various Slides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2" name="Google Shape;352;p17"/>
          <p:cNvSpPr/>
          <p:nvPr/>
        </p:nvSpPr>
        <p:spPr>
          <a:xfrm>
            <a:off x="228600" y="658368"/>
            <a:ext cx="8686800" cy="329184"/>
          </a:xfrm>
          <a:prstGeom prst="rect">
            <a:avLst/>
          </a:prstGeom>
          <a:solidFill>
            <a:srgbClr val="0D7377"/>
          </a:solidFill>
          <a:ln cap="flat" cmpd="sng" w="12700">
            <a:solidFill>
              <a:srgbClr val="0D737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3" name="Google Shape;353;p17"/>
          <p:cNvSpPr/>
          <p:nvPr/>
        </p:nvSpPr>
        <p:spPr>
          <a:xfrm>
            <a:off x="274320" y="658368"/>
            <a:ext cx="3200400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Structure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4" name="Google Shape;354;p17"/>
          <p:cNvSpPr/>
          <p:nvPr/>
        </p:nvSpPr>
        <p:spPr>
          <a:xfrm>
            <a:off x="3520440" y="658368"/>
            <a:ext cx="5303520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Primary Function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5" name="Google Shape;355;p17"/>
          <p:cNvSpPr/>
          <p:nvPr/>
        </p:nvSpPr>
        <p:spPr>
          <a:xfrm>
            <a:off x="228600" y="1024128"/>
            <a:ext cx="8686800" cy="429768"/>
          </a:xfrm>
          <a:prstGeom prst="rect">
            <a:avLst/>
          </a:prstGeom>
          <a:solidFill>
            <a:srgbClr val="E8EEF4"/>
          </a:solidFill>
          <a:ln cap="flat" cmpd="sng" w="12700">
            <a:solidFill>
              <a:srgbClr val="D0D8E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6" name="Google Shape;356;p17"/>
          <p:cNvSpPr/>
          <p:nvPr/>
        </p:nvSpPr>
        <p:spPr>
          <a:xfrm>
            <a:off x="274320" y="1042416"/>
            <a:ext cx="3154680" cy="3931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2E4B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1B2E4B"/>
                </a:solidFill>
                <a:latin typeface="Calibri"/>
                <a:ea typeface="Calibri"/>
                <a:cs typeface="Calibri"/>
                <a:sym typeface="Calibri"/>
              </a:rPr>
              <a:t>Trachea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7" name="Google Shape;357;p17"/>
          <p:cNvSpPr/>
          <p:nvPr/>
        </p:nvSpPr>
        <p:spPr>
          <a:xfrm>
            <a:off x="3520440" y="1042416"/>
            <a:ext cx="5303520" cy="3931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2E4B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1B2E4B"/>
                </a:solidFill>
                <a:latin typeface="Calibri"/>
                <a:ea typeface="Calibri"/>
                <a:cs typeface="Calibri"/>
                <a:sym typeface="Calibri"/>
              </a:rPr>
              <a:t>Conducts air to bronchi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8" name="Google Shape;358;p17"/>
          <p:cNvSpPr/>
          <p:nvPr/>
        </p:nvSpPr>
        <p:spPr>
          <a:xfrm>
            <a:off x="228600" y="1481328"/>
            <a:ext cx="8686800" cy="429768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D0D8E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9" name="Google Shape;359;p17"/>
          <p:cNvSpPr/>
          <p:nvPr/>
        </p:nvSpPr>
        <p:spPr>
          <a:xfrm>
            <a:off x="274320" y="1499616"/>
            <a:ext cx="3154680" cy="3931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2E4B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1B2E4B"/>
                </a:solidFill>
                <a:latin typeface="Calibri"/>
                <a:ea typeface="Calibri"/>
                <a:cs typeface="Calibri"/>
                <a:sym typeface="Calibri"/>
              </a:rPr>
              <a:t>Diaphragm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0" name="Google Shape;360;p17"/>
          <p:cNvSpPr/>
          <p:nvPr/>
        </p:nvSpPr>
        <p:spPr>
          <a:xfrm>
            <a:off x="3520440" y="1499616"/>
            <a:ext cx="5303520" cy="3931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2E4B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1B2E4B"/>
                </a:solidFill>
                <a:latin typeface="Calibri"/>
                <a:ea typeface="Calibri"/>
                <a:cs typeface="Calibri"/>
                <a:sym typeface="Calibri"/>
              </a:rPr>
              <a:t>Contracts to initiate inhalation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1" name="Google Shape;361;p17"/>
          <p:cNvSpPr/>
          <p:nvPr/>
        </p:nvSpPr>
        <p:spPr>
          <a:xfrm>
            <a:off x="228600" y="1938528"/>
            <a:ext cx="8686800" cy="429768"/>
          </a:xfrm>
          <a:prstGeom prst="rect">
            <a:avLst/>
          </a:prstGeom>
          <a:solidFill>
            <a:srgbClr val="E8EEF4"/>
          </a:solidFill>
          <a:ln cap="flat" cmpd="sng" w="12700">
            <a:solidFill>
              <a:srgbClr val="D0D8E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2" name="Google Shape;362;p17"/>
          <p:cNvSpPr/>
          <p:nvPr/>
        </p:nvSpPr>
        <p:spPr>
          <a:xfrm>
            <a:off x="274320" y="1956816"/>
            <a:ext cx="3154680" cy="3931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2E4B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1B2E4B"/>
                </a:solidFill>
                <a:latin typeface="Calibri"/>
                <a:ea typeface="Calibri"/>
                <a:cs typeface="Calibri"/>
                <a:sym typeface="Calibri"/>
              </a:rPr>
              <a:t>Alveoli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3" name="Google Shape;363;p17"/>
          <p:cNvSpPr/>
          <p:nvPr/>
        </p:nvSpPr>
        <p:spPr>
          <a:xfrm>
            <a:off x="3520440" y="1956816"/>
            <a:ext cx="5303520" cy="3931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2E4B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1B2E4B"/>
                </a:solidFill>
                <a:latin typeface="Calibri"/>
                <a:ea typeface="Calibri"/>
                <a:cs typeface="Calibri"/>
                <a:sym typeface="Calibri"/>
              </a:rPr>
              <a:t>Site of gas exchange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4" name="Google Shape;364;p17"/>
          <p:cNvSpPr/>
          <p:nvPr/>
        </p:nvSpPr>
        <p:spPr>
          <a:xfrm>
            <a:off x="228600" y="2395728"/>
            <a:ext cx="8686800" cy="429768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D0D8E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5" name="Google Shape;365;p17"/>
          <p:cNvSpPr/>
          <p:nvPr/>
        </p:nvSpPr>
        <p:spPr>
          <a:xfrm>
            <a:off x="274320" y="2414016"/>
            <a:ext cx="3154680" cy="3931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2E4B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1B2E4B"/>
                </a:solidFill>
                <a:latin typeface="Calibri"/>
                <a:ea typeface="Calibri"/>
                <a:cs typeface="Calibri"/>
                <a:sym typeface="Calibri"/>
              </a:rPr>
              <a:t>Larynx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6" name="Google Shape;366;p17"/>
          <p:cNvSpPr/>
          <p:nvPr/>
        </p:nvSpPr>
        <p:spPr>
          <a:xfrm>
            <a:off x="3520440" y="2414016"/>
            <a:ext cx="5303520" cy="3931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2E4B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1B2E4B"/>
                </a:solidFill>
                <a:latin typeface="Calibri"/>
                <a:ea typeface="Calibri"/>
                <a:cs typeface="Calibri"/>
                <a:sym typeface="Calibri"/>
              </a:rPr>
              <a:t>Produces sound (phonation)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7" name="Google Shape;367;p17"/>
          <p:cNvSpPr/>
          <p:nvPr/>
        </p:nvSpPr>
        <p:spPr>
          <a:xfrm>
            <a:off x="228600" y="2852928"/>
            <a:ext cx="8686800" cy="429768"/>
          </a:xfrm>
          <a:prstGeom prst="rect">
            <a:avLst/>
          </a:prstGeom>
          <a:solidFill>
            <a:srgbClr val="E8EEF4"/>
          </a:solidFill>
          <a:ln cap="flat" cmpd="sng" w="12700">
            <a:solidFill>
              <a:srgbClr val="D0D8E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8" name="Google Shape;368;p17"/>
          <p:cNvSpPr/>
          <p:nvPr/>
        </p:nvSpPr>
        <p:spPr>
          <a:xfrm>
            <a:off x="274320" y="2871216"/>
            <a:ext cx="3154680" cy="3931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2E4B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1B2E4B"/>
                </a:solidFill>
                <a:latin typeface="Calibri"/>
                <a:ea typeface="Calibri"/>
                <a:cs typeface="Calibri"/>
                <a:sym typeface="Calibri"/>
              </a:rPr>
              <a:t>Nasal Cavity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9" name="Google Shape;369;p17"/>
          <p:cNvSpPr/>
          <p:nvPr/>
        </p:nvSpPr>
        <p:spPr>
          <a:xfrm>
            <a:off x="3520440" y="2871216"/>
            <a:ext cx="5303520" cy="3931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2E4B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1B2E4B"/>
                </a:solidFill>
                <a:latin typeface="Calibri"/>
                <a:ea typeface="Calibri"/>
                <a:cs typeface="Calibri"/>
                <a:sym typeface="Calibri"/>
              </a:rPr>
              <a:t>Warms, moistens, and filters incoming air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0" name="Google Shape;370;p17"/>
          <p:cNvSpPr/>
          <p:nvPr/>
        </p:nvSpPr>
        <p:spPr>
          <a:xfrm>
            <a:off x="228600" y="3364992"/>
            <a:ext cx="8686800" cy="301752"/>
          </a:xfrm>
          <a:prstGeom prst="rect">
            <a:avLst/>
          </a:prstGeom>
          <a:solidFill>
            <a:srgbClr val="1B2E4B"/>
          </a:solidFill>
          <a:ln cap="flat" cmpd="sng" w="12700">
            <a:solidFill>
              <a:srgbClr val="1B2E4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1" name="Google Shape;371;p17"/>
          <p:cNvSpPr/>
          <p:nvPr/>
        </p:nvSpPr>
        <p:spPr>
          <a:xfrm>
            <a:off x="274320" y="3364992"/>
            <a:ext cx="8595360" cy="30175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Functions of the Respiratory System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2" name="Google Shape;372;p17"/>
          <p:cNvSpPr/>
          <p:nvPr/>
        </p:nvSpPr>
        <p:spPr>
          <a:xfrm>
            <a:off x="274320" y="3694176"/>
            <a:ext cx="8595360" cy="5486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2E4B"/>
              </a:buClr>
              <a:buSzPts val="1000"/>
              <a:buFont typeface="Calibri"/>
              <a:buNone/>
            </a:pPr>
            <a:r>
              <a:rPr b="1" i="0" lang="en-US" sz="1000" u="none" cap="none" strike="noStrike">
                <a:solidFill>
                  <a:srgbClr val="1B2E4B"/>
                </a:solidFill>
                <a:latin typeface="Calibri"/>
                <a:ea typeface="Calibri"/>
                <a:cs typeface="Calibri"/>
                <a:sym typeface="Calibri"/>
              </a:rPr>
              <a:t>✓ Gas exchange  ✓ Communication/Phonation  ✓ Olfaction  ✓ Acid-base balance  ✓ Blood pressure regulation (ACE)  ✓ Venous/lymph flow pump  ✓ Platelet production  ✓ Blood filtration (small emboli)  ✓ Valsalva/expulsion  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4F6F8"/>
        </a:solidFill>
      </p:bgPr>
    </p:bg>
    <p:spTree>
      <p:nvGrpSpPr>
        <p:cNvPr id="377" name="Shape 3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" name="Google Shape;378;p18"/>
          <p:cNvSpPr/>
          <p:nvPr/>
        </p:nvSpPr>
        <p:spPr>
          <a:xfrm>
            <a:off x="0" y="0"/>
            <a:ext cx="164592" cy="4796028"/>
          </a:xfrm>
          <a:prstGeom prst="rect">
            <a:avLst/>
          </a:prstGeom>
          <a:solidFill>
            <a:srgbClr val="0D7377"/>
          </a:solidFill>
          <a:ln cap="flat" cmpd="sng" w="12700">
            <a:solidFill>
              <a:srgbClr val="0D737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9" name="Google Shape;379;p18"/>
          <p:cNvSpPr/>
          <p:nvPr/>
        </p:nvSpPr>
        <p:spPr>
          <a:xfrm>
            <a:off x="0" y="4796028"/>
            <a:ext cx="9144000" cy="347472"/>
          </a:xfrm>
          <a:prstGeom prst="rect">
            <a:avLst/>
          </a:prstGeom>
          <a:solidFill>
            <a:srgbClr val="C9A84C"/>
          </a:solidFill>
          <a:ln cap="flat" cmpd="sng" w="12700">
            <a:solidFill>
              <a:srgbClr val="C9A84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0" name="Google Shape;380;p18"/>
          <p:cNvSpPr/>
          <p:nvPr/>
        </p:nvSpPr>
        <p:spPr>
          <a:xfrm>
            <a:off x="182880" y="4814316"/>
            <a:ext cx="877824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B2E4B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1B2E4B"/>
                </a:solidFill>
                <a:latin typeface="Calibri"/>
                <a:ea typeface="Calibri"/>
                <a:cs typeface="Calibri"/>
                <a:sym typeface="Calibri"/>
              </a:rPr>
              <a:t>BIOS 255  ·  Respiratory Anatomy  ·  Laura Bates, DC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1" name="Google Shape;381;p18"/>
          <p:cNvSpPr/>
          <p:nvPr/>
        </p:nvSpPr>
        <p:spPr>
          <a:xfrm>
            <a:off x="164592" y="0"/>
            <a:ext cx="8979408" cy="594360"/>
          </a:xfrm>
          <a:prstGeom prst="rect">
            <a:avLst/>
          </a:prstGeom>
          <a:solidFill>
            <a:srgbClr val="1B2E4B"/>
          </a:solidFill>
          <a:ln cap="flat" cmpd="sng" w="12700">
            <a:solidFill>
              <a:srgbClr val="1B2E4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2" name="Google Shape;382;p18"/>
          <p:cNvSpPr/>
          <p:nvPr/>
        </p:nvSpPr>
        <p:spPr>
          <a:xfrm>
            <a:off x="320040" y="0"/>
            <a:ext cx="8046720" cy="5943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Calibri"/>
              <a:buNone/>
            </a:pPr>
            <a:r>
              <a:rPr b="1" i="0" lang="en-US" sz="1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High-Yield Quick Reference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3" name="Google Shape;383;p18"/>
          <p:cNvSpPr/>
          <p:nvPr/>
        </p:nvSpPr>
        <p:spPr>
          <a:xfrm>
            <a:off x="228600" y="658368"/>
            <a:ext cx="4160520" cy="274320"/>
          </a:xfrm>
          <a:prstGeom prst="rect">
            <a:avLst/>
          </a:prstGeom>
          <a:solidFill>
            <a:srgbClr val="0D7377"/>
          </a:solidFill>
          <a:ln cap="flat" cmpd="sng" w="12700">
            <a:solidFill>
              <a:srgbClr val="0D737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4" name="Google Shape;384;p18"/>
          <p:cNvSpPr/>
          <p:nvPr/>
        </p:nvSpPr>
        <p:spPr>
          <a:xfrm>
            <a:off x="256032" y="658368"/>
            <a:ext cx="41148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Calibri"/>
              <a:buNone/>
            </a:pPr>
            <a:r>
              <a:rPr b="1" i="0" lang="en-US" sz="9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Concept  |  Answer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5" name="Google Shape;385;p18"/>
          <p:cNvSpPr/>
          <p:nvPr/>
        </p:nvSpPr>
        <p:spPr>
          <a:xfrm>
            <a:off x="4498848" y="658368"/>
            <a:ext cx="4434840" cy="274320"/>
          </a:xfrm>
          <a:prstGeom prst="rect">
            <a:avLst/>
          </a:prstGeom>
          <a:solidFill>
            <a:srgbClr val="0D7377"/>
          </a:solidFill>
          <a:ln cap="flat" cmpd="sng" w="12700">
            <a:solidFill>
              <a:srgbClr val="0D737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6" name="Google Shape;386;p18"/>
          <p:cNvSpPr/>
          <p:nvPr/>
        </p:nvSpPr>
        <p:spPr>
          <a:xfrm>
            <a:off x="4526280" y="658368"/>
            <a:ext cx="438912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Calibri"/>
              <a:buNone/>
            </a:pPr>
            <a:r>
              <a:rPr b="1" i="0" lang="en-US" sz="9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Concept  |  Answer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7" name="Google Shape;387;p18"/>
          <p:cNvSpPr/>
          <p:nvPr/>
        </p:nvSpPr>
        <p:spPr>
          <a:xfrm>
            <a:off x="228600" y="685800"/>
            <a:ext cx="4160520" cy="310896"/>
          </a:xfrm>
          <a:prstGeom prst="rect">
            <a:avLst/>
          </a:prstGeom>
          <a:solidFill>
            <a:srgbClr val="E8EEF4"/>
          </a:solidFill>
          <a:ln cap="flat" cmpd="sng" w="12700">
            <a:solidFill>
              <a:srgbClr val="D0D8E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8" name="Google Shape;388;p18"/>
          <p:cNvSpPr/>
          <p:nvPr/>
        </p:nvSpPr>
        <p:spPr>
          <a:xfrm>
            <a:off x="274320" y="704088"/>
            <a:ext cx="211775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2E4B"/>
              </a:buClr>
              <a:buSzPts val="850"/>
              <a:buFont typeface="Calibri"/>
              <a:buNone/>
            </a:pPr>
            <a:r>
              <a:rPr b="0" i="0" lang="en-US" sz="850" u="none" cap="none" strike="noStrike">
                <a:solidFill>
                  <a:srgbClr val="1B2E4B"/>
                </a:solidFill>
                <a:latin typeface="Calibri"/>
                <a:ea typeface="Calibri"/>
                <a:cs typeface="Calibri"/>
                <a:sym typeface="Calibri"/>
              </a:rPr>
              <a:t>Connects larynx to bronchi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9" name="Google Shape;389;p18"/>
          <p:cNvSpPr/>
          <p:nvPr/>
        </p:nvSpPr>
        <p:spPr>
          <a:xfrm>
            <a:off x="2392070" y="704088"/>
            <a:ext cx="1580998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2E4B"/>
              </a:buClr>
              <a:buSzPts val="850"/>
              <a:buFont typeface="Calibri"/>
              <a:buNone/>
            </a:pPr>
            <a:r>
              <a:rPr b="1" i="0" lang="en-US" sz="850" u="none" cap="none" strike="noStrike">
                <a:solidFill>
                  <a:srgbClr val="1B2E4B"/>
                </a:solidFill>
                <a:latin typeface="Calibri"/>
                <a:ea typeface="Calibri"/>
                <a:cs typeface="Calibri"/>
                <a:sym typeface="Calibri"/>
              </a:rPr>
              <a:t>Trachea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0" name="Google Shape;390;p18"/>
          <p:cNvSpPr/>
          <p:nvPr/>
        </p:nvSpPr>
        <p:spPr>
          <a:xfrm>
            <a:off x="3973068" y="704088"/>
            <a:ext cx="416052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0D7377"/>
              </a:buClr>
              <a:buSzPts val="750"/>
              <a:buFont typeface="Calibri"/>
              <a:buNone/>
            </a:pPr>
            <a:r>
              <a:t/>
            </a:r>
            <a:endParaRPr b="0" i="0" sz="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1" name="Google Shape;391;p18"/>
          <p:cNvSpPr/>
          <p:nvPr/>
        </p:nvSpPr>
        <p:spPr>
          <a:xfrm>
            <a:off x="228600" y="1024128"/>
            <a:ext cx="4160520" cy="310896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D0D8E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2" name="Google Shape;392;p18"/>
          <p:cNvSpPr/>
          <p:nvPr/>
        </p:nvSpPr>
        <p:spPr>
          <a:xfrm>
            <a:off x="274320" y="1042416"/>
            <a:ext cx="211775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2E4B"/>
              </a:buClr>
              <a:buSzPts val="850"/>
              <a:buFont typeface="Calibri"/>
              <a:buNone/>
            </a:pPr>
            <a:r>
              <a:rPr b="0" i="0" lang="en-US" sz="850" u="none" cap="none" strike="noStrike">
                <a:solidFill>
                  <a:srgbClr val="1B2E4B"/>
                </a:solidFill>
                <a:latin typeface="Calibri"/>
                <a:ea typeface="Calibri"/>
                <a:cs typeface="Calibri"/>
                <a:sym typeface="Calibri"/>
              </a:rPr>
              <a:t>Primary site of gas exchange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3" name="Google Shape;393;p18"/>
          <p:cNvSpPr/>
          <p:nvPr/>
        </p:nvSpPr>
        <p:spPr>
          <a:xfrm>
            <a:off x="2392070" y="1042416"/>
            <a:ext cx="1580998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2E4B"/>
              </a:buClr>
              <a:buSzPts val="850"/>
              <a:buFont typeface="Calibri"/>
              <a:buNone/>
            </a:pPr>
            <a:r>
              <a:rPr b="1" i="0" lang="en-US" sz="850" u="none" cap="none" strike="noStrike">
                <a:solidFill>
                  <a:srgbClr val="1B2E4B"/>
                </a:solidFill>
                <a:latin typeface="Calibri"/>
                <a:ea typeface="Calibri"/>
                <a:cs typeface="Calibri"/>
                <a:sym typeface="Calibri"/>
              </a:rPr>
              <a:t>Alveoli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4" name="Google Shape;394;p18"/>
          <p:cNvSpPr/>
          <p:nvPr/>
        </p:nvSpPr>
        <p:spPr>
          <a:xfrm>
            <a:off x="3973068" y="1042416"/>
            <a:ext cx="416052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0D7377"/>
              </a:buClr>
              <a:buSzPts val="750"/>
              <a:buFont typeface="Calibri"/>
              <a:buNone/>
            </a:pPr>
            <a:r>
              <a:t/>
            </a:r>
            <a:endParaRPr b="0" i="0" sz="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5" name="Google Shape;395;p18"/>
          <p:cNvSpPr/>
          <p:nvPr/>
        </p:nvSpPr>
        <p:spPr>
          <a:xfrm>
            <a:off x="228600" y="1362456"/>
            <a:ext cx="4160520" cy="310896"/>
          </a:xfrm>
          <a:prstGeom prst="rect">
            <a:avLst/>
          </a:prstGeom>
          <a:solidFill>
            <a:srgbClr val="E8EEF4"/>
          </a:solidFill>
          <a:ln cap="flat" cmpd="sng" w="12700">
            <a:solidFill>
              <a:srgbClr val="D0D8E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6" name="Google Shape;396;p18"/>
          <p:cNvSpPr/>
          <p:nvPr/>
        </p:nvSpPr>
        <p:spPr>
          <a:xfrm>
            <a:off x="274320" y="1380744"/>
            <a:ext cx="211775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2E4B"/>
              </a:buClr>
              <a:buSzPts val="850"/>
              <a:buFont typeface="Calibri"/>
              <a:buNone/>
            </a:pPr>
            <a:r>
              <a:rPr b="0" i="0" lang="en-US" sz="850" u="none" cap="none" strike="noStrike">
                <a:solidFill>
                  <a:srgbClr val="1B2E4B"/>
                </a:solidFill>
                <a:latin typeface="Calibri"/>
                <a:ea typeface="Calibri"/>
                <a:cs typeface="Calibri"/>
                <a:sym typeface="Calibri"/>
              </a:rPr>
              <a:t>Alveolar cell responsible for gas exchange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7" name="Google Shape;397;p18"/>
          <p:cNvSpPr/>
          <p:nvPr/>
        </p:nvSpPr>
        <p:spPr>
          <a:xfrm>
            <a:off x="2392070" y="1380744"/>
            <a:ext cx="1580998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2E4B"/>
              </a:buClr>
              <a:buSzPts val="850"/>
              <a:buFont typeface="Calibri"/>
              <a:buNone/>
            </a:pPr>
            <a:r>
              <a:rPr b="1" i="0" lang="en-US" sz="850" u="none" cap="none" strike="noStrike">
                <a:solidFill>
                  <a:srgbClr val="1B2E4B"/>
                </a:solidFill>
                <a:latin typeface="Calibri"/>
                <a:ea typeface="Calibri"/>
                <a:cs typeface="Calibri"/>
                <a:sym typeface="Calibri"/>
              </a:rPr>
              <a:t>Type I alveolar cells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8" name="Google Shape;398;p18"/>
          <p:cNvSpPr/>
          <p:nvPr/>
        </p:nvSpPr>
        <p:spPr>
          <a:xfrm>
            <a:off x="3973068" y="1380744"/>
            <a:ext cx="416052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0D7377"/>
              </a:buClr>
              <a:buSzPts val="750"/>
              <a:buFont typeface="Calibri"/>
              <a:buNone/>
            </a:pPr>
            <a:r>
              <a:t/>
            </a:r>
            <a:endParaRPr b="0" i="0" sz="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9" name="Google Shape;399;p18"/>
          <p:cNvSpPr/>
          <p:nvPr/>
        </p:nvSpPr>
        <p:spPr>
          <a:xfrm>
            <a:off x="228600" y="1700784"/>
            <a:ext cx="4160520" cy="310896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D0D8E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0" name="Google Shape;400;p18"/>
          <p:cNvSpPr/>
          <p:nvPr/>
        </p:nvSpPr>
        <p:spPr>
          <a:xfrm>
            <a:off x="274320" y="1719072"/>
            <a:ext cx="211775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2E4B"/>
              </a:buClr>
              <a:buSzPts val="850"/>
              <a:buFont typeface="Calibri"/>
              <a:buNone/>
            </a:pPr>
            <a:r>
              <a:rPr b="0" i="0" lang="en-US" sz="850" u="none" cap="none" strike="noStrike">
                <a:solidFill>
                  <a:srgbClr val="1B2E4B"/>
                </a:solidFill>
                <a:latin typeface="Calibri"/>
                <a:ea typeface="Calibri"/>
                <a:cs typeface="Calibri"/>
                <a:sym typeface="Calibri"/>
              </a:rPr>
              <a:t>Alveolar cell that secretes surfactant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1" name="Google Shape;401;p18"/>
          <p:cNvSpPr/>
          <p:nvPr/>
        </p:nvSpPr>
        <p:spPr>
          <a:xfrm>
            <a:off x="2392070" y="1719072"/>
            <a:ext cx="1580998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2E4B"/>
              </a:buClr>
              <a:buSzPts val="850"/>
              <a:buFont typeface="Calibri"/>
              <a:buNone/>
            </a:pPr>
            <a:r>
              <a:rPr b="1" i="0" lang="en-US" sz="850" u="none" cap="none" strike="noStrike">
                <a:solidFill>
                  <a:srgbClr val="1B2E4B"/>
                </a:solidFill>
                <a:latin typeface="Calibri"/>
                <a:ea typeface="Calibri"/>
                <a:cs typeface="Calibri"/>
                <a:sym typeface="Calibri"/>
              </a:rPr>
              <a:t>Type II alveolar cells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2" name="Google Shape;402;p18"/>
          <p:cNvSpPr/>
          <p:nvPr/>
        </p:nvSpPr>
        <p:spPr>
          <a:xfrm>
            <a:off x="3973068" y="1719072"/>
            <a:ext cx="416052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0D7377"/>
              </a:buClr>
              <a:buSzPts val="750"/>
              <a:buFont typeface="Calibri"/>
              <a:buNone/>
            </a:pPr>
            <a:r>
              <a:t/>
            </a:r>
            <a:endParaRPr b="0" i="0" sz="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3" name="Google Shape;403;p18"/>
          <p:cNvSpPr/>
          <p:nvPr/>
        </p:nvSpPr>
        <p:spPr>
          <a:xfrm>
            <a:off x="228600" y="2039112"/>
            <a:ext cx="4160520" cy="310896"/>
          </a:xfrm>
          <a:prstGeom prst="rect">
            <a:avLst/>
          </a:prstGeom>
          <a:solidFill>
            <a:srgbClr val="E8EEF4"/>
          </a:solidFill>
          <a:ln cap="flat" cmpd="sng" w="12700">
            <a:solidFill>
              <a:srgbClr val="D0D8E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4" name="Google Shape;404;p18"/>
          <p:cNvSpPr/>
          <p:nvPr/>
        </p:nvSpPr>
        <p:spPr>
          <a:xfrm>
            <a:off x="274320" y="2057400"/>
            <a:ext cx="211775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2E4B"/>
              </a:buClr>
              <a:buSzPts val="850"/>
              <a:buFont typeface="Calibri"/>
              <a:buNone/>
            </a:pPr>
            <a:r>
              <a:rPr b="0" i="0" lang="en-US" sz="850" u="none" cap="none" strike="noStrike">
                <a:solidFill>
                  <a:srgbClr val="1B2E4B"/>
                </a:solidFill>
                <a:latin typeface="Calibri"/>
                <a:ea typeface="Calibri"/>
                <a:cs typeface="Calibri"/>
                <a:sym typeface="Calibri"/>
              </a:rPr>
              <a:t>Most numerous lung cell / dust cells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5" name="Google Shape;405;p18"/>
          <p:cNvSpPr/>
          <p:nvPr/>
        </p:nvSpPr>
        <p:spPr>
          <a:xfrm>
            <a:off x="2392070" y="2057400"/>
            <a:ext cx="1580998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2E4B"/>
              </a:buClr>
              <a:buSzPts val="850"/>
              <a:buFont typeface="Calibri"/>
              <a:buNone/>
            </a:pPr>
            <a:r>
              <a:rPr b="1" i="0" lang="en-US" sz="850" u="none" cap="none" strike="noStrike">
                <a:solidFill>
                  <a:srgbClr val="1B2E4B"/>
                </a:solidFill>
                <a:latin typeface="Calibri"/>
                <a:ea typeface="Calibri"/>
                <a:cs typeface="Calibri"/>
                <a:sym typeface="Calibri"/>
              </a:rPr>
              <a:t>Alveolar macrophages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6" name="Google Shape;406;p18"/>
          <p:cNvSpPr/>
          <p:nvPr/>
        </p:nvSpPr>
        <p:spPr>
          <a:xfrm>
            <a:off x="3973068" y="2057400"/>
            <a:ext cx="416052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0D7377"/>
              </a:buClr>
              <a:buSzPts val="750"/>
              <a:buFont typeface="Calibri"/>
              <a:buNone/>
            </a:pPr>
            <a:r>
              <a:t/>
            </a:r>
            <a:endParaRPr b="0" i="0" sz="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7" name="Google Shape;407;p18"/>
          <p:cNvSpPr/>
          <p:nvPr/>
        </p:nvSpPr>
        <p:spPr>
          <a:xfrm>
            <a:off x="228600" y="2377440"/>
            <a:ext cx="4160520" cy="310896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D0D8E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8" name="Google Shape;408;p18"/>
          <p:cNvSpPr/>
          <p:nvPr/>
        </p:nvSpPr>
        <p:spPr>
          <a:xfrm>
            <a:off x="274320" y="2395728"/>
            <a:ext cx="211775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2E4B"/>
              </a:buClr>
              <a:buSzPts val="850"/>
              <a:buFont typeface="Calibri"/>
              <a:buNone/>
            </a:pPr>
            <a:r>
              <a:rPr b="0" i="0" lang="en-US" sz="850" u="none" cap="none" strike="noStrike">
                <a:solidFill>
                  <a:srgbClr val="1B2E4B"/>
                </a:solidFill>
                <a:latin typeface="Calibri"/>
                <a:ea typeface="Calibri"/>
                <a:cs typeface="Calibri"/>
                <a:sym typeface="Calibri"/>
              </a:rPr>
              <a:t>Muscles of quiet inspiration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9" name="Google Shape;409;p18"/>
          <p:cNvSpPr/>
          <p:nvPr/>
        </p:nvSpPr>
        <p:spPr>
          <a:xfrm>
            <a:off x="2392070" y="2395728"/>
            <a:ext cx="1580998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2E4B"/>
              </a:buClr>
              <a:buSzPts val="850"/>
              <a:buFont typeface="Calibri"/>
              <a:buNone/>
            </a:pPr>
            <a:r>
              <a:rPr b="1" i="0" lang="en-US" sz="850" u="none" cap="none" strike="noStrike">
                <a:solidFill>
                  <a:srgbClr val="1B2E4B"/>
                </a:solidFill>
                <a:latin typeface="Calibri"/>
                <a:ea typeface="Calibri"/>
                <a:cs typeface="Calibri"/>
                <a:sym typeface="Calibri"/>
              </a:rPr>
              <a:t>Diaphragm + external intercostals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0" name="Google Shape;410;p18"/>
          <p:cNvSpPr/>
          <p:nvPr/>
        </p:nvSpPr>
        <p:spPr>
          <a:xfrm>
            <a:off x="3973068" y="2395728"/>
            <a:ext cx="416052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0D7377"/>
              </a:buClr>
              <a:buSzPts val="750"/>
              <a:buFont typeface="Calibri"/>
              <a:buNone/>
            </a:pPr>
            <a:r>
              <a:t/>
            </a:r>
            <a:endParaRPr b="0" i="0" sz="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1" name="Google Shape;411;p18"/>
          <p:cNvSpPr/>
          <p:nvPr/>
        </p:nvSpPr>
        <p:spPr>
          <a:xfrm>
            <a:off x="228600" y="2715768"/>
            <a:ext cx="4160520" cy="310896"/>
          </a:xfrm>
          <a:prstGeom prst="rect">
            <a:avLst/>
          </a:prstGeom>
          <a:solidFill>
            <a:srgbClr val="E8EEF4"/>
          </a:solidFill>
          <a:ln cap="flat" cmpd="sng" w="12700">
            <a:solidFill>
              <a:srgbClr val="D0D8E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2" name="Google Shape;412;p18"/>
          <p:cNvSpPr/>
          <p:nvPr/>
        </p:nvSpPr>
        <p:spPr>
          <a:xfrm>
            <a:off x="274320" y="2734056"/>
            <a:ext cx="211775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2E4B"/>
              </a:buClr>
              <a:buSzPts val="850"/>
              <a:buFont typeface="Calibri"/>
              <a:buNone/>
            </a:pPr>
            <a:r>
              <a:rPr b="0" i="0" lang="en-US" sz="850" u="none" cap="none" strike="noStrike">
                <a:solidFill>
                  <a:srgbClr val="1B2E4B"/>
                </a:solidFill>
                <a:latin typeface="Calibri"/>
                <a:ea typeface="Calibri"/>
                <a:cs typeface="Calibri"/>
                <a:sym typeface="Calibri"/>
              </a:rPr>
              <a:t>Muscles of forced (active) expiration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3" name="Google Shape;413;p18"/>
          <p:cNvSpPr/>
          <p:nvPr/>
        </p:nvSpPr>
        <p:spPr>
          <a:xfrm>
            <a:off x="2392070" y="2734056"/>
            <a:ext cx="1580998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2E4B"/>
              </a:buClr>
              <a:buSzPts val="850"/>
              <a:buFont typeface="Calibri"/>
              <a:buNone/>
            </a:pPr>
            <a:r>
              <a:rPr b="1" i="0" lang="en-US" sz="850" u="none" cap="none" strike="noStrike">
                <a:solidFill>
                  <a:srgbClr val="1B2E4B"/>
                </a:solidFill>
                <a:latin typeface="Calibri"/>
                <a:ea typeface="Calibri"/>
                <a:cs typeface="Calibri"/>
                <a:sym typeface="Calibri"/>
              </a:rPr>
              <a:t>Internal intercostals + abdominals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4" name="Google Shape;414;p18"/>
          <p:cNvSpPr/>
          <p:nvPr/>
        </p:nvSpPr>
        <p:spPr>
          <a:xfrm>
            <a:off x="3973068" y="2734056"/>
            <a:ext cx="416052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0D7377"/>
              </a:buClr>
              <a:buSzPts val="750"/>
              <a:buFont typeface="Calibri"/>
              <a:buNone/>
            </a:pPr>
            <a:r>
              <a:t/>
            </a:r>
            <a:endParaRPr b="0" i="0" sz="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5" name="Google Shape;415;p18"/>
          <p:cNvSpPr/>
          <p:nvPr/>
        </p:nvSpPr>
        <p:spPr>
          <a:xfrm>
            <a:off x="228600" y="3054096"/>
            <a:ext cx="4160520" cy="310896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D0D8E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6" name="Google Shape;416;p18"/>
          <p:cNvSpPr/>
          <p:nvPr/>
        </p:nvSpPr>
        <p:spPr>
          <a:xfrm>
            <a:off x="274320" y="3072384"/>
            <a:ext cx="211775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2E4B"/>
              </a:buClr>
              <a:buSzPts val="850"/>
              <a:buFont typeface="Calibri"/>
              <a:buNone/>
            </a:pPr>
            <a:r>
              <a:rPr b="0" i="0" lang="en-US" sz="850" u="none" cap="none" strike="noStrike">
                <a:solidFill>
                  <a:srgbClr val="1B2E4B"/>
                </a:solidFill>
                <a:latin typeface="Calibri"/>
                <a:ea typeface="Calibri"/>
                <a:cs typeface="Calibri"/>
                <a:sym typeface="Calibri"/>
              </a:rPr>
              <a:t>Diaphragm action during expiration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7" name="Google Shape;417;p18"/>
          <p:cNvSpPr/>
          <p:nvPr/>
        </p:nvSpPr>
        <p:spPr>
          <a:xfrm>
            <a:off x="2392070" y="3072384"/>
            <a:ext cx="1580998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2E4B"/>
              </a:buClr>
              <a:buSzPts val="850"/>
              <a:buFont typeface="Calibri"/>
              <a:buNone/>
            </a:pPr>
            <a:r>
              <a:rPr b="1" i="0" lang="en-US" sz="850" u="none" cap="none" strike="noStrike">
                <a:solidFill>
                  <a:srgbClr val="1B2E4B"/>
                </a:solidFill>
                <a:latin typeface="Calibri"/>
                <a:ea typeface="Calibri"/>
                <a:cs typeface="Calibri"/>
                <a:sym typeface="Calibri"/>
              </a:rPr>
              <a:t>Relaxes (rises back to dome shape)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8" name="Google Shape;418;p18"/>
          <p:cNvSpPr/>
          <p:nvPr/>
        </p:nvSpPr>
        <p:spPr>
          <a:xfrm>
            <a:off x="3973068" y="3072384"/>
            <a:ext cx="416052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0D7377"/>
              </a:buClr>
              <a:buSzPts val="750"/>
              <a:buFont typeface="Calibri"/>
              <a:buNone/>
            </a:pPr>
            <a:r>
              <a:t/>
            </a:r>
            <a:endParaRPr b="0" i="0" sz="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9" name="Google Shape;419;p18"/>
          <p:cNvSpPr/>
          <p:nvPr/>
        </p:nvSpPr>
        <p:spPr>
          <a:xfrm>
            <a:off x="228600" y="3392424"/>
            <a:ext cx="4160520" cy="310896"/>
          </a:xfrm>
          <a:prstGeom prst="rect">
            <a:avLst/>
          </a:prstGeom>
          <a:solidFill>
            <a:srgbClr val="E8EEF4"/>
          </a:solidFill>
          <a:ln cap="flat" cmpd="sng" w="12700">
            <a:solidFill>
              <a:srgbClr val="D0D8E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20" name="Google Shape;420;p18"/>
          <p:cNvSpPr/>
          <p:nvPr/>
        </p:nvSpPr>
        <p:spPr>
          <a:xfrm>
            <a:off x="274320" y="3410712"/>
            <a:ext cx="211775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2E4B"/>
              </a:buClr>
              <a:buSzPts val="850"/>
              <a:buFont typeface="Calibri"/>
              <a:buNone/>
            </a:pPr>
            <a:r>
              <a:rPr b="0" i="0" lang="en-US" sz="850" u="none" cap="none" strike="noStrike">
                <a:solidFill>
                  <a:srgbClr val="1B2E4B"/>
                </a:solidFill>
                <a:latin typeface="Calibri"/>
                <a:ea typeface="Calibri"/>
                <a:cs typeface="Calibri"/>
                <a:sym typeface="Calibri"/>
              </a:rPr>
              <a:t>Nerve that innervates the diaphragm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1" name="Google Shape;421;p18"/>
          <p:cNvSpPr/>
          <p:nvPr/>
        </p:nvSpPr>
        <p:spPr>
          <a:xfrm>
            <a:off x="2392070" y="3410712"/>
            <a:ext cx="1580998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2E4B"/>
              </a:buClr>
              <a:buSzPts val="850"/>
              <a:buFont typeface="Calibri"/>
              <a:buNone/>
            </a:pPr>
            <a:r>
              <a:rPr b="1" i="0" lang="en-US" sz="850" u="none" cap="none" strike="noStrike">
                <a:solidFill>
                  <a:srgbClr val="1B2E4B"/>
                </a:solidFill>
                <a:latin typeface="Calibri"/>
                <a:ea typeface="Calibri"/>
                <a:cs typeface="Calibri"/>
                <a:sym typeface="Calibri"/>
              </a:rPr>
              <a:t>Phrenic nerve (C3, C4, C5)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2" name="Google Shape;422;p18"/>
          <p:cNvSpPr/>
          <p:nvPr/>
        </p:nvSpPr>
        <p:spPr>
          <a:xfrm>
            <a:off x="3973068" y="3410712"/>
            <a:ext cx="416052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0D7377"/>
              </a:buClr>
              <a:buSzPts val="750"/>
              <a:buFont typeface="Calibri"/>
              <a:buNone/>
            </a:pPr>
            <a:r>
              <a:t/>
            </a:r>
            <a:endParaRPr b="0" i="0" sz="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3" name="Google Shape;423;p18"/>
          <p:cNvSpPr/>
          <p:nvPr/>
        </p:nvSpPr>
        <p:spPr>
          <a:xfrm>
            <a:off x="228600" y="3730752"/>
            <a:ext cx="4160520" cy="310896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D0D8E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24" name="Google Shape;424;p18"/>
          <p:cNvSpPr/>
          <p:nvPr/>
        </p:nvSpPr>
        <p:spPr>
          <a:xfrm>
            <a:off x="274320" y="3749040"/>
            <a:ext cx="211775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2E4B"/>
              </a:buClr>
              <a:buSzPts val="850"/>
              <a:buFont typeface="Calibri"/>
              <a:buNone/>
            </a:pPr>
            <a:r>
              <a:rPr b="0" i="0" lang="en-US" sz="850" u="none" cap="none" strike="noStrike">
                <a:solidFill>
                  <a:srgbClr val="1B2E4B"/>
                </a:solidFill>
                <a:latin typeface="Calibri"/>
                <a:ea typeface="Calibri"/>
                <a:cs typeface="Calibri"/>
                <a:sym typeface="Calibri"/>
              </a:rPr>
              <a:t>Lobe absent from left lung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5" name="Google Shape;425;p18"/>
          <p:cNvSpPr/>
          <p:nvPr/>
        </p:nvSpPr>
        <p:spPr>
          <a:xfrm>
            <a:off x="2392070" y="3749040"/>
            <a:ext cx="1580998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2E4B"/>
              </a:buClr>
              <a:buSzPts val="850"/>
              <a:buFont typeface="Calibri"/>
              <a:buNone/>
            </a:pPr>
            <a:r>
              <a:rPr b="1" i="0" lang="en-US" sz="850" u="none" cap="none" strike="noStrike">
                <a:solidFill>
                  <a:srgbClr val="1B2E4B"/>
                </a:solidFill>
                <a:latin typeface="Calibri"/>
                <a:ea typeface="Calibri"/>
                <a:cs typeface="Calibri"/>
                <a:sym typeface="Calibri"/>
              </a:rPr>
              <a:t>Middle lobe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6" name="Google Shape;426;p18"/>
          <p:cNvSpPr/>
          <p:nvPr/>
        </p:nvSpPr>
        <p:spPr>
          <a:xfrm>
            <a:off x="3973068" y="3749040"/>
            <a:ext cx="416052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0D7377"/>
              </a:buClr>
              <a:buSzPts val="750"/>
              <a:buFont typeface="Calibri"/>
              <a:buNone/>
            </a:pPr>
            <a:r>
              <a:t/>
            </a:r>
            <a:endParaRPr b="0" i="0" sz="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7" name="Google Shape;427;p18"/>
          <p:cNvSpPr/>
          <p:nvPr/>
        </p:nvSpPr>
        <p:spPr>
          <a:xfrm>
            <a:off x="4498848" y="685800"/>
            <a:ext cx="4434840" cy="310896"/>
          </a:xfrm>
          <a:prstGeom prst="rect">
            <a:avLst/>
          </a:prstGeom>
          <a:solidFill>
            <a:srgbClr val="E8EEF4"/>
          </a:solidFill>
          <a:ln cap="flat" cmpd="sng" w="12700">
            <a:solidFill>
              <a:srgbClr val="D0D8E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28" name="Google Shape;428;p18"/>
          <p:cNvSpPr/>
          <p:nvPr/>
        </p:nvSpPr>
        <p:spPr>
          <a:xfrm>
            <a:off x="4544568" y="704088"/>
            <a:ext cx="2260397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2E4B"/>
              </a:buClr>
              <a:buSzPts val="850"/>
              <a:buFont typeface="Calibri"/>
              <a:buNone/>
            </a:pPr>
            <a:r>
              <a:rPr b="0" i="0" lang="en-US" sz="850" u="none" cap="none" strike="noStrike">
                <a:solidFill>
                  <a:srgbClr val="1B2E4B"/>
                </a:solidFill>
                <a:latin typeface="Calibri"/>
                <a:ea typeface="Calibri"/>
                <a:cs typeface="Calibri"/>
                <a:sym typeface="Calibri"/>
              </a:rPr>
              <a:t>Prevents food entering trachea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9" name="Google Shape;429;p18"/>
          <p:cNvSpPr/>
          <p:nvPr/>
        </p:nvSpPr>
        <p:spPr>
          <a:xfrm>
            <a:off x="6804965" y="704088"/>
            <a:ext cx="1685239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2E4B"/>
              </a:buClr>
              <a:buSzPts val="850"/>
              <a:buFont typeface="Calibri"/>
              <a:buNone/>
            </a:pPr>
            <a:r>
              <a:rPr b="1" i="0" lang="en-US" sz="850" u="none" cap="none" strike="noStrike">
                <a:solidFill>
                  <a:srgbClr val="1B2E4B"/>
                </a:solidFill>
                <a:latin typeface="Calibri"/>
                <a:ea typeface="Calibri"/>
                <a:cs typeface="Calibri"/>
                <a:sym typeface="Calibri"/>
              </a:rPr>
              <a:t>Epiglottis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0" name="Google Shape;430;p18"/>
          <p:cNvSpPr/>
          <p:nvPr/>
        </p:nvSpPr>
        <p:spPr>
          <a:xfrm>
            <a:off x="8490204" y="704088"/>
            <a:ext cx="443484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0D7377"/>
              </a:buClr>
              <a:buSzPts val="750"/>
              <a:buFont typeface="Calibri"/>
              <a:buNone/>
            </a:pPr>
            <a:r>
              <a:t/>
            </a:r>
            <a:endParaRPr b="0" i="0" sz="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1" name="Google Shape;431;p18"/>
          <p:cNvSpPr/>
          <p:nvPr/>
        </p:nvSpPr>
        <p:spPr>
          <a:xfrm>
            <a:off x="4498848" y="1024128"/>
            <a:ext cx="4434840" cy="310896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D0D8E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32" name="Google Shape;432;p18"/>
          <p:cNvSpPr/>
          <p:nvPr/>
        </p:nvSpPr>
        <p:spPr>
          <a:xfrm>
            <a:off x="4544568" y="1042416"/>
            <a:ext cx="2260397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2E4B"/>
              </a:buClr>
              <a:buSzPts val="850"/>
              <a:buFont typeface="Calibri"/>
              <a:buNone/>
            </a:pPr>
            <a:r>
              <a:rPr b="0" i="0" lang="en-US" sz="850" u="none" cap="none" strike="noStrike">
                <a:solidFill>
                  <a:srgbClr val="1B2E4B"/>
                </a:solidFill>
                <a:latin typeface="Calibri"/>
                <a:ea typeface="Calibri"/>
                <a:cs typeface="Calibri"/>
                <a:sym typeface="Calibri"/>
              </a:rPr>
              <a:t>Nasal cavity: why mucosa + cilia?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3" name="Google Shape;433;p18"/>
          <p:cNvSpPr/>
          <p:nvPr/>
        </p:nvSpPr>
        <p:spPr>
          <a:xfrm>
            <a:off x="6804965" y="1042416"/>
            <a:ext cx="1685239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2E4B"/>
              </a:buClr>
              <a:buSzPts val="850"/>
              <a:buFont typeface="Calibri"/>
              <a:buNone/>
            </a:pPr>
            <a:r>
              <a:rPr b="1" i="0" lang="en-US" sz="850" u="none" cap="none" strike="noStrike">
                <a:solidFill>
                  <a:srgbClr val="1B2E4B"/>
                </a:solidFill>
                <a:latin typeface="Calibri"/>
                <a:ea typeface="Calibri"/>
                <a:cs typeface="Calibri"/>
                <a:sym typeface="Calibri"/>
              </a:rPr>
              <a:t>Warm, moisten, and filter air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4" name="Google Shape;434;p18"/>
          <p:cNvSpPr/>
          <p:nvPr/>
        </p:nvSpPr>
        <p:spPr>
          <a:xfrm>
            <a:off x="8490204" y="1042416"/>
            <a:ext cx="443484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0D7377"/>
              </a:buClr>
              <a:buSzPts val="750"/>
              <a:buFont typeface="Calibri"/>
              <a:buNone/>
            </a:pPr>
            <a:r>
              <a:t/>
            </a:r>
            <a:endParaRPr b="0" i="0" sz="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5" name="Google Shape;435;p18"/>
          <p:cNvSpPr/>
          <p:nvPr/>
        </p:nvSpPr>
        <p:spPr>
          <a:xfrm>
            <a:off x="4498848" y="1362456"/>
            <a:ext cx="4434840" cy="310896"/>
          </a:xfrm>
          <a:prstGeom prst="rect">
            <a:avLst/>
          </a:prstGeom>
          <a:solidFill>
            <a:srgbClr val="E8EEF4"/>
          </a:solidFill>
          <a:ln cap="flat" cmpd="sng" w="12700">
            <a:solidFill>
              <a:srgbClr val="D0D8E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36" name="Google Shape;436;p18"/>
          <p:cNvSpPr/>
          <p:nvPr/>
        </p:nvSpPr>
        <p:spPr>
          <a:xfrm>
            <a:off x="4544568" y="1380744"/>
            <a:ext cx="2260397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2E4B"/>
              </a:buClr>
              <a:buSzPts val="850"/>
              <a:buFont typeface="Calibri"/>
              <a:buNone/>
            </a:pPr>
            <a:r>
              <a:rPr b="0" i="0" lang="en-US" sz="850" u="none" cap="none" strike="noStrike">
                <a:solidFill>
                  <a:srgbClr val="1B2E4B"/>
                </a:solidFill>
                <a:latin typeface="Calibri"/>
                <a:ea typeface="Calibri"/>
                <a:cs typeface="Calibri"/>
                <a:sym typeface="Calibri"/>
              </a:rPr>
              <a:t>Upper respiratory tract structures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7" name="Google Shape;437;p18"/>
          <p:cNvSpPr/>
          <p:nvPr/>
        </p:nvSpPr>
        <p:spPr>
          <a:xfrm>
            <a:off x="6804965" y="1380744"/>
            <a:ext cx="1685239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2E4B"/>
              </a:buClr>
              <a:buSzPts val="850"/>
              <a:buFont typeface="Calibri"/>
              <a:buNone/>
            </a:pPr>
            <a:r>
              <a:rPr b="1" i="0" lang="en-US" sz="850" u="none" cap="none" strike="noStrike">
                <a:solidFill>
                  <a:srgbClr val="1B2E4B"/>
                </a:solidFill>
                <a:latin typeface="Calibri"/>
                <a:ea typeface="Calibri"/>
                <a:cs typeface="Calibri"/>
                <a:sym typeface="Calibri"/>
              </a:rPr>
              <a:t>Nasal cavity, pharynx, larynx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8" name="Google Shape;438;p18"/>
          <p:cNvSpPr/>
          <p:nvPr/>
        </p:nvSpPr>
        <p:spPr>
          <a:xfrm>
            <a:off x="8490204" y="1380744"/>
            <a:ext cx="443484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0D7377"/>
              </a:buClr>
              <a:buSzPts val="750"/>
              <a:buFont typeface="Calibri"/>
              <a:buNone/>
            </a:pPr>
            <a:r>
              <a:t/>
            </a:r>
            <a:endParaRPr b="0" i="0" sz="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9" name="Google Shape;439;p18"/>
          <p:cNvSpPr/>
          <p:nvPr/>
        </p:nvSpPr>
        <p:spPr>
          <a:xfrm>
            <a:off x="4498848" y="1700784"/>
            <a:ext cx="4434840" cy="310896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D0D8E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40" name="Google Shape;440;p18"/>
          <p:cNvSpPr/>
          <p:nvPr/>
        </p:nvSpPr>
        <p:spPr>
          <a:xfrm>
            <a:off x="4544568" y="1719072"/>
            <a:ext cx="2260397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2E4B"/>
              </a:buClr>
              <a:buSzPts val="850"/>
              <a:buFont typeface="Calibri"/>
              <a:buNone/>
            </a:pPr>
            <a:r>
              <a:rPr b="0" i="0" lang="en-US" sz="850" u="none" cap="none" strike="noStrike">
                <a:solidFill>
                  <a:srgbClr val="1B2E4B"/>
                </a:solidFill>
                <a:latin typeface="Calibri"/>
                <a:ea typeface="Calibri"/>
                <a:cs typeface="Calibri"/>
                <a:sym typeface="Calibri"/>
              </a:rPr>
              <a:t>Structure that controls air movement in/out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1" name="Google Shape;441;p18"/>
          <p:cNvSpPr/>
          <p:nvPr/>
        </p:nvSpPr>
        <p:spPr>
          <a:xfrm>
            <a:off x="6804965" y="1719072"/>
            <a:ext cx="1685239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2E4B"/>
              </a:buClr>
              <a:buSzPts val="850"/>
              <a:buFont typeface="Calibri"/>
              <a:buNone/>
            </a:pPr>
            <a:r>
              <a:rPr b="1" i="0" lang="en-US" sz="850" u="none" cap="none" strike="noStrike">
                <a:solidFill>
                  <a:srgbClr val="1B2E4B"/>
                </a:solidFill>
                <a:latin typeface="Calibri"/>
                <a:ea typeface="Calibri"/>
                <a:cs typeface="Calibri"/>
                <a:sym typeface="Calibri"/>
              </a:rPr>
              <a:t>Diaphragm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2" name="Google Shape;442;p18"/>
          <p:cNvSpPr/>
          <p:nvPr/>
        </p:nvSpPr>
        <p:spPr>
          <a:xfrm>
            <a:off x="8490204" y="1719072"/>
            <a:ext cx="443484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0D7377"/>
              </a:buClr>
              <a:buSzPts val="750"/>
              <a:buFont typeface="Calibri"/>
              <a:buNone/>
            </a:pPr>
            <a:r>
              <a:t/>
            </a:r>
            <a:endParaRPr b="0" i="0" sz="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3" name="Google Shape;443;p18"/>
          <p:cNvSpPr/>
          <p:nvPr/>
        </p:nvSpPr>
        <p:spPr>
          <a:xfrm>
            <a:off x="4498848" y="2039112"/>
            <a:ext cx="4434840" cy="310896"/>
          </a:xfrm>
          <a:prstGeom prst="rect">
            <a:avLst/>
          </a:prstGeom>
          <a:solidFill>
            <a:srgbClr val="E8EEF4"/>
          </a:solidFill>
          <a:ln cap="flat" cmpd="sng" w="12700">
            <a:solidFill>
              <a:srgbClr val="D0D8E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44" name="Google Shape;444;p18"/>
          <p:cNvSpPr/>
          <p:nvPr/>
        </p:nvSpPr>
        <p:spPr>
          <a:xfrm>
            <a:off x="4544568" y="2057400"/>
            <a:ext cx="2260397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2E4B"/>
              </a:buClr>
              <a:buSzPts val="850"/>
              <a:buFont typeface="Calibri"/>
              <a:buNone/>
            </a:pPr>
            <a:r>
              <a:rPr b="0" i="0" lang="en-US" sz="850" u="none" cap="none" strike="noStrike">
                <a:solidFill>
                  <a:srgbClr val="1B2E4B"/>
                </a:solidFill>
                <a:latin typeface="Calibri"/>
                <a:ea typeface="Calibri"/>
                <a:cs typeface="Calibri"/>
                <a:sym typeface="Calibri"/>
              </a:rPr>
              <a:t>Air remaining after normal exhalation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5" name="Google Shape;445;p18"/>
          <p:cNvSpPr/>
          <p:nvPr/>
        </p:nvSpPr>
        <p:spPr>
          <a:xfrm>
            <a:off x="6804965" y="2057400"/>
            <a:ext cx="1685239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2E4B"/>
              </a:buClr>
              <a:buSzPts val="850"/>
              <a:buFont typeface="Calibri"/>
              <a:buNone/>
            </a:pPr>
            <a:r>
              <a:rPr b="1" i="0" lang="en-US" sz="850" u="none" cap="none" strike="noStrike">
                <a:solidFill>
                  <a:srgbClr val="1B2E4B"/>
                </a:solidFill>
                <a:latin typeface="Calibri"/>
                <a:ea typeface="Calibri"/>
                <a:cs typeface="Calibri"/>
                <a:sym typeface="Calibri"/>
              </a:rPr>
              <a:t>Functional Residual Capacity (FRC)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6" name="Google Shape;446;p18"/>
          <p:cNvSpPr/>
          <p:nvPr/>
        </p:nvSpPr>
        <p:spPr>
          <a:xfrm>
            <a:off x="8490204" y="2057400"/>
            <a:ext cx="443484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0D7377"/>
              </a:buClr>
              <a:buSzPts val="750"/>
              <a:buFont typeface="Calibri"/>
              <a:buNone/>
            </a:pPr>
            <a:r>
              <a:t/>
            </a:r>
            <a:endParaRPr b="0" i="0" sz="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7" name="Google Shape;447;p18"/>
          <p:cNvSpPr/>
          <p:nvPr/>
        </p:nvSpPr>
        <p:spPr>
          <a:xfrm>
            <a:off x="4498848" y="2377440"/>
            <a:ext cx="4434840" cy="310896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D0D8E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48" name="Google Shape;448;p18"/>
          <p:cNvSpPr/>
          <p:nvPr/>
        </p:nvSpPr>
        <p:spPr>
          <a:xfrm>
            <a:off x="4544568" y="2395728"/>
            <a:ext cx="2260397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2E4B"/>
              </a:buClr>
              <a:buSzPts val="850"/>
              <a:buFont typeface="Calibri"/>
              <a:buNone/>
            </a:pPr>
            <a:r>
              <a:rPr b="0" i="0" lang="en-US" sz="850" u="none" cap="none" strike="noStrike">
                <a:solidFill>
                  <a:srgbClr val="1B2E4B"/>
                </a:solidFill>
                <a:latin typeface="Calibri"/>
                <a:ea typeface="Calibri"/>
                <a:cs typeface="Calibri"/>
                <a:sym typeface="Calibri"/>
              </a:rPr>
              <a:t>Air forcibly exhaled after normal exhalation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9" name="Google Shape;449;p18"/>
          <p:cNvSpPr/>
          <p:nvPr/>
        </p:nvSpPr>
        <p:spPr>
          <a:xfrm>
            <a:off x="6804965" y="2395728"/>
            <a:ext cx="1685239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2E4B"/>
              </a:buClr>
              <a:buSzPts val="850"/>
              <a:buFont typeface="Calibri"/>
              <a:buNone/>
            </a:pPr>
            <a:r>
              <a:rPr b="1" i="0" lang="en-US" sz="850" u="none" cap="none" strike="noStrike">
                <a:solidFill>
                  <a:srgbClr val="1B2E4B"/>
                </a:solidFill>
                <a:latin typeface="Calibri"/>
                <a:ea typeface="Calibri"/>
                <a:cs typeface="Calibri"/>
                <a:sym typeface="Calibri"/>
              </a:rPr>
              <a:t>Expiratory Reserve Volume (ERV)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0" name="Google Shape;450;p18"/>
          <p:cNvSpPr/>
          <p:nvPr/>
        </p:nvSpPr>
        <p:spPr>
          <a:xfrm>
            <a:off x="8490204" y="2395728"/>
            <a:ext cx="443484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0D7377"/>
              </a:buClr>
              <a:buSzPts val="750"/>
              <a:buFont typeface="Calibri"/>
              <a:buNone/>
            </a:pPr>
            <a:r>
              <a:t/>
            </a:r>
            <a:endParaRPr b="0" i="0" sz="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1" name="Google Shape;451;p18"/>
          <p:cNvSpPr/>
          <p:nvPr/>
        </p:nvSpPr>
        <p:spPr>
          <a:xfrm>
            <a:off x="4498848" y="2715768"/>
            <a:ext cx="4434840" cy="310896"/>
          </a:xfrm>
          <a:prstGeom prst="rect">
            <a:avLst/>
          </a:prstGeom>
          <a:solidFill>
            <a:srgbClr val="E8EEF4"/>
          </a:solidFill>
          <a:ln cap="flat" cmpd="sng" w="12700">
            <a:solidFill>
              <a:srgbClr val="D0D8E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52" name="Google Shape;452;p18"/>
          <p:cNvSpPr/>
          <p:nvPr/>
        </p:nvSpPr>
        <p:spPr>
          <a:xfrm>
            <a:off x="4544568" y="2734056"/>
            <a:ext cx="2260397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2E4B"/>
              </a:buClr>
              <a:buSzPts val="850"/>
              <a:buFont typeface="Calibri"/>
              <a:buNone/>
            </a:pPr>
            <a:r>
              <a:rPr b="0" i="0" lang="en-US" sz="850" u="none" cap="none" strike="noStrike">
                <a:solidFill>
                  <a:srgbClr val="1B2E4B"/>
                </a:solidFill>
                <a:latin typeface="Calibri"/>
                <a:ea typeface="Calibri"/>
                <a:cs typeface="Calibri"/>
                <a:sym typeface="Calibri"/>
              </a:rPr>
              <a:t>Air inhaled/exhaled during normal breathing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3" name="Google Shape;453;p18"/>
          <p:cNvSpPr/>
          <p:nvPr/>
        </p:nvSpPr>
        <p:spPr>
          <a:xfrm>
            <a:off x="6804965" y="2734056"/>
            <a:ext cx="1685239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2E4B"/>
              </a:buClr>
              <a:buSzPts val="850"/>
              <a:buFont typeface="Calibri"/>
              <a:buNone/>
            </a:pPr>
            <a:r>
              <a:rPr b="1" i="0" lang="en-US" sz="850" u="none" cap="none" strike="noStrike">
                <a:solidFill>
                  <a:srgbClr val="1B2E4B"/>
                </a:solidFill>
                <a:latin typeface="Calibri"/>
                <a:ea typeface="Calibri"/>
                <a:cs typeface="Calibri"/>
                <a:sym typeface="Calibri"/>
              </a:rPr>
              <a:t>Tidal Volume (TV)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4" name="Google Shape;454;p18"/>
          <p:cNvSpPr/>
          <p:nvPr/>
        </p:nvSpPr>
        <p:spPr>
          <a:xfrm>
            <a:off x="8490204" y="2734056"/>
            <a:ext cx="443484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0D7377"/>
              </a:buClr>
              <a:buSzPts val="750"/>
              <a:buFont typeface="Calibri"/>
              <a:buNone/>
            </a:pPr>
            <a:r>
              <a:t/>
            </a:r>
            <a:endParaRPr b="0" i="0" sz="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5" name="Google Shape;455;p18"/>
          <p:cNvSpPr/>
          <p:nvPr/>
        </p:nvSpPr>
        <p:spPr>
          <a:xfrm>
            <a:off x="4498848" y="3054096"/>
            <a:ext cx="4434840" cy="310896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D0D8E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56" name="Google Shape;456;p18"/>
          <p:cNvSpPr/>
          <p:nvPr/>
        </p:nvSpPr>
        <p:spPr>
          <a:xfrm>
            <a:off x="4544568" y="3072384"/>
            <a:ext cx="2260397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2E4B"/>
              </a:buClr>
              <a:buSzPts val="850"/>
              <a:buFont typeface="Calibri"/>
              <a:buNone/>
            </a:pPr>
            <a:r>
              <a:rPr b="0" i="0" lang="en-US" sz="850" u="none" cap="none" strike="noStrike">
                <a:solidFill>
                  <a:srgbClr val="1B2E4B"/>
                </a:solidFill>
                <a:latin typeface="Calibri"/>
                <a:ea typeface="Calibri"/>
                <a:cs typeface="Calibri"/>
                <a:sym typeface="Calibri"/>
              </a:rPr>
              <a:t>Bronchiole branches into alveolar ducts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7" name="Google Shape;457;p18"/>
          <p:cNvSpPr/>
          <p:nvPr/>
        </p:nvSpPr>
        <p:spPr>
          <a:xfrm>
            <a:off x="6804965" y="3072384"/>
            <a:ext cx="1685239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2E4B"/>
              </a:buClr>
              <a:buSzPts val="850"/>
              <a:buFont typeface="Calibri"/>
              <a:buNone/>
            </a:pPr>
            <a:r>
              <a:rPr b="1" i="0" lang="en-US" sz="850" u="none" cap="none" strike="noStrike">
                <a:solidFill>
                  <a:srgbClr val="1B2E4B"/>
                </a:solidFill>
                <a:latin typeface="Calibri"/>
                <a:ea typeface="Calibri"/>
                <a:cs typeface="Calibri"/>
                <a:sym typeface="Calibri"/>
              </a:rPr>
              <a:t>Respiratory bronchioles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8" name="Google Shape;458;p18"/>
          <p:cNvSpPr/>
          <p:nvPr/>
        </p:nvSpPr>
        <p:spPr>
          <a:xfrm>
            <a:off x="8490204" y="3072384"/>
            <a:ext cx="443484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0D7377"/>
              </a:buClr>
              <a:buSzPts val="750"/>
              <a:buFont typeface="Calibri"/>
              <a:buNone/>
            </a:pPr>
            <a:r>
              <a:t/>
            </a:r>
            <a:endParaRPr b="0" i="0" sz="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9" name="Google Shape;459;p18"/>
          <p:cNvSpPr/>
          <p:nvPr/>
        </p:nvSpPr>
        <p:spPr>
          <a:xfrm>
            <a:off x="4498848" y="3392424"/>
            <a:ext cx="4434840" cy="310896"/>
          </a:xfrm>
          <a:prstGeom prst="rect">
            <a:avLst/>
          </a:prstGeom>
          <a:solidFill>
            <a:srgbClr val="E8EEF4"/>
          </a:solidFill>
          <a:ln cap="flat" cmpd="sng" w="12700">
            <a:solidFill>
              <a:srgbClr val="D0D8E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60" name="Google Shape;460;p18"/>
          <p:cNvSpPr/>
          <p:nvPr/>
        </p:nvSpPr>
        <p:spPr>
          <a:xfrm>
            <a:off x="4544568" y="3410712"/>
            <a:ext cx="2260397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2E4B"/>
              </a:buClr>
              <a:buSzPts val="850"/>
              <a:buFont typeface="Calibri"/>
              <a:buNone/>
            </a:pPr>
            <a:r>
              <a:rPr b="0" i="0" lang="en-US" sz="850" u="none" cap="none" strike="noStrike">
                <a:solidFill>
                  <a:srgbClr val="1B2E4B"/>
                </a:solidFill>
                <a:latin typeface="Calibri"/>
                <a:ea typeface="Calibri"/>
                <a:cs typeface="Calibri"/>
                <a:sym typeface="Calibri"/>
              </a:rPr>
              <a:t>Small airway leading directly to alveoli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1" name="Google Shape;461;p18"/>
          <p:cNvSpPr/>
          <p:nvPr/>
        </p:nvSpPr>
        <p:spPr>
          <a:xfrm>
            <a:off x="6804965" y="3410712"/>
            <a:ext cx="1685239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2E4B"/>
              </a:buClr>
              <a:buSzPts val="850"/>
              <a:buFont typeface="Calibri"/>
              <a:buNone/>
            </a:pPr>
            <a:r>
              <a:rPr b="1" i="0" lang="en-US" sz="850" u="none" cap="none" strike="noStrike">
                <a:solidFill>
                  <a:srgbClr val="1B2E4B"/>
                </a:solidFill>
                <a:latin typeface="Calibri"/>
                <a:ea typeface="Calibri"/>
                <a:cs typeface="Calibri"/>
                <a:sym typeface="Calibri"/>
              </a:rPr>
              <a:t>Bronchioles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2" name="Google Shape;462;p18"/>
          <p:cNvSpPr/>
          <p:nvPr/>
        </p:nvSpPr>
        <p:spPr>
          <a:xfrm>
            <a:off x="8490204" y="3410712"/>
            <a:ext cx="443484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0D7377"/>
              </a:buClr>
              <a:buSzPts val="750"/>
              <a:buFont typeface="Calibri"/>
              <a:buNone/>
            </a:pPr>
            <a:r>
              <a:t/>
            </a:r>
            <a:endParaRPr b="0" i="0" sz="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2026-04-04T00:45:33Z</dcterms:created>
  <dc:creator>Laura A. Bates, DC</dc:creator>
</cp:coreProperties>
</file>