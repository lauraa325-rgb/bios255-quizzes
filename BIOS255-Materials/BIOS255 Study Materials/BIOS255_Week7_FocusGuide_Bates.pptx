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164592" cy="1828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— Week 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50876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Physiology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3154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Guide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3840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 focus your study — not to replace reading the lecture.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Bates, DC · BIOS 255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 of Breathing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Bates, DC · BIOS 255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· Respiratory Physiology · Laura Bates, DC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Laura A. Bates, DC | BIOS 255 – Anatomy &amp; Physiology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Relationships in Breathing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0" y="502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3 &amp; 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2743200" cy="2286000"/>
          </a:xfrm>
          <a:prstGeom prst="rect">
            <a:avLst/>
          </a:prstGeom>
          <a:solidFill>
            <a:srgbClr val="EEF2F8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43000"/>
            <a:ext cx="274320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43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Pressure (Patm)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760 mmHg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reference point. Air flows in/out relative to this.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143000"/>
            <a:ext cx="2743200" cy="2286000"/>
          </a:xfrm>
          <a:prstGeom prst="rect">
            <a:avLst/>
          </a:prstGeom>
          <a:solidFill>
            <a:srgbClr val="DDF0F3"/>
          </a:solidFill>
          <a:ln w="25400">
            <a:solidFill>
              <a:srgbClr val="2E8B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143000"/>
            <a:ext cx="2743200" cy="411480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143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Intrapulmonary Pressure (Ppul)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600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±1–2 mmHg vs Patm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219456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alveoli. Drops during inhalation; rises during exhalation.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143000"/>
            <a:ext cx="2743200" cy="2286000"/>
          </a:xfrm>
          <a:prstGeom prst="rect">
            <a:avLst/>
          </a:prstGeom>
          <a:solidFill>
            <a:srgbClr val="FBF5E6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143000"/>
            <a:ext cx="274320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143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Intrapleural Pressure (Pip)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1600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−4 mmHg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219456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Pleural cavity. ALWAYS sub-atmospheric — keeps lungs inflated.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611880"/>
            <a:ext cx="8595360" cy="548640"/>
          </a:xfrm>
          <a:prstGeom prst="rect">
            <a:avLst/>
          </a:prstGeom>
          <a:solidFill>
            <a:srgbClr val="DDF0F3"/>
          </a:solidFill>
          <a:ln w="19050">
            <a:solidFill>
              <a:srgbClr val="2E8B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611880"/>
            <a:ext cx="64008" cy="548640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611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TIP: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Intrapleural pressure is ALWAYS sub-atmospheric. Loss of negative Pip = pneumothorax = lung collapse.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· Respiratory Physiology · Laura Bates, DC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Laura A. Bates, DC | BIOS 255 – Anatomy &amp; Physiology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of Ventilation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0" y="502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 18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306324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2560320"/>
                <a:gridCol w="2560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Inspiration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Diaphragm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(~2/3 airflow)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Phrenic nerve C3,4,5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Contracts → flattens → ↑ vertical volume → air 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RELAXES → domes up → passive air 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Intercostals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(~1/3 airflow)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T1–T11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Contracts → elevates ribs up/out → ↑ A-P diameter → air 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Relaxes — passive recoil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Intercostals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FORCED expiration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Contracts → depresses ribs → ↓ volume → forces air 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Abdominals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FORCED expiration / Valsalva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Contracts → pushes diaphragm up → forces air 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Scalenes / SCM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Accessory — distress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Elevates ribs/sternum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42519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FOLLOWING: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inspiration = Diaphragm + External Intercostals. Quiet expiration = PASSIVE. Forced expiration = Internal Intercostals + Abdominals. Diaphragm RELAXES during expiration.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Volumes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Capacities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Bates, DC · BIOS 255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· Respiratory Physiology · Laura Bates, DC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Laura A. Bates, DC | BIOS 255 – Anatomy &amp; Physiology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Volumes &amp; Capacities — The Spirogram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0" y="502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 23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(four independent measures)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502920" cy="530352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0876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50876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Volume — ~500 mL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737360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moved per quiet breath; normal resting rhythm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502920" cy="530352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4884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IRV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14884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Inspiratory Reserve — ~3,100 mL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377440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air inhaled BEYOND TV during deep breath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788920"/>
            <a:ext cx="502920" cy="530352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78892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ERV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278892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Expiratory Reserve — ~1,200 mL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017520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air FORCIBLY exhaled after normal exhalation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429000"/>
            <a:ext cx="502920" cy="530352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42900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42900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Volume — ~1,200 mL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657600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REMAINING after maximum exhalation; cannot be measured by spirometer; keeps alveoli open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1097280"/>
            <a:ext cx="42976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CAPACITIES (combinations of volumes)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1508760"/>
            <a:ext cx="502920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150876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20640" y="150876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ERV + RV = ~2,400 mL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0640" y="1737360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REMAINING after QUIET (normal) exhalation; maintains gas exchange between breaths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2148840"/>
            <a:ext cx="502920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214884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20640" y="21488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+ IRV = ~3,600 mL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2377440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air inhaled from end of quiet exhalation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2788920"/>
            <a:ext cx="502920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278892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20640" y="278892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IRV + TV + ERV = ~4,800 mL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20640" y="3017520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air moved in ONE breath; reduced in restrictive disease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3429000"/>
            <a:ext cx="502920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342900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TLC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120640" y="342900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volumes = ~6,000 mL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20640" y="3657600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air lungs can hold; ↑ in emphysema; ↓ in fibrosis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187952"/>
            <a:ext cx="8595360" cy="548640"/>
          </a:xfrm>
          <a:prstGeom prst="rect">
            <a:avLst/>
          </a:prstGeom>
          <a:solidFill>
            <a:srgbClr val="DDF0F3"/>
          </a:solidFill>
          <a:ln w="19050">
            <a:solidFill>
              <a:srgbClr val="2E8B9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4187952"/>
            <a:ext cx="64008" cy="548640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1879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TIP: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FRC = ERV + RV = air after QUIET exhalation. RV = air after MAXIMAL exhalation. VC does NOT include RV. TLC includes ALL four volumes.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· Respiratory Physiology · Laura Bates, DC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Laura A. Bates, DC | BIOS 255 – Anatomy &amp; Physiology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Ventilation Calculations — MRV &amp; AVR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14800" cy="2560320"/>
          </a:xfrm>
          <a:prstGeom prst="rect">
            <a:avLst/>
          </a:prstGeom>
          <a:solidFill>
            <a:srgbClr val="EEF2F8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411480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 Respiratory Volume (MRV)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MRV = TV × RR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500 mL × 12 breaths/min = 6,000 mL/min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air moved in/out per minute — includes anatomical dead space (~150 mL/breath) that never reaches alveoli for gas exchange.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4114800" cy="2560320"/>
          </a:xfrm>
          <a:prstGeom prst="rect">
            <a:avLst/>
          </a:prstGeom>
          <a:solidFill>
            <a:srgbClr val="DDF0F3"/>
          </a:solidFill>
          <a:ln w="25400">
            <a:solidFill>
              <a:srgbClr val="2E8B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143000"/>
            <a:ext cx="4114800" cy="411480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Alveolar Ventilation Rate (AVR)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6459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 = (TV − Dead Space) × RR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46320" y="2194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(500 − 150) × 12 = 4,200 mL/min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6517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ACTUALLY reaching alveoli per minute. True measure of effective gas exchange. Dead space = ~150 mL (conducting zone).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858768"/>
            <a:ext cx="8595360" cy="548640"/>
          </a:xfrm>
          <a:prstGeom prst="rect">
            <a:avLst/>
          </a:prstGeom>
          <a:solidFill>
            <a:srgbClr val="DDF0F3"/>
          </a:solidFill>
          <a:ln w="19050">
            <a:solidFill>
              <a:srgbClr val="2E8B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58768"/>
            <a:ext cx="64008" cy="548640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8587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TIP: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 is the clinically relevant calculation — MRV overestimates ventilation. Shallow, rapid breathing ↑ MRV but drastically ↓ AVR. Dead space = ~150 mL per breath.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44398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TV=220, RR=28 → MRV=6,160 mL/min BUT AVR=(220−150)×28=1,960 mL/min — severely compromised!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Laws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Exchange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Bates, DC · BIOS 255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· Respiratory Physiology · Laura Bates, DC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Laura A. Bates, DC | BIOS 255 – Anatomy &amp; Physiology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Dalton's Law &amp; Henry's Law Applied to Gas Exchange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14800" cy="2926080"/>
          </a:xfrm>
          <a:prstGeom prst="rect">
            <a:avLst/>
          </a:prstGeom>
          <a:solidFill>
            <a:srgbClr val="EEF2F8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411480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Dalton's Law of Partial Pressures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Ptotal = P(O₂) + P(CO₂) + P(N₂) + ...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98424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gas exerts pressure independently,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to its % in the mixture.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642616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Alveolar PO₂ = 104 mmHg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Alveolar PCO₂ = 40 mmHg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Venous blood PO₂ = 40 → O₂ diffuses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Venous blood PCO₂ = 45 → CO₂ diffuses OUT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30098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factor in diffusion: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PARTIAL PRESSURE GRADIENT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4114800" cy="2926080"/>
          </a:xfrm>
          <a:prstGeom prst="rect">
            <a:avLst/>
          </a:prstGeom>
          <a:solidFill>
            <a:srgbClr val="DDF0F3"/>
          </a:solidFill>
          <a:ln w="25400">
            <a:solidFill>
              <a:srgbClr val="2E8B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143000"/>
            <a:ext cx="4114800" cy="411480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Henry's Law — Gas Solubility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39319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dissolved ∝ partial pressure above liquid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partial pressure → more gas dissolves
CO₂ is ~20× more soluble in plasma than O₂
Applications:
• O₂ supplement → ↑ dissolved O₂ in blood
• Hyperbaric O₂ therapy (CO poisoning)
• SCUBA decompression sickness (dissolved N₂)
</a:t>
            </a:r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Dalton = direction of gas diffusion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Henry = how much gas dissolves in blood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160520"/>
            <a:ext cx="8595360" cy="548640"/>
          </a:xfrm>
          <a:prstGeom prst="rect">
            <a:avLst/>
          </a:prstGeom>
          <a:solidFill>
            <a:srgbClr val="DDF0F3"/>
          </a:solidFill>
          <a:ln w="19050">
            <a:solidFill>
              <a:srgbClr val="2E8B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4160520"/>
            <a:ext cx="64008" cy="548640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1605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TIP: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pressure gradient = the MOST IMPORTANT factor in gas diffusion rate. Gases flow HIGH → LOW pressure, always.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· Respiratory Physiology · Laura Bates, DC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Laura A. Bates, DC | BIOS 255 – Anatomy &amp; Physiology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Transport &amp; the Oxyhemoglobin Dissociation Curve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1874520"/>
          </a:xfrm>
          <a:prstGeom prst="rect">
            <a:avLst/>
          </a:prstGeom>
          <a:solidFill>
            <a:srgbClr val="EEF2F8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 Transport — Two Forms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~1.5%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dissolved in plasma (insufficient alone)
</a:t>
            </a:r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~98.5%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to hemoglobin as oxyhemoglobin (HbO₂)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Hb molecule: 4 heme groups × 1 O₂ each = 4 O₂ max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saturated = 100% of heme sites occupied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4297680" cy="1874520"/>
          </a:xfrm>
          <a:prstGeom prst="rect">
            <a:avLst/>
          </a:prstGeom>
          <a:solidFill>
            <a:srgbClr val="DDF0F3"/>
          </a:solidFill>
          <a:ln w="19050">
            <a:solidFill>
              <a:srgbClr val="2E8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97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Oxyhemoglobin Dissociation Curve Shifts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1463040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SHIFT (↓ affinity — releases more O₂)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Causes: ↑ CO₂, ↓ pH (↑ acid), ↑ temperature, ↑ DPG
</a:t>
            </a:r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Bohr Effect: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exercising muscles create acid/CO₂ → get more O₂
</a:t>
            </a:r>
            <a:pPr indent="0" marL="0">
              <a:buNone/>
            </a:pPr>
            <a:r>
              <a:rPr lang="en-US" sz="1100" b="1" dirty="0">
                <a:solidFill>
                  <a:srgbClr val="00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SHIFT (↑ affinity — holds O₂ tightly)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Causes: ↓ CO₂, ↑ pH, ↓ temperature, ↓ DPG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fetal Hb (HbF) — left shift transfers O₂ from mom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127248"/>
            <a:ext cx="859536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1272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Transport — Three Mechanisms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502152"/>
          <a:ext cx="8595360" cy="118872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5852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Dissolved in plasma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~7–10%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CO₂ dissolved directly — measured as PCO₂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Carbaminohemoglobin (Hb-CO₂)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~20–23%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CO₂ binds AMINO groups on globin (NOT heme — different from O₂)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Bicarbonate (HCO₃⁻) in plasma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CO₂ + H₂O → H₂CO₃ → H⁺ + HCO₃⁻ (carbonic anhydrase in RBCs). Chloride shift. Most common.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of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Bates, DC · BIOS 255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· Respiratory Physiology · Laura Bates, DC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Laura A. Bates, DC | BIOS 255 – Anatomy &amp; Physiology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Control of Breathing — Chemoreceptors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2880360"/>
          </a:xfrm>
          <a:prstGeom prst="rect">
            <a:avLst/>
          </a:prstGeom>
          <a:solidFill>
            <a:srgbClr val="EEF2F8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4114800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Chemoreceptors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38862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Medulla oblongata
</a:t>
            </a:r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stimulus: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CO₂ (hypercapnia)
</a:t>
            </a:r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crosses blood-brain barrier
→ CO₂ + H₂O → H₂CO₃ → H⁺ + HCO₃⁻
→ ↑ H⁺ in CSF detected by medulla
→ ↑ respiratory rate and depth
</a:t>
            </a:r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PRIMARY, day-to-day driver of breathing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0" cy="2880360"/>
          </a:xfrm>
          <a:prstGeom prst="rect">
            <a:avLst/>
          </a:prstGeom>
          <a:solidFill>
            <a:srgbClr val="DDF0F3"/>
          </a:solidFill>
          <a:ln w="25400">
            <a:solidFill>
              <a:srgbClr val="2E8B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97280"/>
            <a:ext cx="4114800" cy="438912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9728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Chemoreceptors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572768"/>
            <a:ext cx="39319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Carotid bodies (CN IX), Aortic bodies (CN X)
</a:t>
            </a:r>
            <a:pPr indent="0" marL="0">
              <a:buNone/>
            </a:pPr>
            <a:r>
              <a:rPr lang="en-US" sz="11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stimulus: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O₂ (PO₂ &lt; 60 mmHg)
(also respond to ↑ CO₂ and ↓ pH)
</a:t>
            </a:r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/ BACKUP stimulus
Less sensitive than central receptors
</a:t>
            </a:r>
            <a:pPr indent="0" marL="0">
              <a:buNone/>
            </a:pPr>
            <a:r>
              <a:rPr lang="en-US" sz="1100" b="1" dirty="0">
                <a:solidFill>
                  <a:srgbClr val="CC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COPD note: </a:t>
            </a:r>
            <a:pPr indent="0" marL="0">
              <a:buNone/>
            </a:pPr>
            <a:r>
              <a:rPr lang="en-US" sz="1100" dirty="0">
                <a:solidFill>
                  <a:srgbClr val="CC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CO₂ retention desensitizes central receptors → hypoxic drive becomes primary. High-flow O₂ can remove this drive!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4050792"/>
            <a:ext cx="8595360" cy="548640"/>
          </a:xfrm>
          <a:prstGeom prst="rect">
            <a:avLst/>
          </a:prstGeom>
          <a:solidFill>
            <a:srgbClr val="DDF0F3"/>
          </a:solidFill>
          <a:ln w="19050">
            <a:solidFill>
              <a:srgbClr val="2E8B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4050792"/>
            <a:ext cx="64008" cy="548640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0507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TIP: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→ ↑ H⁺ in CSF → CENTRAL chemoreceptors (medulla) = PRIMARY driver. O₂ &lt; 60 mmHg → PERIPHERAL chemoreceptors (carotid/aortic) = emergency backup.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Bates, DC · BIOS 255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· Respiratory Physiology · Laura Bates, DC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Laura A. Bates, DC | BIOS 255 – Anatomy &amp; Physiology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Respiratory Physiology Concepts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3657600"/>
        </p:xfrm>
        <a:graphic>
          <a:graphicData uri="http://schemas.openxmlformats.org/drawingml/2006/table">
            <a:tbl>
              <a:tblPr/>
              <a:tblGrid>
                <a:gridCol w="4114800"/>
                <a:gridCol w="448056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muscles of quiet inspiration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Diaphragm + External Intercostals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muscles of forced (active) expiration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Intercostals + Abdominals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Diaphragm action during expiration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RELAXES — rises back to dome shape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Nerve innervating the diaphragm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Phrenic nerve (C3, C4, C5)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remaining after normal exhalation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Residual Capacity (FRC)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forcibly exhaled after normal exhalation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Expiratory Reserve Volume (ERV)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of air in/out per quiet breath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Tidal Volume (TV) ~ 500 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MRV formula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× RR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AVR formula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(TV − Dead Space) × RR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stimulus for breathing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CO₂ → ↑ H⁺ → central chemoreceptors (medulla)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O₂ transport: primary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~98.5% bound to hemoglobin (oxyhemoglobin)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common CO₂ transport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~70% as bicarbonate (HCO₃⁻) in plasma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shift of O₂ curve = 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Bohr effect: ↑ CO₂, ↓ pH, ↑ temp → releases MORE O₂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· Respiratory Physiology · Laura Bates, DC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Laura A. Bates, DC | BIOS 255 – Anatomy &amp; Physiology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Questions — Lung Volumes &amp; Ventilation Calculations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457200"/>
          </a:xfrm>
          <a:prstGeom prst="rect">
            <a:avLst/>
          </a:prstGeom>
          <a:solidFill>
            <a:srgbClr val="EEF2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the air remaining after normal exhalation called?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26280" y="1152144"/>
            <a:ext cx="36576" cy="347472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115568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Residual Capacity (FRC) = ERV + RV ≈ 2,400 mL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91056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is air forcibly exhaled after normal exhalation called?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26280" y="1627632"/>
            <a:ext cx="36576" cy="347472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591056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Expiratory Reserve Volume (ERV) ≈ 1,200 mL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048256"/>
            <a:ext cx="8595360" cy="457200"/>
          </a:xfrm>
          <a:prstGeom prst="rect">
            <a:avLst/>
          </a:prstGeom>
          <a:solidFill>
            <a:srgbClr val="EEF2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066544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do you call the volume of air inhaled or exhaled during normal breathing?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26280" y="2103120"/>
            <a:ext cx="36576" cy="347472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2066544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Volume (TV) ≈ 500 mL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523744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42032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Calculate MRV if TV = 500 mL and RR = 14/min.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26280" y="2578608"/>
            <a:ext cx="36576" cy="347472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2542032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MRV = 500 × 14 = 7,000 mL/min (7 L/min)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999232"/>
            <a:ext cx="8595360" cy="457200"/>
          </a:xfrm>
          <a:prstGeom prst="rect">
            <a:avLst/>
          </a:prstGeom>
          <a:solidFill>
            <a:srgbClr val="EEF2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17520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Calculate AVR using TV = 500, RR = 14, dead space = 150 mL.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26280" y="3054096"/>
            <a:ext cx="36576" cy="347472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3017520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 = (500 − 150) × 14 = 350 × 14 = 4,900 mL/min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474720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93008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Which capacity is REDUCED in restrictive lung disease?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26280" y="3529584"/>
            <a:ext cx="36576" cy="347472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3493008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Capacity (VC) and Total Lung Capacity (TLC)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950208"/>
            <a:ext cx="8595360" cy="457200"/>
          </a:xfrm>
          <a:prstGeom prst="rect">
            <a:avLst/>
          </a:prstGeom>
          <a:solidFill>
            <a:srgbClr val="EEF2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968496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Which lung volume INCREASES in emphysema and why?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26280" y="4005072"/>
            <a:ext cx="36576" cy="347472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3968496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 and TLC increase — loss of elastic recoil → air trapping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425696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443984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Partial pressure gradient: O₂ in alveoli = 104 mmHg, in blood = 40 mmHg. Direction?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26280" y="4480560"/>
            <a:ext cx="36576" cy="347472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4443984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 diffuses FROM alveoli INTO blood (high → low)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BIOS 255 — Week 7 Respiratory Physiology Focus Guide</dc:title>
  <dc:subject>PptxGenJS Presentation</dc:subject>
  <dc:creator>Laura A. Bates, DC</dc:creator>
  <cp:lastModifiedBy>Laura A. Bates, DC</cp:lastModifiedBy>
  <cp:revision>1</cp:revision>
  <dcterms:created xsi:type="dcterms:W3CDTF">2026-04-11T16:18:28Z</dcterms:created>
  <dcterms:modified xsi:type="dcterms:W3CDTF">2026-04-11T16:18:28Z</dcterms:modified>
</cp:coreProperties>
</file>